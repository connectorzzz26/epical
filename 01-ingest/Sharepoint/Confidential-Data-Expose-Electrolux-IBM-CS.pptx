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74" r:id="rId2"/>
    <p:sldId id="279" r:id="rId3"/>
    <p:sldId id="320" r:id="rId4"/>
    <p:sldId id="323" r:id="rId5"/>
    <p:sldId id="313" r:id="rId6"/>
    <p:sldId id="318" r:id="rId7"/>
    <p:sldId id="314" r:id="rId8"/>
    <p:sldId id="324" r:id="rId9"/>
    <p:sldId id="316" r:id="rId10"/>
    <p:sldId id="325" r:id="rId11"/>
    <p:sldId id="328" r:id="rId12"/>
    <p:sldId id="329" r:id="rId13"/>
    <p:sldId id="275" r:id="rId14"/>
    <p:sldId id="317" r:id="rId15"/>
    <p:sldId id="312" r:id="rId16"/>
    <p:sldId id="322" r:id="rId17"/>
    <p:sldId id="311" r:id="rId18"/>
    <p:sldId id="321" r:id="rId19"/>
    <p:sldId id="327" r:id="rId20"/>
    <p:sldId id="315" r:id="rId2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7966"/>
    <a:srgbClr val="CFB993"/>
    <a:srgbClr val="A5AFA2"/>
    <a:srgbClr val="AFAAB9"/>
    <a:srgbClr val="937259"/>
    <a:srgbClr val="7C6363"/>
    <a:srgbClr val="B4A0A0"/>
    <a:srgbClr val="777286"/>
    <a:srgbClr val="ACB9C1"/>
    <a:srgbClr val="D0B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89824" autoAdjust="0"/>
  </p:normalViewPr>
  <p:slideViewPr>
    <p:cSldViewPr snapToGrid="0" snapToObjects="1" showGuides="1">
      <p:cViewPr varScale="1">
        <p:scale>
          <a:sx n="90" d="100"/>
          <a:sy n="90" d="100"/>
        </p:scale>
        <p:origin x="72" y="260"/>
      </p:cViewPr>
      <p:guideLst>
        <p:guide orient="horz" pos="2160"/>
        <p:guide pos="3840"/>
      </p:guideLst>
    </p:cSldViewPr>
  </p:slideViewPr>
  <p:outlineViewPr>
    <p:cViewPr>
      <p:scale>
        <a:sx n="33" d="100"/>
        <a:sy n="33" d="100"/>
      </p:scale>
      <p:origin x="0" y="-306"/>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74" d="100"/>
          <a:sy n="74" d="100"/>
        </p:scale>
        <p:origin x="3162"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C7DE7A-BFCF-477D-9C69-5C7B875B2E9A}"/>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D623269-DBE5-4C57-8428-689F1C90ACF0}"/>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1F304422-308B-4004-BCEF-B5987E09AEBE}" type="datetimeFigureOut">
              <a:rPr lang="en-GB" smtClean="0"/>
              <a:t>15/12/2023</a:t>
            </a:fld>
            <a:endParaRPr lang="en-GB"/>
          </a:p>
        </p:txBody>
      </p:sp>
      <p:sp>
        <p:nvSpPr>
          <p:cNvPr id="4" name="Footer Placeholder 3">
            <a:extLst>
              <a:ext uri="{FF2B5EF4-FFF2-40B4-BE49-F238E27FC236}">
                <a16:creationId xmlns:a16="http://schemas.microsoft.com/office/drawing/2014/main" id="{A8A51A65-2E87-46B1-94F6-DB09309A06B7}"/>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07D0EEF-BC0F-4BD3-A95D-00CF9189004D}"/>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5F880A88-61F5-45D3-95AD-1D4394D375E8}" type="slidenum">
              <a:rPr lang="en-GB" smtClean="0"/>
              <a:t>‹#›</a:t>
            </a:fld>
            <a:endParaRPr lang="en-GB"/>
          </a:p>
        </p:txBody>
      </p:sp>
    </p:spTree>
    <p:extLst>
      <p:ext uri="{BB962C8B-B14F-4D97-AF65-F5344CB8AC3E}">
        <p14:creationId xmlns:p14="http://schemas.microsoft.com/office/powerpoint/2010/main" val="192701449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28.779"/>
    </inkml:context>
    <inkml:brush xml:id="br0">
      <inkml:brushProperty name="width" value="0.05" units="cm"/>
      <inkml:brushProperty name="height" value="0.05" units="cm"/>
      <inkml:brushProperty name="color" value="#E71224"/>
    </inkml:brush>
  </inkml:definitions>
  <inkml:trace contextRef="#ctx0" brushRef="#br0">1 36 24575,'161'-12'0,"-67"3"0,354-6 0,-445 15-85,-1 0 0,0 0-1,1 0 1,-1 0 0,1 1-1,-1-1 1,0 1 0,0-1-1,1 1 1,-1 0 0,0 0-1,0 0 1,0 0 0,0 0-1,2 2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39.916"/>
    </inkml:context>
    <inkml:brush xml:id="br0">
      <inkml:brushProperty name="width" value="0.2" units="cm"/>
      <inkml:brushProperty name="height" value="0.2" units="cm"/>
      <inkml:brushProperty name="color" value="#E71224"/>
    </inkml:brush>
  </inkml:definitions>
  <inkml:trace contextRef="#ctx0" brushRef="#br0">1 127 24575,'623'0'0,"-570"-3"0,-1-2 0,58-14 0,-50 9 0,5 1 0,82-1 0,68 11 0,-76 1 0,-104-2 0,45 0 0,148-17 0,76-12 0,-231 24 0,77 3 0,-91 3 0,86-10 0,-43 0 0,161 6 0,-146 4 0,14-2 0,128 3 0,-225 1 0,51 12 0,-51-8 0,50 3 0,-73-9 0,-1 0 0,1 0 0,-1 1 0,0 0 0,13 5 0,-21-7 0,0 1 0,-1-1 0,1 1 0,-1-1 0,1 1 0,-1 0 0,1 0 0,-1 0 0,0 0 0,1 0 0,-1 0 0,0 0 0,0 0 0,1 0 0,-1 0 0,0 1 0,0-1 0,-1 0 0,1 1 0,0-1 0,0 1 0,-1-1 0,1 1 0,-1 0 0,1-1 0,-1 1 0,0-1 0,1 1 0,-1 0 0,0-1 0,0 1 0,0 0 0,0-1 0,-1 1 0,1 0 0,0-1 0,-1 1 0,1-1 0,-1 1 0,1-1 0,-2 3 0,-1 2 0,0-1 0,-1 0 0,1-1 0,-1 1 0,0-1 0,0 1 0,0-1 0,-1 0 0,0 0 0,1-1 0,-1 0 0,-1 0 0,1 0 0,0 0 0,-1-1 0,1 0 0,-1 0 0,0 0 0,1-1 0,-10 2 0,-11 0 0,-1-1 0,0-1 0,-35-4 0,20 2 0,-1086-3 0,610 6 0,-382-2 0,873 2 0,1 0 0,-50 13 0,47-9 0,-57 6 0,75-11 0,0 1 0,0 0 0,0 1 0,-17 6 0,16-5 0,0 0 0,0-1 0,-19 3 0,-88 12 0,75-11 0,0-1 0,-46 0 0,70-5 0,1 1 0,-20 4 0,18-2 0,-30 1 0,-30-5-1365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43.248"/>
    </inkml:context>
    <inkml:brush xml:id="br0">
      <inkml:brushProperty name="width" value="0.2" units="cm"/>
      <inkml:brushProperty name="height" value="0.2" units="cm"/>
      <inkml:brushProperty name="color" value="#E71224"/>
    </inkml:brush>
  </inkml:definitions>
  <inkml:trace contextRef="#ctx0" brushRef="#br0">39 177 24575,'56'-3'0,"82"-13"0,-79 7 0,62-1 0,22 2 0,12-1 0,-55 9 0,-100 1 0,0-1 0,0 0 0,0 0 0,1 0 0,-1 0 0,0 0 0,0 0 0,0 0 0,0 0 0,1 0 0,-1 0 0,0 0 0,0 0 0,0 0 0,0 0 0,1 0 0,-1 0 0,0 0 0,0 0 0,0 0 0,0 0 0,1 0 0,-1 0 0,0 0 0,0 0 0,0 0 0,0-1 0,0 1 0,1 0 0,-1 0 0,0 0 0,0 0 0,0 0 0,0 0 0,0 0 0,0-1 0,0 1 0,1 0 0,-1 0 0,0 0 0,0 0 0,0-1 0,0 1 0,0 0 0,-7-6 0,-18-7 0,-5 1 0,-1 1 0,0 1 0,0 2 0,-34-4 0,3 4 0,-74-1 0,-171 11 0,302-3 34,-1 0-1,1 0 0,0 0 1,0 0-1,-1-1 1,1 0-1,0 0 1,-8-5-1,-23-7-1699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47.949"/>
    </inkml:context>
    <inkml:brush xml:id="br0">
      <inkml:brushProperty name="width" value="0.2" units="cm"/>
      <inkml:brushProperty name="height" value="0.2" units="cm"/>
      <inkml:brushProperty name="color" value="#E71224"/>
    </inkml:brush>
  </inkml:definitions>
  <inkml:trace contextRef="#ctx0" brushRef="#br0">1306 0 24575,'-1306'0'-1365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51.656"/>
    </inkml:context>
    <inkml:brush xml:id="br0">
      <inkml:brushProperty name="width" value="0.2" units="cm"/>
      <inkml:brushProperty name="height" value="0.2" units="cm"/>
      <inkml:brushProperty name="color" value="#E71224"/>
    </inkml:brush>
  </inkml:definitions>
  <inkml:trace contextRef="#ctx0" brushRef="#br0">0 1 24575,'10'0'0,"-1"1"0,1 1 0,11 3 0,20 2 0,136-4 121,-104-4-1607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5:58.097"/>
    </inkml:context>
    <inkml:brush xml:id="br0">
      <inkml:brushProperty name="width" value="0.2" units="cm"/>
      <inkml:brushProperty name="height" value="0.2" units="cm"/>
      <inkml:brushProperty name="color" value="#E71224"/>
    </inkml:brush>
  </inkml:definitions>
  <inkml:trace contextRef="#ctx0" brushRef="#br0">0 91 24575,'460'0'0,"-443"-1"0,0-1 0,0-1 0,0 0 0,0-2 0,16-5 0,30-8 0,45-1 0,174-6 0,167 20 0,-252 7 0,-155-1 0,0 2 0,70 15 0,79 31 0,-99-24 0,-37-10 0,72 30 0,-117-40 0,-1-2 0,1 1 0,0-1 0,0-1 0,0 0 0,0 0 0,15 0 0,-85-12 0,-354 2-239,320 8-887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5T10:36:05.962"/>
    </inkml:context>
    <inkml:brush xml:id="br0">
      <inkml:brushProperty name="width" value="0.2" units="cm"/>
      <inkml:brushProperty name="height" value="0.2" units="cm"/>
      <inkml:brushProperty name="color" value="#E71224"/>
    </inkml:brush>
  </inkml:definitions>
  <inkml:trace contextRef="#ctx0" brushRef="#br0">1 55 24575,'20'-1'0,"40"-7"0,-10 0 0,69-6 0,-29 2 0,107 1 0,-78 11-1365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Electrolux Sans Regular" panose="020B0500020000000000" pitchFamily="34" charset="0"/>
              </a:defRPr>
            </a:lvl1pPr>
          </a:lstStyle>
          <a:p>
            <a:endParaRPr lang="en-GB"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Electrolux Sans Regular" panose="020B0500020000000000" pitchFamily="34" charset="0"/>
              </a:defRPr>
            </a:lvl1pPr>
          </a:lstStyle>
          <a:p>
            <a:fld id="{BBB474A6-AFAF-48B7-90F9-7ED71C52A70C}" type="datetimeFigureOut">
              <a:rPr lang="en-GB" smtClean="0"/>
              <a:pPr/>
              <a:t>15/12/2023</a:t>
            </a:fld>
            <a:endParaRPr lang="en-GB"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Electrolux Sans Regular" panose="020B0500020000000000" pitchFamily="34" charset="0"/>
              </a:defRPr>
            </a:lvl1pPr>
          </a:lstStyle>
          <a:p>
            <a:endParaRPr lang="en-GB"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Electrolux Sans Regular" panose="020B0500020000000000" pitchFamily="34" charset="0"/>
              </a:defRPr>
            </a:lvl1pPr>
          </a:lstStyle>
          <a:p>
            <a:fld id="{8DDFE46B-2112-4B71-9DCB-E60C56B2ABB2}" type="slidenum">
              <a:rPr lang="en-GB" smtClean="0"/>
              <a:pPr/>
              <a:t>‹#›</a:t>
            </a:fld>
            <a:endParaRPr lang="en-GB" dirty="0"/>
          </a:p>
        </p:txBody>
      </p:sp>
    </p:spTree>
    <p:extLst>
      <p:ext uri="{BB962C8B-B14F-4D97-AF65-F5344CB8AC3E}">
        <p14:creationId xmlns:p14="http://schemas.microsoft.com/office/powerpoint/2010/main" val="4189010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Electrolux Sans Regular" panose="020B0500020000000000" pitchFamily="34" charset="0"/>
        <a:ea typeface="+mn-ea"/>
        <a:cs typeface="+mn-cs"/>
      </a:defRPr>
    </a:lvl1pPr>
    <a:lvl2pPr marL="457200" algn="l" defTabSz="914400" rtl="0" eaLnBrk="1" latinLnBrk="0" hangingPunct="1">
      <a:defRPr sz="1200" kern="1200">
        <a:solidFill>
          <a:schemeClr val="tx1"/>
        </a:solidFill>
        <a:latin typeface="Electrolux Sans Regular" panose="020B0500020000000000" pitchFamily="34" charset="0"/>
        <a:ea typeface="+mn-ea"/>
        <a:cs typeface="+mn-cs"/>
      </a:defRPr>
    </a:lvl2pPr>
    <a:lvl3pPr marL="914400" algn="l" defTabSz="914400" rtl="0" eaLnBrk="1" latinLnBrk="0" hangingPunct="1">
      <a:defRPr sz="1200" kern="1200">
        <a:solidFill>
          <a:schemeClr val="tx1"/>
        </a:solidFill>
        <a:latin typeface="Electrolux Sans Regular" panose="020B0500020000000000" pitchFamily="34" charset="0"/>
        <a:ea typeface="+mn-ea"/>
        <a:cs typeface="+mn-cs"/>
      </a:defRPr>
    </a:lvl3pPr>
    <a:lvl4pPr marL="1371600" algn="l" defTabSz="914400" rtl="0" eaLnBrk="1" latinLnBrk="0" hangingPunct="1">
      <a:defRPr sz="1200" kern="1200">
        <a:solidFill>
          <a:schemeClr val="tx1"/>
        </a:solidFill>
        <a:latin typeface="Electrolux Sans Regular" panose="020B0500020000000000" pitchFamily="34" charset="0"/>
        <a:ea typeface="+mn-ea"/>
        <a:cs typeface="+mn-cs"/>
      </a:defRPr>
    </a:lvl4pPr>
    <a:lvl5pPr marL="1828800" algn="l" defTabSz="914400" rtl="0" eaLnBrk="1" latinLnBrk="0" hangingPunct="1">
      <a:defRPr sz="1200" kern="1200">
        <a:solidFill>
          <a:schemeClr val="tx1"/>
        </a:solidFill>
        <a:latin typeface="Electrolux Sans Regular" panose="020B0500020000000000"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Many</a:t>
            </a:r>
            <a:r>
              <a:rPr lang="fr-FR" dirty="0"/>
              <a:t> type of </a:t>
            </a:r>
            <a:r>
              <a:rPr lang="fr-FR" dirty="0" err="1"/>
              <a:t>attacks</a:t>
            </a:r>
            <a:r>
              <a:rPr lang="fr-FR" dirty="0"/>
              <a:t> can </a:t>
            </a:r>
            <a:r>
              <a:rPr lang="fr-FR" dirty="0" err="1"/>
              <a:t>benefit</a:t>
            </a:r>
            <a:r>
              <a:rPr lang="fr-FR" dirty="0"/>
              <a:t> </a:t>
            </a:r>
            <a:r>
              <a:rPr lang="fr-FR" dirty="0" err="1"/>
              <a:t>from</a:t>
            </a:r>
            <a:r>
              <a:rPr lang="fr-FR" dirty="0"/>
              <a:t> </a:t>
            </a:r>
            <a:r>
              <a:rPr lang="fr-FR" dirty="0" err="1"/>
              <a:t>such</a:t>
            </a:r>
            <a:r>
              <a:rPr lang="fr-FR" dirty="0"/>
              <a:t> situation, IP </a:t>
            </a:r>
            <a:r>
              <a:rPr lang="fr-FR" dirty="0" err="1"/>
              <a:t>spoofind</a:t>
            </a:r>
            <a:r>
              <a:rPr lang="fr-FR" dirty="0"/>
              <a:t>, man in the middle are </a:t>
            </a:r>
            <a:r>
              <a:rPr lang="fr-FR" dirty="0" err="1"/>
              <a:t>ways</a:t>
            </a:r>
            <a:r>
              <a:rPr lang="fr-FR" dirty="0"/>
              <a:t> to exploit </a:t>
            </a:r>
            <a:r>
              <a:rPr lang="fr-FR" dirty="0" err="1"/>
              <a:t>this</a:t>
            </a:r>
            <a:r>
              <a:rPr lang="fr-FR" dirty="0"/>
              <a:t> </a:t>
            </a:r>
            <a:r>
              <a:rPr lang="fr-FR" dirty="0" err="1"/>
              <a:t>vulnerability</a:t>
            </a:r>
            <a:r>
              <a:rPr lang="fr-FR" dirty="0"/>
              <a:t>.</a:t>
            </a:r>
            <a:endParaRPr lang="sv-SE" dirty="0"/>
          </a:p>
        </p:txBody>
      </p:sp>
      <p:sp>
        <p:nvSpPr>
          <p:cNvPr id="4" name="Slide Number Placeholder 3"/>
          <p:cNvSpPr>
            <a:spLocks noGrp="1"/>
          </p:cNvSpPr>
          <p:nvPr>
            <p:ph type="sldNum" sz="quarter" idx="5"/>
          </p:nvPr>
        </p:nvSpPr>
        <p:spPr/>
        <p:txBody>
          <a:bodyPr/>
          <a:lstStyle/>
          <a:p>
            <a:fld id="{8DDFE46B-2112-4B71-9DCB-E60C56B2ABB2}" type="slidenum">
              <a:rPr lang="en-GB" smtClean="0"/>
              <a:pPr/>
              <a:t>13</a:t>
            </a:fld>
            <a:endParaRPr lang="en-GB" dirty="0"/>
          </a:p>
        </p:txBody>
      </p:sp>
    </p:spTree>
    <p:extLst>
      <p:ext uri="{BB962C8B-B14F-4D97-AF65-F5344CB8AC3E}">
        <p14:creationId xmlns:p14="http://schemas.microsoft.com/office/powerpoint/2010/main" val="2112805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Anyone</a:t>
            </a:r>
            <a:r>
              <a:rPr lang="fr-FR" dirty="0"/>
              <a:t> can </a:t>
            </a:r>
            <a:r>
              <a:rPr lang="fr-FR" dirty="0" err="1"/>
              <a:t>impersonate</a:t>
            </a:r>
            <a:r>
              <a:rPr lang="fr-FR" dirty="0"/>
              <a:t> channels and </a:t>
            </a:r>
            <a:r>
              <a:rPr lang="fr-FR" dirty="0" err="1"/>
              <a:t>pass</a:t>
            </a:r>
            <a:r>
              <a:rPr lang="fr-FR" dirty="0"/>
              <a:t> </a:t>
            </a:r>
            <a:r>
              <a:rPr lang="fr-FR" dirty="0" err="1"/>
              <a:t>plaintext</a:t>
            </a:r>
            <a:r>
              <a:rPr lang="fr-FR" dirty="0"/>
              <a:t> </a:t>
            </a:r>
            <a:r>
              <a:rPr lang="fr-FR" dirty="0" err="1"/>
              <a:t>passwords</a:t>
            </a:r>
            <a:r>
              <a:rPr lang="fr-FR" dirty="0"/>
              <a:t> to CDC..  </a:t>
            </a:r>
            <a:r>
              <a:rPr lang="fr-FR" dirty="0" err="1"/>
              <a:t>Authentication</a:t>
            </a:r>
            <a:r>
              <a:rPr lang="fr-FR" dirty="0"/>
              <a:t> to CDC </a:t>
            </a:r>
            <a:r>
              <a:rPr lang="fr-FR" dirty="0" err="1"/>
              <a:t>is</a:t>
            </a:r>
            <a:r>
              <a:rPr lang="fr-FR" dirty="0"/>
              <a:t> not </a:t>
            </a:r>
            <a:r>
              <a:rPr lang="fr-FR" dirty="0" err="1"/>
              <a:t>secure</a:t>
            </a:r>
            <a:r>
              <a:rPr lang="fr-FR" dirty="0"/>
              <a:t>/</a:t>
            </a:r>
            <a:r>
              <a:rPr lang="fr-FR" dirty="0" err="1"/>
              <a:t>safe</a:t>
            </a:r>
            <a:r>
              <a:rPr lang="fr-FR" dirty="0"/>
              <a:t>/</a:t>
            </a:r>
            <a:r>
              <a:rPr lang="fr-FR" dirty="0" err="1"/>
              <a:t>compromised</a:t>
            </a:r>
            <a:r>
              <a:rPr lang="fr-FR" dirty="0"/>
              <a:t>.</a:t>
            </a:r>
          </a:p>
          <a:p>
            <a:endParaRPr lang="fr-FR" dirty="0"/>
          </a:p>
          <a:p>
            <a:r>
              <a:rPr lang="fr-FR" dirty="0"/>
              <a:t>If the </a:t>
            </a:r>
            <a:r>
              <a:rPr lang="fr-FR" dirty="0" err="1"/>
              <a:t>passwords</a:t>
            </a:r>
            <a:r>
              <a:rPr lang="fr-FR" dirty="0"/>
              <a:t> are not </a:t>
            </a:r>
            <a:r>
              <a:rPr lang="fr-FR" dirty="0" err="1"/>
              <a:t>already</a:t>
            </a:r>
            <a:r>
              <a:rPr lang="fr-FR" dirty="0"/>
              <a:t> </a:t>
            </a:r>
            <a:r>
              <a:rPr lang="fr-FR" dirty="0" err="1"/>
              <a:t>encrypted</a:t>
            </a:r>
            <a:r>
              <a:rPr lang="fr-FR" dirty="0"/>
              <a:t> in CDC at </a:t>
            </a:r>
            <a:r>
              <a:rPr lang="fr-FR" dirty="0" err="1"/>
              <a:t>rest</a:t>
            </a:r>
            <a:r>
              <a:rPr lang="fr-FR" dirty="0"/>
              <a:t>, </a:t>
            </a:r>
            <a:r>
              <a:rPr lang="fr-FR" dirty="0" err="1"/>
              <a:t>then</a:t>
            </a:r>
            <a:r>
              <a:rPr lang="fr-FR" dirty="0"/>
              <a:t> </a:t>
            </a:r>
            <a:r>
              <a:rPr lang="fr-FR" dirty="0" err="1"/>
              <a:t>we</a:t>
            </a:r>
            <a:r>
              <a:rPr lang="fr-FR" dirty="0"/>
              <a:t> </a:t>
            </a:r>
            <a:r>
              <a:rPr lang="fr-FR" dirty="0" err="1"/>
              <a:t>need</a:t>
            </a:r>
            <a:r>
              <a:rPr lang="fr-FR" dirty="0"/>
              <a:t> to do </a:t>
            </a:r>
            <a:r>
              <a:rPr lang="fr-FR" dirty="0" err="1"/>
              <a:t>that</a:t>
            </a:r>
            <a:r>
              <a:rPr lang="fr-FR" dirty="0"/>
              <a:t>. </a:t>
            </a:r>
            <a:r>
              <a:rPr lang="fr-FR" dirty="0" err="1"/>
              <a:t>After</a:t>
            </a:r>
            <a:r>
              <a:rPr lang="fr-FR" dirty="0"/>
              <a:t>, </a:t>
            </a:r>
            <a:r>
              <a:rPr lang="fr-FR" dirty="0" err="1"/>
              <a:t>we</a:t>
            </a:r>
            <a:r>
              <a:rPr lang="fr-FR" dirty="0"/>
              <a:t> use the </a:t>
            </a:r>
            <a:r>
              <a:rPr lang="fr-FR" dirty="0" err="1"/>
              <a:t>private</a:t>
            </a:r>
            <a:r>
              <a:rPr lang="fr-FR" dirty="0"/>
              <a:t> key to </a:t>
            </a:r>
            <a:r>
              <a:rPr lang="fr-FR" dirty="0" err="1"/>
              <a:t>encrypt</a:t>
            </a:r>
            <a:r>
              <a:rPr lang="fr-FR" dirty="0"/>
              <a:t> data in transit.</a:t>
            </a:r>
            <a:endParaRPr lang="sv-SE" dirty="0"/>
          </a:p>
        </p:txBody>
      </p:sp>
      <p:sp>
        <p:nvSpPr>
          <p:cNvPr id="4" name="Slide Number Placeholder 3"/>
          <p:cNvSpPr>
            <a:spLocks noGrp="1"/>
          </p:cNvSpPr>
          <p:nvPr>
            <p:ph type="sldNum" sz="quarter" idx="5"/>
          </p:nvPr>
        </p:nvSpPr>
        <p:spPr/>
        <p:txBody>
          <a:bodyPr/>
          <a:lstStyle/>
          <a:p>
            <a:fld id="{8DDFE46B-2112-4B71-9DCB-E60C56B2ABB2}" type="slidenum">
              <a:rPr lang="en-GB" smtClean="0"/>
              <a:pPr/>
              <a:t>14</a:t>
            </a:fld>
            <a:endParaRPr lang="en-GB" dirty="0"/>
          </a:p>
        </p:txBody>
      </p:sp>
    </p:spTree>
    <p:extLst>
      <p:ext uri="{BB962C8B-B14F-4D97-AF65-F5344CB8AC3E}">
        <p14:creationId xmlns:p14="http://schemas.microsoft.com/office/powerpoint/2010/main" val="1283076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852358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1">
    <p:bg>
      <p:bgRef idx="1001">
        <a:schemeClr val="bg2"/>
      </p:bgRef>
    </p:bg>
    <p:spTree>
      <p:nvGrpSpPr>
        <p:cNvPr id="1" name=""/>
        <p:cNvGrpSpPr/>
        <p:nvPr/>
      </p:nvGrpSpPr>
      <p:grpSpPr>
        <a:xfrm>
          <a:off x="0" y="0"/>
          <a:ext cx="0" cy="0"/>
          <a:chOff x="0" y="0"/>
          <a:chExt cx="0" cy="0"/>
        </a:xfrm>
      </p:grpSpPr>
      <p:pic>
        <p:nvPicPr>
          <p:cNvPr id="7" name="Picture Placeholder 18">
            <a:extLst>
              <a:ext uri="{FF2B5EF4-FFF2-40B4-BE49-F238E27FC236}">
                <a16:creationId xmlns:a16="http://schemas.microsoft.com/office/drawing/2014/main" id="{C8FBE83B-2C5E-409B-A41F-54ECC526D10F}"/>
              </a:ext>
            </a:extLst>
          </p:cNvPr>
          <p:cNvPicPr>
            <a:picLocks noChangeAspect="1"/>
          </p:cNvPicPr>
          <p:nvPr userDrawn="1"/>
        </p:nvPicPr>
        <p:blipFill rotWithShape="1">
          <a:blip r:embed="rId2"/>
          <a:srcRect t="7" r="3127" b="7"/>
          <a:stretch/>
        </p:blipFill>
        <p:spPr>
          <a:xfrm>
            <a:off x="1" y="0"/>
            <a:ext cx="12192000" cy="685800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41541553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2">
    <p:bg>
      <p:bgRef idx="1001">
        <a:schemeClr val="bg2"/>
      </p:bgRef>
    </p:bg>
    <p:spTree>
      <p:nvGrpSpPr>
        <p:cNvPr id="1" name=""/>
        <p:cNvGrpSpPr/>
        <p:nvPr/>
      </p:nvGrpSpPr>
      <p:grpSpPr>
        <a:xfrm>
          <a:off x="0" y="0"/>
          <a:ext cx="0" cy="0"/>
          <a:chOff x="0" y="0"/>
          <a:chExt cx="0" cy="0"/>
        </a:xfrm>
      </p:grpSpPr>
      <p:pic>
        <p:nvPicPr>
          <p:cNvPr id="9" name="Picture Placeholder 7">
            <a:extLst>
              <a:ext uri="{FF2B5EF4-FFF2-40B4-BE49-F238E27FC236}">
                <a16:creationId xmlns:a16="http://schemas.microsoft.com/office/drawing/2014/main" id="{3AE4B651-D3C0-4310-A40C-C42EBD81C7A6}"/>
              </a:ext>
            </a:extLst>
          </p:cNvPr>
          <p:cNvPicPr>
            <a:picLocks noChangeAspect="1"/>
          </p:cNvPicPr>
          <p:nvPr userDrawn="1"/>
        </p:nvPicPr>
        <p:blipFill rotWithShape="1">
          <a:blip r:embed="rId2"/>
          <a:srcRect t="16395" r="910"/>
          <a:stretch/>
        </p:blipFill>
        <p:spPr>
          <a:xfrm>
            <a:off x="0" y="0"/>
            <a:ext cx="12192000" cy="685800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40716603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3">
    <p:bg>
      <p:bgRef idx="1001">
        <a:schemeClr val="bg2"/>
      </p:bgRef>
    </p:bg>
    <p:spTree>
      <p:nvGrpSpPr>
        <p:cNvPr id="1" name=""/>
        <p:cNvGrpSpPr/>
        <p:nvPr/>
      </p:nvGrpSpPr>
      <p:grpSpPr>
        <a:xfrm>
          <a:off x="0" y="0"/>
          <a:ext cx="0" cy="0"/>
          <a:chOff x="0" y="0"/>
          <a:chExt cx="0" cy="0"/>
        </a:xfrm>
      </p:grpSpPr>
      <p:pic>
        <p:nvPicPr>
          <p:cNvPr id="6" name="Picture Placeholder 9">
            <a:extLst>
              <a:ext uri="{FF2B5EF4-FFF2-40B4-BE49-F238E27FC236}">
                <a16:creationId xmlns:a16="http://schemas.microsoft.com/office/drawing/2014/main" id="{70900553-94C4-4B72-8661-7FD89DD576AC}"/>
              </a:ext>
            </a:extLst>
          </p:cNvPr>
          <p:cNvPicPr>
            <a:picLocks noChangeAspect="1"/>
          </p:cNvPicPr>
          <p:nvPr userDrawn="1"/>
        </p:nvPicPr>
        <p:blipFill rotWithShape="1">
          <a:blip r:embed="rId2"/>
          <a:srcRect l="293" t="2016" b="13856"/>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2FF966BD-F706-40D8-A748-82758CD662FC}"/>
              </a:ext>
            </a:extLst>
          </p:cNvPr>
          <p:cNvSpPr/>
          <p:nvPr userDrawn="1"/>
        </p:nvSpPr>
        <p:spPr>
          <a:xfrm>
            <a:off x="1" y="0"/>
            <a:ext cx="9802906" cy="6858000"/>
          </a:xfrm>
          <a:prstGeom prst="rect">
            <a:avLst/>
          </a:prstGeom>
          <a:gradFill>
            <a:gsLst>
              <a:gs pos="0">
                <a:schemeClr val="bg1">
                  <a:alpha val="48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1502"/>
          <a:stretch/>
        </p:blipFill>
        <p:spPr>
          <a:xfrm>
            <a:off x="0" y="-1"/>
            <a:ext cx="7339765" cy="2828003"/>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65" b="34248"/>
          <a:stretch/>
        </p:blipFill>
        <p:spPr>
          <a:xfrm>
            <a:off x="0" y="3429000"/>
            <a:ext cx="12398188" cy="3429001"/>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662083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4">
    <p:bg>
      <p:bgRef idx="1001">
        <a:schemeClr val="bg2"/>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6C98218-9AF0-46D6-9775-1A0ED22869AE}"/>
              </a:ext>
            </a:extLst>
          </p:cNvPr>
          <p:cNvPicPr>
            <a:picLocks noChangeAspect="1"/>
          </p:cNvPicPr>
          <p:nvPr userDrawn="1"/>
        </p:nvPicPr>
        <p:blipFill rotWithShape="1">
          <a:blip r:embed="rId2"/>
          <a:srcRect t="11623" r="1662" b="5406"/>
          <a:stretch/>
        </p:blipFill>
        <p:spPr>
          <a:xfrm>
            <a:off x="0" y="0"/>
            <a:ext cx="12192000" cy="6858000"/>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1" y="0"/>
            <a:ext cx="8458200" cy="6858000"/>
          </a:xfrm>
          <a:prstGeom prst="rect">
            <a:avLst/>
          </a:prstGeom>
          <a:gradFill>
            <a:gsLst>
              <a:gs pos="0">
                <a:schemeClr val="bg1">
                  <a:alpha val="25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1502"/>
          <a:stretch/>
        </p:blipFill>
        <p:spPr>
          <a:xfrm>
            <a:off x="0" y="-1"/>
            <a:ext cx="7339765" cy="2828003"/>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65" b="34248"/>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3825773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5">
    <p:bg>
      <p:bgRef idx="1001">
        <a:schemeClr val="bg2"/>
      </p:bgRef>
    </p:bg>
    <p:spTree>
      <p:nvGrpSpPr>
        <p:cNvPr id="1" name=""/>
        <p:cNvGrpSpPr/>
        <p:nvPr/>
      </p:nvGrpSpPr>
      <p:grpSpPr>
        <a:xfrm>
          <a:off x="0" y="0"/>
          <a:ext cx="0" cy="0"/>
          <a:chOff x="0" y="0"/>
          <a:chExt cx="0" cy="0"/>
        </a:xfrm>
      </p:grpSpPr>
      <p:pic>
        <p:nvPicPr>
          <p:cNvPr id="11" name="Picture Placeholder 8">
            <a:extLst>
              <a:ext uri="{FF2B5EF4-FFF2-40B4-BE49-F238E27FC236}">
                <a16:creationId xmlns:a16="http://schemas.microsoft.com/office/drawing/2014/main" id="{09C69A96-3524-4E40-A943-81CF38F27F2B}"/>
              </a:ext>
            </a:extLst>
          </p:cNvPr>
          <p:cNvPicPr>
            <a:picLocks noChangeAspect="1"/>
          </p:cNvPicPr>
          <p:nvPr userDrawn="1"/>
        </p:nvPicPr>
        <p:blipFill rotWithShape="1">
          <a:blip r:embed="rId2"/>
          <a:srcRect r="5491" b="20259"/>
          <a:stretch/>
        </p:blipFill>
        <p:spPr>
          <a:xfrm>
            <a:off x="1" y="-1"/>
            <a:ext cx="12191999" cy="6857999"/>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1" y="0"/>
            <a:ext cx="8458200" cy="6858000"/>
          </a:xfrm>
          <a:prstGeom prst="rect">
            <a:avLst/>
          </a:prstGeom>
          <a:gradFill>
            <a:gsLst>
              <a:gs pos="0">
                <a:schemeClr val="bg1">
                  <a:alpha val="25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1502"/>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65" b="34248"/>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29703972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6">
    <p:bg>
      <p:bgRef idx="1001">
        <a:schemeClr val="bg2"/>
      </p:bgRef>
    </p:bg>
    <p:spTree>
      <p:nvGrpSpPr>
        <p:cNvPr id="1" name=""/>
        <p:cNvGrpSpPr/>
        <p:nvPr/>
      </p:nvGrpSpPr>
      <p:grpSpPr>
        <a:xfrm>
          <a:off x="0" y="0"/>
          <a:ext cx="0" cy="0"/>
          <a:chOff x="0" y="0"/>
          <a:chExt cx="0" cy="0"/>
        </a:xfrm>
      </p:grpSpPr>
      <p:pic>
        <p:nvPicPr>
          <p:cNvPr id="9" name="Picture Placeholder 9">
            <a:extLst>
              <a:ext uri="{FF2B5EF4-FFF2-40B4-BE49-F238E27FC236}">
                <a16:creationId xmlns:a16="http://schemas.microsoft.com/office/drawing/2014/main" id="{595525F3-B20E-47FE-994C-B0F1E2C8E6D9}"/>
              </a:ext>
            </a:extLst>
          </p:cNvPr>
          <p:cNvPicPr>
            <a:picLocks noChangeAspect="1"/>
          </p:cNvPicPr>
          <p:nvPr userDrawn="1"/>
        </p:nvPicPr>
        <p:blipFill rotWithShape="1">
          <a:blip r:embed="rId2"/>
          <a:srcRect l="1" r="784" b="16287"/>
          <a:stretch/>
        </p:blipFill>
        <p:spPr>
          <a:xfrm>
            <a:off x="-1" y="-1"/>
            <a:ext cx="12192001" cy="6857999"/>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0" y="0"/>
            <a:ext cx="10408023" cy="6858000"/>
          </a:xfrm>
          <a:prstGeom prst="rect">
            <a:avLst/>
          </a:prstGeom>
          <a:gradFill>
            <a:gsLst>
              <a:gs pos="0">
                <a:schemeClr val="bg1">
                  <a:alpha val="48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1502"/>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65" b="34248"/>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15246210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7">
    <p:bg>
      <p:bgRef idx="1001">
        <a:schemeClr val="bg2"/>
      </p:bgRef>
    </p:bg>
    <p:spTree>
      <p:nvGrpSpPr>
        <p:cNvPr id="1" name=""/>
        <p:cNvGrpSpPr/>
        <p:nvPr/>
      </p:nvGrpSpPr>
      <p:grpSpPr>
        <a:xfrm>
          <a:off x="0" y="0"/>
          <a:ext cx="0" cy="0"/>
          <a:chOff x="0" y="0"/>
          <a:chExt cx="0" cy="0"/>
        </a:xfrm>
      </p:grpSpPr>
      <p:pic>
        <p:nvPicPr>
          <p:cNvPr id="11" name="Picture Placeholder 8">
            <a:extLst>
              <a:ext uri="{FF2B5EF4-FFF2-40B4-BE49-F238E27FC236}">
                <a16:creationId xmlns:a16="http://schemas.microsoft.com/office/drawing/2014/main" id="{AD12AD4A-8792-4063-A48C-613E092B8F83}"/>
              </a:ext>
            </a:extLst>
          </p:cNvPr>
          <p:cNvPicPr>
            <a:picLocks noChangeAspect="1"/>
          </p:cNvPicPr>
          <p:nvPr userDrawn="1"/>
        </p:nvPicPr>
        <p:blipFill rotWithShape="1">
          <a:blip r:embed="rId2"/>
          <a:srcRect t="7813" b="7813"/>
          <a:stretch/>
        </p:blipFill>
        <p:spPr>
          <a:xfrm>
            <a:off x="1" y="-1"/>
            <a:ext cx="12191998" cy="6858002"/>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0" y="0"/>
            <a:ext cx="10408023" cy="6858000"/>
          </a:xfrm>
          <a:prstGeom prst="rect">
            <a:avLst/>
          </a:prstGeom>
          <a:gradFill>
            <a:gsLst>
              <a:gs pos="0">
                <a:schemeClr val="bg1">
                  <a:alpha val="27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1502"/>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65" b="34248"/>
          <a:stretch/>
        </p:blipFill>
        <p:spPr>
          <a:xfrm>
            <a:off x="0" y="3294529"/>
            <a:ext cx="12398188" cy="3563472"/>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6237" y="379307"/>
            <a:ext cx="1674000" cy="384387"/>
          </a:xfrm>
          <a:prstGeom prst="rect">
            <a:avLst/>
          </a:prstGeom>
        </p:spPr>
      </p:pic>
    </p:spTree>
    <p:extLst>
      <p:ext uri="{BB962C8B-B14F-4D97-AF65-F5344CB8AC3E}">
        <p14:creationId xmlns:p14="http://schemas.microsoft.com/office/powerpoint/2010/main" val="18444061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Custom photo">
    <p:bg>
      <p:bgRef idx="1001">
        <a:schemeClr val="bg2"/>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E1F95C96-CFA1-4028-BF6F-A09F966BE2CB}"/>
              </a:ext>
            </a:extLst>
          </p:cNvPr>
          <p:cNvSpPr>
            <a:spLocks noGrp="1"/>
          </p:cNvSpPr>
          <p:nvPr>
            <p:ph type="pic" sz="quarter" idx="11"/>
          </p:nvPr>
        </p:nvSpPr>
        <p:spPr>
          <a:xfrm>
            <a:off x="0" y="0"/>
            <a:ext cx="12192000" cy="6858000"/>
          </a:xfrm>
          <a:prstGeom prst="rect">
            <a:avLst/>
          </a:prstGeom>
          <a:solidFill>
            <a:schemeClr val="accent1"/>
          </a:solidFill>
        </p:spPr>
        <p:txBody>
          <a:bodyPr tIns="468000" anchor="ctr" anchorCtr="0"/>
          <a:lstStyle>
            <a:lvl1pPr marL="0" indent="0" algn="ctr">
              <a:buFontTx/>
              <a:buNone/>
              <a:defRPr>
                <a:solidFill>
                  <a:schemeClr val="tx1"/>
                </a:solidFill>
              </a:defRPr>
            </a:lvl1pPr>
          </a:lstStyle>
          <a:p>
            <a:r>
              <a:rPr lang="en-US"/>
              <a:t>Click icon to add picture</a:t>
            </a:r>
            <a:endParaRPr lang="en-GB" dirty="0"/>
          </a:p>
        </p:txBody>
      </p:sp>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sp>
        <p:nvSpPr>
          <p:cNvPr id="5" name="Text Placeholder 4">
            <a:extLst>
              <a:ext uri="{FF2B5EF4-FFF2-40B4-BE49-F238E27FC236}">
                <a16:creationId xmlns:a16="http://schemas.microsoft.com/office/drawing/2014/main" id="{BC0188C7-3DD4-434B-A140-1A947B547C99}"/>
              </a:ext>
            </a:extLst>
          </p:cNvPr>
          <p:cNvSpPr>
            <a:spLocks noGrp="1"/>
          </p:cNvSpPr>
          <p:nvPr>
            <p:ph type="body" sz="quarter" idx="13" hasCustomPrompt="1"/>
          </p:nvPr>
        </p:nvSpPr>
        <p:spPr>
          <a:xfrm>
            <a:off x="376238" y="379307"/>
            <a:ext cx="1674000" cy="385200"/>
          </a:xfrm>
          <a:blipFill>
            <a:blip r:embed="rId2"/>
            <a:stretch>
              <a:fillRect/>
            </a:stretch>
          </a:blipFill>
        </p:spPr>
        <p:txBody>
          <a:bodyPr>
            <a:normAutofit/>
          </a:bodyPr>
          <a:lstStyle>
            <a:lvl1pPr marL="0" indent="0">
              <a:buFontTx/>
              <a:buNone/>
              <a:defRPr sz="100"/>
            </a:lvl1pPr>
          </a:lstStyle>
          <a:p>
            <a:pPr lvl="0"/>
            <a:r>
              <a:rPr lang="en-US" dirty="0"/>
              <a:t> </a:t>
            </a:r>
            <a:endParaRPr lang="en-GB" dirty="0"/>
          </a:p>
        </p:txBody>
      </p:sp>
    </p:spTree>
    <p:extLst>
      <p:ext uri="{BB962C8B-B14F-4D97-AF65-F5344CB8AC3E}">
        <p14:creationId xmlns:p14="http://schemas.microsoft.com/office/powerpoint/2010/main" val="14511544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554038"/>
            <a:ext cx="5724525" cy="1808161"/>
          </a:xfrm>
        </p:spPr>
        <p:txBody>
          <a:bodyPr anchor="b" anchorCtr="0"/>
          <a:lstStyle>
            <a:lvl1pPr>
              <a:defRPr sz="4400"/>
            </a:lvl1pPr>
          </a:lstStyle>
          <a:p>
            <a:r>
              <a:rPr lang="en-GB" dirty="0"/>
              <a:t>Agenda</a:t>
            </a:r>
          </a:p>
        </p:txBody>
      </p:sp>
      <p:sp>
        <p:nvSpPr>
          <p:cNvPr id="3" name="Text Placeholder 2"/>
          <p:cNvSpPr>
            <a:spLocks noGrp="1"/>
          </p:cNvSpPr>
          <p:nvPr>
            <p:ph type="body" idx="1"/>
          </p:nvPr>
        </p:nvSpPr>
        <p:spPr>
          <a:xfrm>
            <a:off x="400050" y="2947916"/>
            <a:ext cx="5695950" cy="3517971"/>
          </a:xfrm>
          <a:prstGeom prst="rect">
            <a:avLst/>
          </a:prstGeom>
        </p:spPr>
        <p:txBody>
          <a:bodyPr anchor="t" anchorCtr="0"/>
          <a:lstStyle>
            <a:lvl1pPr marL="268288" indent="-268288">
              <a:spcBef>
                <a:spcPts val="900"/>
              </a:spcBef>
              <a:buFont typeface="Arial" panose="020B0604020202020204" pitchFamily="34" charset="0"/>
              <a:buChar char="•"/>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05961431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Slide Number Placeholder 14">
            <a:extLst>
              <a:ext uri="{FF2B5EF4-FFF2-40B4-BE49-F238E27FC236}">
                <a16:creationId xmlns:a16="http://schemas.microsoft.com/office/drawing/2014/main" id="{C9234F41-2CA5-41D1-A3AA-05862C5C909A}"/>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Footer Placeholder 2">
            <a:extLst>
              <a:ext uri="{FF2B5EF4-FFF2-40B4-BE49-F238E27FC236}">
                <a16:creationId xmlns:a16="http://schemas.microsoft.com/office/drawing/2014/main" id="{26CA933F-2B9D-485E-A18A-B95FC5481E62}"/>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2D88BA93-6072-48C4-9BB9-A7D11A8534A1}"/>
              </a:ext>
            </a:extLst>
          </p:cNvPr>
          <p:cNvSpPr>
            <a:spLocks noGrp="1"/>
          </p:cNvSpPr>
          <p:nvPr>
            <p:ph type="body" sz="quarter" idx="15"/>
          </p:nvPr>
        </p:nvSpPr>
        <p:spPr>
          <a:xfrm>
            <a:off x="371475" y="1333500"/>
            <a:ext cx="11449050" cy="5132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4A320EC7-6A79-42F8-9449-3E877340DDA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146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E8A374-0332-4ADD-9BD9-140C539CCA2A}"/>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Slide Number Placeholder 14">
            <a:extLst>
              <a:ext uri="{FF2B5EF4-FFF2-40B4-BE49-F238E27FC236}">
                <a16:creationId xmlns:a16="http://schemas.microsoft.com/office/drawing/2014/main" id="{C9234F41-2CA5-41D1-A3AA-05862C5C909A}"/>
              </a:ext>
            </a:extLst>
          </p:cNvPr>
          <p:cNvSpPr>
            <a:spLocks noGrp="1"/>
          </p:cNvSpPr>
          <p:nvPr>
            <p:ph type="sldNum" sz="quarter" idx="13"/>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Footer Placeholder 2">
            <a:extLst>
              <a:ext uri="{FF2B5EF4-FFF2-40B4-BE49-F238E27FC236}">
                <a16:creationId xmlns:a16="http://schemas.microsoft.com/office/drawing/2014/main" id="{26CA933F-2B9D-485E-A18A-B95FC5481E62}"/>
              </a:ext>
            </a:extLst>
          </p:cNvPr>
          <p:cNvSpPr>
            <a:spLocks noGrp="1"/>
          </p:cNvSpPr>
          <p:nvPr>
            <p:ph type="ftr" sz="quarter" idx="14"/>
          </p:nvPr>
        </p:nvSpPr>
        <p:spPr/>
        <p:txBody>
          <a:bodyPr/>
          <a:lstStyle>
            <a:lvl1pPr>
              <a:defRPr>
                <a:solidFill>
                  <a:schemeClr val="bg1"/>
                </a:solidFill>
              </a:defRPr>
            </a:lvl1pPr>
          </a:lstStyle>
          <a:p>
            <a:endParaRPr lang="en-GB" dirty="0"/>
          </a:p>
        </p:txBody>
      </p:sp>
      <p:sp>
        <p:nvSpPr>
          <p:cNvPr id="8" name="Freeform 5">
            <a:extLst>
              <a:ext uri="{FF2B5EF4-FFF2-40B4-BE49-F238E27FC236}">
                <a16:creationId xmlns:a16="http://schemas.microsoft.com/office/drawing/2014/main" id="{75F8C091-CB3B-436D-AC6F-7E40A4107791}"/>
              </a:ext>
            </a:extLst>
          </p:cNvPr>
          <p:cNvSpPr>
            <a:spLocks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5">
            <a:extLst>
              <a:ext uri="{FF2B5EF4-FFF2-40B4-BE49-F238E27FC236}">
                <a16:creationId xmlns:a16="http://schemas.microsoft.com/office/drawing/2014/main" id="{053DDDC4-9516-4914-8E85-C3BA04479552}"/>
              </a:ext>
            </a:extLst>
          </p:cNvPr>
          <p:cNvSpPr>
            <a:spLocks noGrp="1"/>
          </p:cNvSpPr>
          <p:nvPr>
            <p:ph type="body" sz="quarter" idx="15"/>
          </p:nvPr>
        </p:nvSpPr>
        <p:spPr>
          <a:xfrm>
            <a:off x="371475" y="1333500"/>
            <a:ext cx="11436350" cy="51323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4">
            <a:extLst>
              <a:ext uri="{FF2B5EF4-FFF2-40B4-BE49-F238E27FC236}">
                <a16:creationId xmlns:a16="http://schemas.microsoft.com/office/drawing/2014/main" id="{A5483DCB-2F04-4C13-92DD-ACDD2D3020E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775671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8">
            <a:extLst>
              <a:ext uri="{FF2B5EF4-FFF2-40B4-BE49-F238E27FC236}">
                <a16:creationId xmlns:a16="http://schemas.microsoft.com/office/drawing/2014/main" id="{8548D267-FBFF-4AD0-BA08-F5EE91AFB0DF}"/>
              </a:ext>
            </a:extLst>
          </p:cNvPr>
          <p:cNvSpPr>
            <a:spLocks noGrp="1"/>
          </p:cNvSpPr>
          <p:nvPr>
            <p:ph type="sldNum" sz="quarter" idx="14"/>
          </p:nvPr>
        </p:nvSpPr>
        <p:spPr/>
        <p:txBody>
          <a:bodyPr/>
          <a:lstStyle/>
          <a:p>
            <a:fld id="{09471650-AE8C-4F0A-9990-7EAE6F8DE484}" type="slidenum">
              <a:rPr lang="en-GB" smtClean="0"/>
              <a:pPr/>
              <a:t>‹#›</a:t>
            </a:fld>
            <a:endParaRPr lang="en-GB" dirty="0"/>
          </a:p>
        </p:txBody>
      </p:sp>
      <p:sp>
        <p:nvSpPr>
          <p:cNvPr id="5" name="Footer Placeholder 4">
            <a:extLst>
              <a:ext uri="{FF2B5EF4-FFF2-40B4-BE49-F238E27FC236}">
                <a16:creationId xmlns:a16="http://schemas.microsoft.com/office/drawing/2014/main" id="{0330FFD3-61B9-4B15-8B7F-0FAE7F799A71}"/>
              </a:ext>
            </a:extLst>
          </p:cNvPr>
          <p:cNvSpPr>
            <a:spLocks noGrp="1"/>
          </p:cNvSpPr>
          <p:nvPr>
            <p:ph type="ftr" sz="quarter" idx="16"/>
          </p:nvPr>
        </p:nvSpPr>
        <p:spPr/>
        <p:txBody>
          <a:bodyPr/>
          <a:lstStyle/>
          <a:p>
            <a:endParaRPr lang="en-GB" dirty="0"/>
          </a:p>
        </p:txBody>
      </p:sp>
      <p:sp>
        <p:nvSpPr>
          <p:cNvPr id="8" name="Text Placeholder 7">
            <a:extLst>
              <a:ext uri="{FF2B5EF4-FFF2-40B4-BE49-F238E27FC236}">
                <a16:creationId xmlns:a16="http://schemas.microsoft.com/office/drawing/2014/main" id="{9BCAB953-E302-4DC8-8A0D-6491A5B4EBE8}"/>
              </a:ext>
            </a:extLst>
          </p:cNvPr>
          <p:cNvSpPr>
            <a:spLocks noGrp="1"/>
          </p:cNvSpPr>
          <p:nvPr>
            <p:ph type="body" sz="quarter" idx="17"/>
          </p:nvPr>
        </p:nvSpPr>
        <p:spPr>
          <a:xfrm>
            <a:off x="371475" y="1333500"/>
            <a:ext cx="5341938" cy="5132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7">
            <a:extLst>
              <a:ext uri="{FF2B5EF4-FFF2-40B4-BE49-F238E27FC236}">
                <a16:creationId xmlns:a16="http://schemas.microsoft.com/office/drawing/2014/main" id="{E53CF106-BD0A-4C3A-BE50-808C5A110E74}"/>
              </a:ext>
            </a:extLst>
          </p:cNvPr>
          <p:cNvSpPr>
            <a:spLocks noGrp="1"/>
          </p:cNvSpPr>
          <p:nvPr>
            <p:ph type="body" sz="quarter" idx="18"/>
          </p:nvPr>
        </p:nvSpPr>
        <p:spPr>
          <a:xfrm>
            <a:off x="6478589" y="1333500"/>
            <a:ext cx="5341938" cy="5132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58F25AB-1120-4CCC-B7D0-072F33E07F5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30910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Half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Picture Placeholder 3">
            <a:extLst>
              <a:ext uri="{FF2B5EF4-FFF2-40B4-BE49-F238E27FC236}">
                <a16:creationId xmlns:a16="http://schemas.microsoft.com/office/drawing/2014/main" id="{B5F99270-205C-4E90-B33D-7AF4614C7257}"/>
              </a:ext>
            </a:extLst>
          </p:cNvPr>
          <p:cNvSpPr>
            <a:spLocks noGrp="1"/>
          </p:cNvSpPr>
          <p:nvPr>
            <p:ph type="pic" sz="quarter" idx="11"/>
          </p:nvPr>
        </p:nvSpPr>
        <p:spPr>
          <a:xfrm>
            <a:off x="6096000" y="1333500"/>
            <a:ext cx="5724525" cy="5132388"/>
          </a:xfrm>
          <a:prstGeom prst="rect">
            <a:avLst/>
          </a:prstGeom>
          <a:solidFill>
            <a:schemeClr val="bg1">
              <a:lumMod val="85000"/>
            </a:schemeClr>
          </a:solidFill>
        </p:spPr>
        <p:txBody>
          <a:bodyPr tIns="468000" rIns="0" anchor="ctr" anchorCtr="0"/>
          <a:lstStyle>
            <a:lvl1pPr marL="0" indent="0" algn="ctr">
              <a:buFontTx/>
              <a:buNone/>
              <a:defRPr/>
            </a:lvl1pPr>
          </a:lstStyle>
          <a:p>
            <a:r>
              <a:rPr lang="en-US"/>
              <a:t>Click icon to add picture</a:t>
            </a:r>
            <a:endParaRPr lang="en-GB" dirty="0"/>
          </a:p>
        </p:txBody>
      </p:sp>
      <p:sp>
        <p:nvSpPr>
          <p:cNvPr id="3" name="Footer Placeholder 2">
            <a:extLst>
              <a:ext uri="{FF2B5EF4-FFF2-40B4-BE49-F238E27FC236}">
                <a16:creationId xmlns:a16="http://schemas.microsoft.com/office/drawing/2014/main" id="{86D627E1-BC7E-4063-B040-190A4AE58A73}"/>
              </a:ext>
            </a:extLst>
          </p:cNvPr>
          <p:cNvSpPr>
            <a:spLocks noGrp="1"/>
          </p:cNvSpPr>
          <p:nvPr>
            <p:ph type="ftr" sz="quarter" idx="12"/>
          </p:nvPr>
        </p:nvSpPr>
        <p:spPr/>
        <p:txBody>
          <a:bodyPr/>
          <a:lstStyle/>
          <a:p>
            <a:endParaRPr lang="en-GB" dirty="0"/>
          </a:p>
        </p:txBody>
      </p:sp>
      <p:sp>
        <p:nvSpPr>
          <p:cNvPr id="5" name="Slide Number Placeholder 4">
            <a:extLst>
              <a:ext uri="{FF2B5EF4-FFF2-40B4-BE49-F238E27FC236}">
                <a16:creationId xmlns:a16="http://schemas.microsoft.com/office/drawing/2014/main" id="{0272F699-CBDD-4FE2-836F-A7F40CA9F10E}"/>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2" name="Text Placeholder 7">
            <a:extLst>
              <a:ext uri="{FF2B5EF4-FFF2-40B4-BE49-F238E27FC236}">
                <a16:creationId xmlns:a16="http://schemas.microsoft.com/office/drawing/2014/main" id="{99CC8F7F-99D0-4D2B-93CB-F026FA291147}"/>
              </a:ext>
            </a:extLst>
          </p:cNvPr>
          <p:cNvSpPr>
            <a:spLocks noGrp="1"/>
          </p:cNvSpPr>
          <p:nvPr>
            <p:ph type="body" sz="quarter" idx="17"/>
          </p:nvPr>
        </p:nvSpPr>
        <p:spPr>
          <a:xfrm>
            <a:off x="371475" y="1333500"/>
            <a:ext cx="5341938" cy="5132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itle 5">
            <a:extLst>
              <a:ext uri="{FF2B5EF4-FFF2-40B4-BE49-F238E27FC236}">
                <a16:creationId xmlns:a16="http://schemas.microsoft.com/office/drawing/2014/main" id="{2F63069D-25B0-44BE-84EA-7E4A96AC4F5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77250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3/4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Picture Placeholder 7">
            <a:extLst>
              <a:ext uri="{FF2B5EF4-FFF2-40B4-BE49-F238E27FC236}">
                <a16:creationId xmlns:a16="http://schemas.microsoft.com/office/drawing/2014/main" id="{CE60E313-6764-45F4-8E53-5C86A750FD0C}"/>
              </a:ext>
            </a:extLst>
          </p:cNvPr>
          <p:cNvSpPr>
            <a:spLocks noGrp="1"/>
          </p:cNvSpPr>
          <p:nvPr>
            <p:ph type="pic" sz="quarter" idx="11"/>
          </p:nvPr>
        </p:nvSpPr>
        <p:spPr>
          <a:xfrm>
            <a:off x="3429000" y="1333500"/>
            <a:ext cx="8391525" cy="5132388"/>
          </a:xfrm>
          <a:prstGeom prst="rect">
            <a:avLst/>
          </a:prstGeom>
          <a:solidFill>
            <a:schemeClr val="bg1">
              <a:lumMod val="85000"/>
            </a:schemeClr>
          </a:solidFill>
        </p:spPr>
        <p:txBody>
          <a:bodyPr tIns="468000" rIns="0" anchor="ctr" anchorCtr="0"/>
          <a:lstStyle>
            <a:lvl1pPr marL="0" indent="0" algn="ctr">
              <a:buFontTx/>
              <a:buNone/>
              <a:defRPr/>
            </a:lvl1pPr>
          </a:lstStyle>
          <a:p>
            <a:r>
              <a:rPr lang="en-US"/>
              <a:t>Click icon to add picture</a:t>
            </a:r>
            <a:endParaRPr lang="en-GB" dirty="0"/>
          </a:p>
        </p:txBody>
      </p:sp>
      <p:sp>
        <p:nvSpPr>
          <p:cNvPr id="4" name="Footer Placeholder 3">
            <a:extLst>
              <a:ext uri="{FF2B5EF4-FFF2-40B4-BE49-F238E27FC236}">
                <a16:creationId xmlns:a16="http://schemas.microsoft.com/office/drawing/2014/main" id="{18C4C6F1-2968-453B-BD3B-B08D7E0228C5}"/>
              </a:ext>
            </a:extLst>
          </p:cNvPr>
          <p:cNvSpPr>
            <a:spLocks noGrp="1"/>
          </p:cNvSpPr>
          <p:nvPr>
            <p:ph type="ftr" sz="quarter" idx="12"/>
          </p:nvPr>
        </p:nvSpPr>
        <p:spPr/>
        <p:txBody>
          <a:bodyPr/>
          <a:lstStyle/>
          <a:p>
            <a:endParaRPr lang="en-GB" dirty="0"/>
          </a:p>
        </p:txBody>
      </p:sp>
      <p:sp>
        <p:nvSpPr>
          <p:cNvPr id="5" name="Slide Number Placeholder 4">
            <a:extLst>
              <a:ext uri="{FF2B5EF4-FFF2-40B4-BE49-F238E27FC236}">
                <a16:creationId xmlns:a16="http://schemas.microsoft.com/office/drawing/2014/main" id="{0440CC30-BDCF-4F30-99B4-8377E229DF12}"/>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3" name="Text Placeholder 7">
            <a:extLst>
              <a:ext uri="{FF2B5EF4-FFF2-40B4-BE49-F238E27FC236}">
                <a16:creationId xmlns:a16="http://schemas.microsoft.com/office/drawing/2014/main" id="{3E3F5180-2E2B-46A2-AC7C-C5175E6CB4B3}"/>
              </a:ext>
            </a:extLst>
          </p:cNvPr>
          <p:cNvSpPr>
            <a:spLocks noGrp="1"/>
          </p:cNvSpPr>
          <p:nvPr>
            <p:ph type="body" sz="quarter" idx="17"/>
          </p:nvPr>
        </p:nvSpPr>
        <p:spPr>
          <a:xfrm>
            <a:off x="371475" y="1333500"/>
            <a:ext cx="2910480" cy="5132388"/>
          </a:xfrm>
        </p:spPr>
        <p:txBody>
          <a:body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107F9D89-2DD0-4247-B6F9-46FC84B672C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63622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Picture Placeholder 7">
            <a:extLst>
              <a:ext uri="{FF2B5EF4-FFF2-40B4-BE49-F238E27FC236}">
                <a16:creationId xmlns:a16="http://schemas.microsoft.com/office/drawing/2014/main" id="{CE60E313-6764-45F4-8E53-5C86A750FD0C}"/>
              </a:ext>
            </a:extLst>
          </p:cNvPr>
          <p:cNvSpPr>
            <a:spLocks noGrp="1"/>
          </p:cNvSpPr>
          <p:nvPr>
            <p:ph type="pic" sz="quarter" idx="11"/>
          </p:nvPr>
        </p:nvSpPr>
        <p:spPr>
          <a:xfrm>
            <a:off x="371476" y="1333500"/>
            <a:ext cx="11449050" cy="5132388"/>
          </a:xfrm>
          <a:prstGeom prst="rect">
            <a:avLst/>
          </a:prstGeom>
          <a:solidFill>
            <a:schemeClr val="bg1">
              <a:lumMod val="85000"/>
            </a:schemeClr>
          </a:solidFill>
        </p:spPr>
        <p:txBody>
          <a:bodyPr tIns="612000" anchor="ctr" anchorCtr="0"/>
          <a:lstStyle>
            <a:lvl1pPr marL="0" indent="0" algn="ctr">
              <a:buFontTx/>
              <a:buNone/>
              <a:defRPr/>
            </a:lvl1pPr>
          </a:lstStyle>
          <a:p>
            <a:r>
              <a:rPr lang="en-US"/>
              <a:t>Click icon to add picture</a:t>
            </a:r>
            <a:endParaRPr lang="en-GB"/>
          </a:p>
        </p:txBody>
      </p:sp>
      <p:sp>
        <p:nvSpPr>
          <p:cNvPr id="5" name="Footer Placeholder 4">
            <a:extLst>
              <a:ext uri="{FF2B5EF4-FFF2-40B4-BE49-F238E27FC236}">
                <a16:creationId xmlns:a16="http://schemas.microsoft.com/office/drawing/2014/main" id="{5AEB56F6-E36F-4031-B8E9-3FFA7CE09E9B}"/>
              </a:ext>
            </a:extLst>
          </p:cNvPr>
          <p:cNvSpPr>
            <a:spLocks noGrp="1"/>
          </p:cNvSpPr>
          <p:nvPr>
            <p:ph type="ftr" sz="quarter" idx="12"/>
          </p:nvPr>
        </p:nvSpPr>
        <p:spPr/>
        <p:txBody>
          <a:bodyPr/>
          <a:lstStyle/>
          <a:p>
            <a:endParaRPr lang="en-GB" dirty="0"/>
          </a:p>
        </p:txBody>
      </p:sp>
      <p:sp>
        <p:nvSpPr>
          <p:cNvPr id="9" name="Slide Number Placeholder 8">
            <a:extLst>
              <a:ext uri="{FF2B5EF4-FFF2-40B4-BE49-F238E27FC236}">
                <a16:creationId xmlns:a16="http://schemas.microsoft.com/office/drawing/2014/main" id="{97055289-D0EC-4215-82F3-A3E624266350}"/>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44BB74B2-2F18-440B-849C-438EB0CEAB9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4628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light blu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843810739"/>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tan">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3629921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urpl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45983935"/>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green">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53094146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dark blu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9561557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brown">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en-US"/>
              <a:t>Click to edit Master title style</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78363240"/>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Chart Placeholder 8">
            <a:extLst>
              <a:ext uri="{FF2B5EF4-FFF2-40B4-BE49-F238E27FC236}">
                <a16:creationId xmlns:a16="http://schemas.microsoft.com/office/drawing/2014/main" id="{B11BEAE7-2321-4447-AFD7-9628AFD2EA5D}"/>
              </a:ext>
            </a:extLst>
          </p:cNvPr>
          <p:cNvSpPr>
            <a:spLocks noGrp="1"/>
          </p:cNvSpPr>
          <p:nvPr>
            <p:ph type="chart" sz="quarter" idx="11"/>
          </p:nvPr>
        </p:nvSpPr>
        <p:spPr>
          <a:xfrm>
            <a:off x="6422906" y="1333500"/>
            <a:ext cx="5400000" cy="4740276"/>
          </a:xfrm>
          <a:prstGeom prst="rect">
            <a:avLst/>
          </a:prstGeom>
        </p:spPr>
        <p:txBody>
          <a:bodyPr tIns="540000" anchor="ctr" anchorCtr="0"/>
          <a:lstStyle>
            <a:lvl1pPr marL="0" indent="0" algn="ctr">
              <a:buFontTx/>
              <a:buNone/>
              <a:defRPr/>
            </a:lvl1pPr>
          </a:lstStyle>
          <a:p>
            <a:r>
              <a:rPr lang="en-US"/>
              <a:t>Click icon to add chart</a:t>
            </a:r>
            <a:endParaRPr lang="en-GB" dirty="0"/>
          </a:p>
        </p:txBody>
      </p:sp>
      <p:sp>
        <p:nvSpPr>
          <p:cNvPr id="3" name="Footer Placeholder 2">
            <a:extLst>
              <a:ext uri="{FF2B5EF4-FFF2-40B4-BE49-F238E27FC236}">
                <a16:creationId xmlns:a16="http://schemas.microsoft.com/office/drawing/2014/main" id="{2EF67ACF-BFB2-4AB0-B558-138068684A88}"/>
              </a:ext>
            </a:extLst>
          </p:cNvPr>
          <p:cNvSpPr>
            <a:spLocks noGrp="1"/>
          </p:cNvSpPr>
          <p:nvPr>
            <p:ph type="ftr" sz="quarter" idx="12"/>
          </p:nvPr>
        </p:nvSpPr>
        <p:spPr/>
        <p:txBody>
          <a:bodyPr/>
          <a:lstStyle/>
          <a:p>
            <a:endParaRPr lang="en-GB" dirty="0"/>
          </a:p>
        </p:txBody>
      </p:sp>
      <p:sp>
        <p:nvSpPr>
          <p:cNvPr id="4" name="Slide Number Placeholder 3">
            <a:extLst>
              <a:ext uri="{FF2B5EF4-FFF2-40B4-BE49-F238E27FC236}">
                <a16:creationId xmlns:a16="http://schemas.microsoft.com/office/drawing/2014/main" id="{E3D4E265-F064-4F0B-A493-9EF6D3CF0337}"/>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5" name="Text Placeholder 7">
            <a:extLst>
              <a:ext uri="{FF2B5EF4-FFF2-40B4-BE49-F238E27FC236}">
                <a16:creationId xmlns:a16="http://schemas.microsoft.com/office/drawing/2014/main" id="{1751B778-8C10-4C09-A597-DEE06E2902E5}"/>
              </a:ext>
            </a:extLst>
          </p:cNvPr>
          <p:cNvSpPr>
            <a:spLocks noGrp="1"/>
          </p:cNvSpPr>
          <p:nvPr>
            <p:ph type="body" sz="quarter" idx="17"/>
          </p:nvPr>
        </p:nvSpPr>
        <p:spPr>
          <a:xfrm>
            <a:off x="371474" y="1333500"/>
            <a:ext cx="5722143" cy="5132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a:extLst>
              <a:ext uri="{FF2B5EF4-FFF2-40B4-BE49-F238E27FC236}">
                <a16:creationId xmlns:a16="http://schemas.microsoft.com/office/drawing/2014/main" id="{61A58C71-1228-4263-B649-6D475D034A5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1479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 3/4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hart Placeholder 8">
            <a:extLst>
              <a:ext uri="{FF2B5EF4-FFF2-40B4-BE49-F238E27FC236}">
                <a16:creationId xmlns:a16="http://schemas.microsoft.com/office/drawing/2014/main" id="{F88D08FB-754A-49BC-8DAD-0E6969330D23}"/>
              </a:ext>
            </a:extLst>
          </p:cNvPr>
          <p:cNvSpPr>
            <a:spLocks noGrp="1"/>
          </p:cNvSpPr>
          <p:nvPr>
            <p:ph type="chart" sz="quarter" idx="12"/>
          </p:nvPr>
        </p:nvSpPr>
        <p:spPr>
          <a:xfrm>
            <a:off x="3429000" y="1333500"/>
            <a:ext cx="8391525" cy="4740276"/>
          </a:xfrm>
          <a:prstGeom prst="rect">
            <a:avLst/>
          </a:prstGeom>
        </p:spPr>
        <p:txBody>
          <a:bodyPr tIns="576000" anchor="ctr" anchorCtr="0"/>
          <a:lstStyle>
            <a:lvl1pPr marL="0" indent="0" algn="ctr">
              <a:buFontTx/>
              <a:buNone/>
              <a:defRPr/>
            </a:lvl1pPr>
          </a:lstStyle>
          <a:p>
            <a:r>
              <a:rPr lang="en-US"/>
              <a:t>Click icon to add chart</a:t>
            </a:r>
            <a:endParaRPr lang="en-GB"/>
          </a:p>
        </p:txBody>
      </p:sp>
      <p:sp>
        <p:nvSpPr>
          <p:cNvPr id="5" name="Footer Placeholder 4">
            <a:extLst>
              <a:ext uri="{FF2B5EF4-FFF2-40B4-BE49-F238E27FC236}">
                <a16:creationId xmlns:a16="http://schemas.microsoft.com/office/drawing/2014/main" id="{E41D3A43-146B-45DD-8298-642163DF59A2}"/>
              </a:ext>
            </a:extLst>
          </p:cNvPr>
          <p:cNvSpPr>
            <a:spLocks noGrp="1"/>
          </p:cNvSpPr>
          <p:nvPr>
            <p:ph type="ftr" sz="quarter" idx="13"/>
          </p:nvPr>
        </p:nvSpPr>
        <p:spPr/>
        <p:txBody>
          <a:bodyPr/>
          <a:lstStyle/>
          <a:p>
            <a:endParaRPr lang="en-GB" dirty="0"/>
          </a:p>
        </p:txBody>
      </p:sp>
      <p:sp>
        <p:nvSpPr>
          <p:cNvPr id="6" name="Slide Number Placeholder 5">
            <a:extLst>
              <a:ext uri="{FF2B5EF4-FFF2-40B4-BE49-F238E27FC236}">
                <a16:creationId xmlns:a16="http://schemas.microsoft.com/office/drawing/2014/main" id="{8E8A6E8E-8375-4FB6-982A-AB589BBA71CB}"/>
              </a:ext>
            </a:extLst>
          </p:cNvPr>
          <p:cNvSpPr>
            <a:spLocks noGrp="1"/>
          </p:cNvSpPr>
          <p:nvPr>
            <p:ph type="sldNum" sz="quarter" idx="14"/>
          </p:nvPr>
        </p:nvSpPr>
        <p:spPr/>
        <p:txBody>
          <a:bodyPr/>
          <a:lstStyle/>
          <a:p>
            <a:fld id="{09471650-AE8C-4F0A-9990-7EAE6F8DE484}" type="slidenum">
              <a:rPr lang="en-GB" smtClean="0"/>
              <a:pPr/>
              <a:t>‹#›</a:t>
            </a:fld>
            <a:endParaRPr lang="en-GB" dirty="0"/>
          </a:p>
        </p:txBody>
      </p:sp>
      <p:sp>
        <p:nvSpPr>
          <p:cNvPr id="11" name="Text Placeholder 7">
            <a:extLst>
              <a:ext uri="{FF2B5EF4-FFF2-40B4-BE49-F238E27FC236}">
                <a16:creationId xmlns:a16="http://schemas.microsoft.com/office/drawing/2014/main" id="{91C9B866-7730-4900-A273-ADFB6FB0D5F2}"/>
              </a:ext>
            </a:extLst>
          </p:cNvPr>
          <p:cNvSpPr>
            <a:spLocks noGrp="1"/>
          </p:cNvSpPr>
          <p:nvPr>
            <p:ph type="body" sz="quarter" idx="17"/>
          </p:nvPr>
        </p:nvSpPr>
        <p:spPr>
          <a:xfrm>
            <a:off x="371475" y="1333500"/>
            <a:ext cx="2910480" cy="5132388"/>
          </a:xfrm>
        </p:spPr>
        <p:txBody>
          <a:body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AC14BF8B-7E8D-4368-A62C-7B4DE10CDC11}"/>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592465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Chart Placeholder 8">
            <a:extLst>
              <a:ext uri="{FF2B5EF4-FFF2-40B4-BE49-F238E27FC236}">
                <a16:creationId xmlns:a16="http://schemas.microsoft.com/office/drawing/2014/main" id="{B11BEAE7-2321-4447-AFD7-9628AFD2EA5D}"/>
              </a:ext>
            </a:extLst>
          </p:cNvPr>
          <p:cNvSpPr>
            <a:spLocks noGrp="1"/>
          </p:cNvSpPr>
          <p:nvPr>
            <p:ph type="chart" sz="quarter" idx="11"/>
          </p:nvPr>
        </p:nvSpPr>
        <p:spPr>
          <a:xfrm>
            <a:off x="371476" y="1333500"/>
            <a:ext cx="11449050" cy="4740276"/>
          </a:xfrm>
          <a:prstGeom prst="rect">
            <a:avLst/>
          </a:prstGeom>
        </p:spPr>
        <p:txBody>
          <a:bodyPr tIns="576000" anchor="ctr" anchorCtr="0"/>
          <a:lstStyle>
            <a:lvl1pPr marL="0" indent="0" algn="ctr">
              <a:buFontTx/>
              <a:buNone/>
              <a:defRPr/>
            </a:lvl1pPr>
          </a:lstStyle>
          <a:p>
            <a:r>
              <a:rPr lang="en-US"/>
              <a:t>Click icon to add chart</a:t>
            </a:r>
            <a:endParaRPr lang="en-GB"/>
          </a:p>
        </p:txBody>
      </p:sp>
      <p:sp>
        <p:nvSpPr>
          <p:cNvPr id="5" name="Footer Placeholder 4">
            <a:extLst>
              <a:ext uri="{FF2B5EF4-FFF2-40B4-BE49-F238E27FC236}">
                <a16:creationId xmlns:a16="http://schemas.microsoft.com/office/drawing/2014/main" id="{C38E4AFC-0964-4168-93CC-F7E64905AD5C}"/>
              </a:ext>
            </a:extLst>
          </p:cNvPr>
          <p:cNvSpPr>
            <a:spLocks noGrp="1"/>
          </p:cNvSpPr>
          <p:nvPr>
            <p:ph type="ftr" sz="quarter" idx="12"/>
          </p:nvPr>
        </p:nvSpPr>
        <p:spPr/>
        <p:txBody>
          <a:bodyPr/>
          <a:lstStyle/>
          <a:p>
            <a:endParaRPr lang="en-GB" dirty="0"/>
          </a:p>
        </p:txBody>
      </p:sp>
      <p:sp>
        <p:nvSpPr>
          <p:cNvPr id="8" name="Slide Number Placeholder 7">
            <a:extLst>
              <a:ext uri="{FF2B5EF4-FFF2-40B4-BE49-F238E27FC236}">
                <a16:creationId xmlns:a16="http://schemas.microsoft.com/office/drawing/2014/main" id="{F41EB80F-072C-4B77-A7D6-C9949BCEDB43}"/>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7C63DBFB-A4CA-4959-A415-E0C001B06E7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309145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ing only">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80181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ing only light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83351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ing only ta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4717086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ing only purp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1774896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ing only gree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9015534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ing only dark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03126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ast 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B6E559-2AD5-4721-BBDF-0D120D4980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1958" y="2782834"/>
            <a:ext cx="5628083" cy="1292331"/>
          </a:xfrm>
          <a:prstGeom prst="rect">
            <a:avLst/>
          </a:prstGeom>
        </p:spPr>
      </p:pic>
    </p:spTree>
    <p:extLst>
      <p:ext uri="{BB962C8B-B14F-4D97-AF65-F5344CB8AC3E}">
        <p14:creationId xmlns:p14="http://schemas.microsoft.com/office/powerpoint/2010/main" val="180229601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hidden="1"/>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12566" y="0"/>
            <a:ext cx="12193720" cy="6858000"/>
          </a:xfrm>
          <a:prstGeom prst="rect">
            <a:avLst/>
          </a:prstGeom>
        </p:spPr>
      </p:pic>
      <p:sp>
        <p:nvSpPr>
          <p:cNvPr id="2" name="Title Placeholder 1"/>
          <p:cNvSpPr>
            <a:spLocks noGrp="1"/>
          </p:cNvSpPr>
          <p:nvPr>
            <p:ph type="title"/>
          </p:nvPr>
        </p:nvSpPr>
        <p:spPr>
          <a:xfrm>
            <a:off x="371474" y="444483"/>
            <a:ext cx="9787991" cy="815991"/>
          </a:xfrm>
          <a:prstGeom prst="rect">
            <a:avLst/>
          </a:prstGeom>
        </p:spPr>
        <p:txBody>
          <a:bodyPr vert="horz" lIns="0" tIns="0" rIns="0" bIns="0" rtlCol="0" anchor="t" anchorCtr="0">
            <a:noAutofit/>
          </a:bodyPr>
          <a:lstStyle/>
          <a:p>
            <a:endParaRPr lang="en-GB" dirty="0"/>
          </a:p>
        </p:txBody>
      </p:sp>
      <p:sp>
        <p:nvSpPr>
          <p:cNvPr id="6" name="Slide Number Placeholder 5"/>
          <p:cNvSpPr>
            <a:spLocks noGrp="1"/>
          </p:cNvSpPr>
          <p:nvPr>
            <p:ph type="sldNum" sz="quarter" idx="4"/>
          </p:nvPr>
        </p:nvSpPr>
        <p:spPr>
          <a:xfrm>
            <a:off x="9083844" y="6592991"/>
            <a:ext cx="2736000" cy="144000"/>
          </a:xfrm>
          <a:prstGeom prst="rect">
            <a:avLst/>
          </a:prstGeom>
        </p:spPr>
        <p:txBody>
          <a:bodyPr vert="horz" lIns="0" tIns="0" rIns="0" bIns="0" rtlCol="0" anchor="ctr">
            <a:noAutofit/>
          </a:bodyPr>
          <a:lstStyle>
            <a:lvl1pPr algn="r">
              <a:defRPr sz="850">
                <a:solidFill>
                  <a:schemeClr val="tx2"/>
                </a:solidFill>
                <a:latin typeface="+mn-lt"/>
              </a:defRPr>
            </a:lvl1pPr>
          </a:lstStyle>
          <a:p>
            <a:fld id="{09471650-AE8C-4F0A-9990-7EAE6F8DE484}" type="slidenum">
              <a:rPr lang="en-GB" smtClean="0"/>
              <a:pPr/>
              <a:t>‹#›</a:t>
            </a:fld>
            <a:endParaRPr lang="en-GB" dirty="0"/>
          </a:p>
        </p:txBody>
      </p:sp>
      <p:sp>
        <p:nvSpPr>
          <p:cNvPr id="9" name="Freeform 5"/>
          <p:cNvSpPr>
            <a:spLocks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7" name="Footer Placeholder 6">
            <a:extLst>
              <a:ext uri="{FF2B5EF4-FFF2-40B4-BE49-F238E27FC236}">
                <a16:creationId xmlns:a16="http://schemas.microsoft.com/office/drawing/2014/main" id="{AD5222E4-0015-48F8-B91C-A7AF60FA246E}"/>
              </a:ext>
            </a:extLst>
          </p:cNvPr>
          <p:cNvSpPr>
            <a:spLocks noGrp="1"/>
          </p:cNvSpPr>
          <p:nvPr>
            <p:ph type="ftr" sz="quarter" idx="3"/>
          </p:nvPr>
        </p:nvSpPr>
        <p:spPr>
          <a:xfrm>
            <a:off x="377994" y="6592992"/>
            <a:ext cx="2736000" cy="150250"/>
          </a:xfrm>
          <a:prstGeom prst="rect">
            <a:avLst/>
          </a:prstGeom>
        </p:spPr>
        <p:txBody>
          <a:bodyPr vert="horz" lIns="91440" tIns="45720" rIns="91440" bIns="45720" rtlCol="0" anchor="ctr"/>
          <a:lstStyle>
            <a:lvl1pPr algn="l">
              <a:defRPr sz="850">
                <a:solidFill>
                  <a:schemeClr val="tx2"/>
                </a:solidFill>
                <a:latin typeface="+mn-lt"/>
              </a:defRPr>
            </a:lvl1pPr>
          </a:lstStyle>
          <a:p>
            <a:endParaRPr lang="en-GB" dirty="0"/>
          </a:p>
        </p:txBody>
      </p:sp>
      <p:sp>
        <p:nvSpPr>
          <p:cNvPr id="8" name="Text Placeholder 7">
            <a:extLst>
              <a:ext uri="{FF2B5EF4-FFF2-40B4-BE49-F238E27FC236}">
                <a16:creationId xmlns:a16="http://schemas.microsoft.com/office/drawing/2014/main" id="{8C553EBE-1727-4705-8E4C-A6A1EF4401D5}"/>
              </a:ext>
            </a:extLst>
          </p:cNvPr>
          <p:cNvSpPr>
            <a:spLocks noGrp="1"/>
          </p:cNvSpPr>
          <p:nvPr>
            <p:ph type="body" idx="1"/>
          </p:nvPr>
        </p:nvSpPr>
        <p:spPr>
          <a:xfrm>
            <a:off x="371474" y="1335268"/>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Box 3">
            <a:extLst>
              <a:ext uri="{FF2B5EF4-FFF2-40B4-BE49-F238E27FC236}">
                <a16:creationId xmlns:a16="http://schemas.microsoft.com/office/drawing/2014/main" id="{F0C03B95-E441-454F-8B1D-B64B413294FB}"/>
              </a:ext>
            </a:extLst>
          </p:cNvPr>
          <p:cNvSpPr txBox="1"/>
          <p:nvPr userDrawn="1">
            <p:extLst>
              <p:ext uri="{1162E1C5-73C7-4A58-AE30-91384D911F3F}">
                <p184:classification xmlns:p184="http://schemas.microsoft.com/office/powerpoint/2018/4/main" val="ftr"/>
              </p:ext>
            </p:extLst>
          </p:nvPr>
        </p:nvSpPr>
        <p:spPr>
          <a:xfrm>
            <a:off x="0" y="6736080"/>
            <a:ext cx="871538" cy="121920"/>
          </a:xfrm>
          <a:prstGeom prst="rect">
            <a:avLst/>
          </a:prstGeom>
        </p:spPr>
        <p:txBody>
          <a:bodyPr horzOverflow="overflow" lIns="0" tIns="0" rIns="0" bIns="0">
            <a:spAutoFit/>
          </a:bodyPr>
          <a:lstStyle/>
          <a:p>
            <a:pPr algn="l"/>
            <a:r>
              <a:rPr lang="sv-SE" sz="800">
                <a:solidFill>
                  <a:srgbClr val="000000"/>
                </a:solidFill>
                <a:latin typeface="Calibri" panose="020F0502020204030204" pitchFamily="34" charset="0"/>
                <a:cs typeface="Calibri" panose="020F0502020204030204" pitchFamily="34" charset="0"/>
              </a:rPr>
              <a:t>Classified as Internal</a:t>
            </a:r>
          </a:p>
        </p:txBody>
      </p:sp>
    </p:spTree>
    <p:extLst>
      <p:ext uri="{BB962C8B-B14F-4D97-AF65-F5344CB8AC3E}">
        <p14:creationId xmlns:p14="http://schemas.microsoft.com/office/powerpoint/2010/main" val="221528572"/>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93" r:id="rId3"/>
    <p:sldLayoutId id="2147483694" r:id="rId4"/>
    <p:sldLayoutId id="2147483695" r:id="rId5"/>
    <p:sldLayoutId id="2147483696" r:id="rId6"/>
    <p:sldLayoutId id="2147483697" r:id="rId7"/>
    <p:sldLayoutId id="2147483698" r:id="rId8"/>
    <p:sldLayoutId id="2147483680" r:id="rId9"/>
    <p:sldLayoutId id="2147483681" r:id="rId10"/>
    <p:sldLayoutId id="2147483666" r:id="rId11"/>
    <p:sldLayoutId id="2147483682" r:id="rId12"/>
    <p:sldLayoutId id="2147483673" r:id="rId13"/>
    <p:sldLayoutId id="2147483667" r:id="rId14"/>
    <p:sldLayoutId id="2147483670" r:id="rId15"/>
    <p:sldLayoutId id="2147483671" r:id="rId16"/>
    <p:sldLayoutId id="2147483651" r:id="rId17"/>
    <p:sldLayoutId id="2147483683" r:id="rId18"/>
    <p:sldLayoutId id="2147483684" r:id="rId19"/>
    <p:sldLayoutId id="2147483685" r:id="rId20"/>
    <p:sldLayoutId id="2147483686" r:id="rId21"/>
    <p:sldLayoutId id="2147483692" r:id="rId22"/>
    <p:sldLayoutId id="2147483668" r:id="rId23"/>
    <p:sldLayoutId id="2147483672" r:id="rId24"/>
    <p:sldLayoutId id="2147483669" r:id="rId25"/>
    <p:sldLayoutId id="2147483676" r:id="rId26"/>
    <p:sldLayoutId id="2147483687" r:id="rId27"/>
    <p:sldLayoutId id="2147483688" r:id="rId28"/>
    <p:sldLayoutId id="2147483689" r:id="rId29"/>
    <p:sldLayoutId id="2147483690" r:id="rId30"/>
    <p:sldLayoutId id="2147483691" r:id="rId31"/>
    <p:sldLayoutId id="2147483678" r:id="rId32"/>
  </p:sldLayoutIdLst>
  <p:hf hdr="0"/>
  <p:txStyles>
    <p:titleStyle>
      <a:lvl1pPr algn="l" defTabSz="914400" rtl="0" eaLnBrk="1" latinLnBrk="0" hangingPunct="1">
        <a:lnSpc>
          <a:spcPct val="90000"/>
        </a:lnSpc>
        <a:spcBef>
          <a:spcPct val="0"/>
        </a:spcBef>
        <a:buNone/>
        <a:defRPr sz="3000" kern="1200" baseline="0">
          <a:solidFill>
            <a:schemeClr val="tx2"/>
          </a:solidFill>
          <a:latin typeface="+mj-lt"/>
          <a:ea typeface="+mj-ea"/>
          <a:cs typeface="+mj-cs"/>
        </a:defRPr>
      </a:lvl1pPr>
    </p:titleStyle>
    <p:bodyStyle>
      <a:lvl1pPr marL="177800" indent="-177800" algn="l" defTabSz="914400" rtl="0" eaLnBrk="1" latinLnBrk="0" hangingPunct="1">
        <a:lnSpc>
          <a:spcPct val="90000"/>
        </a:lnSpc>
        <a:spcBef>
          <a:spcPts val="900"/>
        </a:spcBef>
        <a:buFont typeface="Arial" panose="020B0604020202020204" pitchFamily="34" charset="0"/>
        <a:buChar char="•"/>
        <a:defRPr sz="2000" kern="1200">
          <a:solidFill>
            <a:schemeClr val="tx2"/>
          </a:solidFill>
          <a:latin typeface="+mn-lt"/>
          <a:ea typeface="+mn-ea"/>
          <a:cs typeface="+mn-cs"/>
        </a:defRPr>
      </a:lvl1pPr>
      <a:lvl2pPr marL="449263" indent="-271463" algn="l" defTabSz="914400" rtl="0" eaLnBrk="1" latinLnBrk="0" hangingPunct="1">
        <a:lnSpc>
          <a:spcPct val="90000"/>
        </a:lnSpc>
        <a:spcBef>
          <a:spcPts val="900"/>
        </a:spcBef>
        <a:buFont typeface="Electrolux Sans Regular" panose="020B0500020000000000" pitchFamily="34" charset="0"/>
        <a:buChar char="—"/>
        <a:defRPr sz="1800" kern="1200">
          <a:solidFill>
            <a:schemeClr val="tx2"/>
          </a:solidFill>
          <a:latin typeface="+mn-lt"/>
          <a:ea typeface="+mn-ea"/>
          <a:cs typeface="+mn-cs"/>
        </a:defRPr>
      </a:lvl2pPr>
      <a:lvl3pPr marL="627063" indent="-177800"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mn-lt"/>
          <a:ea typeface="+mn-ea"/>
          <a:cs typeface="+mn-cs"/>
        </a:defRPr>
      </a:lvl3pPr>
      <a:lvl4pPr marL="895350" indent="-268288" algn="l" defTabSz="914400" rtl="0" eaLnBrk="1" latinLnBrk="0" hangingPunct="1">
        <a:lnSpc>
          <a:spcPct val="90000"/>
        </a:lnSpc>
        <a:spcBef>
          <a:spcPts val="900"/>
        </a:spcBef>
        <a:buFont typeface="Electrolux Sans Regular" panose="020B0500020000000000" pitchFamily="34" charset="0"/>
        <a:buChar char="—"/>
        <a:defRPr sz="1600" kern="1200">
          <a:solidFill>
            <a:schemeClr val="tx2"/>
          </a:solidFill>
          <a:latin typeface="Electrolux Sans Regular" panose="020B0500020000000000" pitchFamily="34" charset="0"/>
          <a:ea typeface="+mn-ea"/>
          <a:cs typeface="+mn-cs"/>
        </a:defRPr>
      </a:lvl4pPr>
      <a:lvl5pPr marL="1077913" indent="-182563"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Electrolux Sans Regular" panose="020B0500020000000000" pitchFamily="34" charset="0"/>
          <a:ea typeface="+mn-ea"/>
          <a:cs typeface="+mn-cs"/>
        </a:defRPr>
      </a:lvl5pPr>
      <a:lvl6pPr marL="628650" indent="-182563"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6pPr>
      <a:lvl7pPr marL="898525" indent="-269875" algn="l" defTabSz="914400" rtl="0" eaLnBrk="1" latinLnBrk="0" hangingPunct="1">
        <a:lnSpc>
          <a:spcPct val="90000"/>
        </a:lnSpc>
        <a:spcBef>
          <a:spcPts val="900"/>
        </a:spcBef>
        <a:buFont typeface="Electrolux Sans Regular" panose="020B0500020000000000" pitchFamily="34" charset="0"/>
        <a:buChar char="—"/>
        <a:defRPr sz="1800" kern="1200">
          <a:solidFill>
            <a:schemeClr val="tx1"/>
          </a:solidFill>
          <a:latin typeface="+mn-lt"/>
          <a:ea typeface="+mn-ea"/>
          <a:cs typeface="+mn-cs"/>
        </a:defRPr>
      </a:lvl7pPr>
      <a:lvl8pPr marL="1166813" indent="-268288"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4073" userDrawn="1">
          <p15:clr>
            <a:srgbClr val="F26B43"/>
          </p15:clr>
        </p15:guide>
        <p15:guide id="4" pos="234" userDrawn="1">
          <p15:clr>
            <a:srgbClr val="F26B43"/>
          </p15:clr>
        </p15:guide>
        <p15:guide id="5" pos="7446" userDrawn="1">
          <p15:clr>
            <a:srgbClr val="F26B43"/>
          </p15:clr>
        </p15:guide>
        <p15:guide id="7" orient="horz" pos="794" userDrawn="1">
          <p15:clr>
            <a:srgbClr val="F26B43"/>
          </p15:clr>
        </p15:guide>
        <p15:guide id="9"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2.png"/><Relationship Id="rId12" Type="http://schemas.openxmlformats.org/officeDocument/2006/relationships/customXml" Target="../ink/ink5.xml"/><Relationship Id="rId17" Type="http://schemas.openxmlformats.org/officeDocument/2006/relationships/image" Target="../media/image27.png"/><Relationship Id="rId2" Type="http://schemas.openxmlformats.org/officeDocument/2006/relationships/image" Target="../media/image19.png"/><Relationship Id="rId16" Type="http://schemas.openxmlformats.org/officeDocument/2006/relationships/customXml" Target="../ink/ink7.xml"/><Relationship Id="rId1" Type="http://schemas.openxmlformats.org/officeDocument/2006/relationships/slideLayout" Target="../slideLayouts/slideLayout11.xml"/><Relationship Id="rId6" Type="http://schemas.openxmlformats.org/officeDocument/2006/relationships/customXml" Target="../ink/ink2.xml"/><Relationship Id="rId11" Type="http://schemas.openxmlformats.org/officeDocument/2006/relationships/image" Target="../media/image24.png"/><Relationship Id="rId5" Type="http://schemas.openxmlformats.org/officeDocument/2006/relationships/image" Target="../media/image21.png"/><Relationship Id="rId15" Type="http://schemas.openxmlformats.org/officeDocument/2006/relationships/image" Target="../media/image2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23.png"/><Relationship Id="rId14" Type="http://schemas.openxmlformats.org/officeDocument/2006/relationships/customXml" Target="../ink/ink6.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C21FC7-8EB2-4B21-8C8B-E9F412DCE96E}"/>
              </a:ext>
            </a:extLst>
          </p:cNvPr>
          <p:cNvSpPr>
            <a:spLocks noGrp="1"/>
          </p:cNvSpPr>
          <p:nvPr>
            <p:ph type="ctrTitle"/>
          </p:nvPr>
        </p:nvSpPr>
        <p:spPr/>
        <p:txBody>
          <a:bodyPr/>
          <a:lstStyle/>
          <a:p>
            <a:r>
              <a:rPr lang="en-GB" dirty="0"/>
              <a:t>Security Issue: Strictly confidential data Exposed</a:t>
            </a:r>
          </a:p>
        </p:txBody>
      </p:sp>
      <p:sp>
        <p:nvSpPr>
          <p:cNvPr id="11" name="Subtitle 10">
            <a:extLst>
              <a:ext uri="{FF2B5EF4-FFF2-40B4-BE49-F238E27FC236}">
                <a16:creationId xmlns:a16="http://schemas.microsoft.com/office/drawing/2014/main" id="{63DC3302-BC15-4AEA-AA49-FA9A571776E2}"/>
              </a:ext>
            </a:extLst>
          </p:cNvPr>
          <p:cNvSpPr>
            <a:spLocks noGrp="1"/>
          </p:cNvSpPr>
          <p:nvPr>
            <p:ph type="subTitle" idx="1"/>
          </p:nvPr>
        </p:nvSpPr>
        <p:spPr/>
        <p:txBody>
          <a:bodyPr/>
          <a:lstStyle/>
          <a:p>
            <a:r>
              <a:rPr lang="en-GB" dirty="0"/>
              <a:t>Thaer</a:t>
            </a:r>
          </a:p>
        </p:txBody>
      </p:sp>
      <p:sp>
        <p:nvSpPr>
          <p:cNvPr id="3" name="Slide Number Placeholder 2">
            <a:extLst>
              <a:ext uri="{FF2B5EF4-FFF2-40B4-BE49-F238E27FC236}">
                <a16:creationId xmlns:a16="http://schemas.microsoft.com/office/drawing/2014/main" id="{15FE9923-CF8A-4DE6-BC78-41285AED024A}"/>
              </a:ext>
            </a:extLst>
          </p:cNvPr>
          <p:cNvSpPr>
            <a:spLocks noGrp="1"/>
          </p:cNvSpPr>
          <p:nvPr>
            <p:ph type="sldNum" sz="quarter" idx="4294967295"/>
          </p:nvPr>
        </p:nvSpPr>
        <p:spPr>
          <a:xfrm>
            <a:off x="9455150" y="6592888"/>
            <a:ext cx="2736850" cy="144462"/>
          </a:xfrm>
        </p:spPr>
        <p:txBody>
          <a:bodyPr/>
          <a:lstStyle/>
          <a:p>
            <a:fld id="{09471650-AE8C-4F0A-9990-7EAE6F8DE484}" type="slidenum">
              <a:rPr lang="en-GB" smtClean="0"/>
              <a:pPr/>
              <a:t>1</a:t>
            </a:fld>
            <a:endParaRPr lang="en-GB" dirty="0"/>
          </a:p>
        </p:txBody>
      </p:sp>
      <p:sp>
        <p:nvSpPr>
          <p:cNvPr id="2" name="Rectangle 1">
            <a:extLst>
              <a:ext uri="{FF2B5EF4-FFF2-40B4-BE49-F238E27FC236}">
                <a16:creationId xmlns:a16="http://schemas.microsoft.com/office/drawing/2014/main" id="{EBABF6CB-33B6-42A7-A643-0D9344F1C245}"/>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164819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F32501-250D-49F2-A183-41EB196E3BAE}"/>
              </a:ext>
            </a:extLst>
          </p:cNvPr>
          <p:cNvSpPr>
            <a:spLocks noGrp="1"/>
          </p:cNvSpPr>
          <p:nvPr>
            <p:ph type="title"/>
          </p:nvPr>
        </p:nvSpPr>
        <p:spPr/>
        <p:txBody>
          <a:bodyPr/>
          <a:lstStyle/>
          <a:p>
            <a:endParaRPr lang="en-GB"/>
          </a:p>
        </p:txBody>
      </p:sp>
      <p:sp>
        <p:nvSpPr>
          <p:cNvPr id="5" name="Text Placeholder 4">
            <a:extLst>
              <a:ext uri="{FF2B5EF4-FFF2-40B4-BE49-F238E27FC236}">
                <a16:creationId xmlns:a16="http://schemas.microsoft.com/office/drawing/2014/main" id="{FA72E0D7-A794-47B3-AFE4-FF47272D2E2A}"/>
              </a:ext>
            </a:extLst>
          </p:cNvPr>
          <p:cNvSpPr>
            <a:spLocks noGrp="1"/>
          </p:cNvSpPr>
          <p:nvPr>
            <p:ph type="body" idx="1"/>
          </p:nvPr>
        </p:nvSpPr>
        <p:spPr/>
        <p:txBody>
          <a:bodyPr/>
          <a:lstStyle/>
          <a:p>
            <a:r>
              <a:rPr lang="fr-FR" dirty="0"/>
              <a:t>Impact on mobile </a:t>
            </a:r>
            <a:r>
              <a:rPr lang="fr-FR" dirty="0" err="1"/>
              <a:t>customers</a:t>
            </a:r>
            <a:endParaRPr lang="fr-FR" dirty="0"/>
          </a:p>
          <a:p>
            <a:r>
              <a:rPr lang="fr-FR" dirty="0" err="1"/>
              <a:t>Exposure</a:t>
            </a:r>
            <a:r>
              <a:rPr lang="fr-FR" dirty="0"/>
              <a:t> of </a:t>
            </a:r>
            <a:r>
              <a:rPr lang="fr-FR" dirty="0" err="1"/>
              <a:t>unencrypted</a:t>
            </a:r>
            <a:r>
              <a:rPr lang="fr-FR" dirty="0"/>
              <a:t> </a:t>
            </a:r>
            <a:r>
              <a:rPr lang="fr-FR" dirty="0" err="1"/>
              <a:t>customer</a:t>
            </a:r>
            <a:r>
              <a:rPr lang="fr-FR" dirty="0"/>
              <a:t> PII data </a:t>
            </a:r>
            <a:r>
              <a:rPr lang="fr-FR" dirty="0" err="1"/>
              <a:t>across</a:t>
            </a:r>
            <a:r>
              <a:rPr lang="fr-FR" dirty="0"/>
              <a:t> the </a:t>
            </a:r>
            <a:r>
              <a:rPr lang="fr-FR" dirty="0" err="1"/>
              <a:t>organization</a:t>
            </a:r>
            <a:r>
              <a:rPr lang="fr-FR" dirty="0"/>
              <a:t>.</a:t>
            </a:r>
          </a:p>
          <a:p>
            <a:r>
              <a:rPr lang="fr-FR" dirty="0"/>
              <a:t>Issue 1: Customer </a:t>
            </a:r>
            <a:r>
              <a:rPr lang="fr-FR" dirty="0" err="1"/>
              <a:t>credentials</a:t>
            </a:r>
            <a:endParaRPr lang="fr-FR" dirty="0"/>
          </a:p>
          <a:p>
            <a:r>
              <a:rPr lang="fr-FR" dirty="0"/>
              <a:t>Issue 2: CIAM system </a:t>
            </a:r>
            <a:r>
              <a:rPr lang="fr-FR" dirty="0" err="1"/>
              <a:t>credentials</a:t>
            </a:r>
            <a:endParaRPr lang="fr-FR" dirty="0"/>
          </a:p>
          <a:p>
            <a:r>
              <a:rPr lang="fr-FR" dirty="0" err="1"/>
              <a:t>Thoughts</a:t>
            </a:r>
            <a:r>
              <a:rPr lang="fr-FR" dirty="0"/>
              <a:t> &amp; Next </a:t>
            </a:r>
            <a:r>
              <a:rPr lang="fr-FR" dirty="0" err="1"/>
              <a:t>steps</a:t>
            </a:r>
            <a:endParaRPr lang="en-GB" dirty="0"/>
          </a:p>
        </p:txBody>
      </p:sp>
      <p:sp>
        <p:nvSpPr>
          <p:cNvPr id="6" name="Rectangle 5">
            <a:extLst>
              <a:ext uri="{FF2B5EF4-FFF2-40B4-BE49-F238E27FC236}">
                <a16:creationId xmlns:a16="http://schemas.microsoft.com/office/drawing/2014/main" id="{0BBF4195-4C59-41C0-9CBC-E4EB5696AD41}"/>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3982600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F05115-AC77-479B-8F85-F4FD964EB013}"/>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5CF9333C-70BC-4230-9A90-C4CE9D11B448}"/>
              </a:ext>
            </a:extLst>
          </p:cNvPr>
          <p:cNvSpPr>
            <a:spLocks noGrp="1"/>
          </p:cNvSpPr>
          <p:nvPr>
            <p:ph type="sldNum" sz="quarter" idx="13"/>
          </p:nvPr>
        </p:nvSpPr>
        <p:spPr/>
        <p:txBody>
          <a:bodyPr/>
          <a:lstStyle/>
          <a:p>
            <a:fld id="{09471650-AE8C-4F0A-9990-7EAE6F8DE484}" type="slidenum">
              <a:rPr lang="en-GB" smtClean="0"/>
              <a:pPr/>
              <a:t>3</a:t>
            </a:fld>
            <a:endParaRPr lang="en-GB" dirty="0"/>
          </a:p>
        </p:txBody>
      </p:sp>
      <p:sp>
        <p:nvSpPr>
          <p:cNvPr id="5" name="Text Placeholder 4">
            <a:extLst>
              <a:ext uri="{FF2B5EF4-FFF2-40B4-BE49-F238E27FC236}">
                <a16:creationId xmlns:a16="http://schemas.microsoft.com/office/drawing/2014/main" id="{E40FC5A0-9B2F-4BCE-943F-60EA75F99C3F}"/>
              </a:ext>
            </a:extLst>
          </p:cNvPr>
          <p:cNvSpPr>
            <a:spLocks noGrp="1"/>
          </p:cNvSpPr>
          <p:nvPr>
            <p:ph type="body" sz="quarter" idx="15"/>
          </p:nvPr>
        </p:nvSpPr>
        <p:spPr>
          <a:xfrm>
            <a:off x="371475" y="1333500"/>
            <a:ext cx="2742519" cy="5132388"/>
          </a:xfrm>
        </p:spPr>
        <p:txBody>
          <a:bodyPr/>
          <a:lstStyle/>
          <a:p>
            <a:r>
              <a:rPr lang="fr-FR" sz="1800" dirty="0"/>
              <a:t>For the </a:t>
            </a:r>
            <a:r>
              <a:rPr lang="fr-FR" sz="1800" dirty="0" err="1"/>
              <a:t>past</a:t>
            </a:r>
            <a:r>
              <a:rPr lang="fr-FR" sz="1800" dirty="0"/>
              <a:t> 2 </a:t>
            </a:r>
            <a:r>
              <a:rPr lang="fr-FR" sz="1800" dirty="0" err="1"/>
              <a:t>months</a:t>
            </a:r>
            <a:r>
              <a:rPr lang="fr-FR" sz="1800" dirty="0"/>
              <a:t> </a:t>
            </a:r>
            <a:r>
              <a:rPr lang="fr-FR" sz="1800" dirty="0" err="1"/>
              <a:t>we</a:t>
            </a:r>
            <a:r>
              <a:rPr lang="fr-FR" sz="1800" dirty="0"/>
              <a:t> </a:t>
            </a:r>
            <a:r>
              <a:rPr lang="fr-FR" sz="1800" dirty="0" err="1"/>
              <a:t>had</a:t>
            </a:r>
            <a:r>
              <a:rPr lang="fr-FR" sz="1800" dirty="0"/>
              <a:t> </a:t>
            </a:r>
            <a:r>
              <a:rPr lang="fr-FR" sz="1800" dirty="0" err="1"/>
              <a:t>around</a:t>
            </a:r>
            <a:r>
              <a:rPr lang="fr-FR" sz="1800" dirty="0"/>
              <a:t> </a:t>
            </a:r>
            <a:r>
              <a:rPr lang="fr-FR" sz="1800" b="1" u="sng" dirty="0"/>
              <a:t>6 million calls</a:t>
            </a:r>
          </a:p>
          <a:p>
            <a:pPr marL="0" indent="0">
              <a:buNone/>
            </a:pPr>
            <a:r>
              <a:rPr lang="fr-FR" sz="1800" b="1" u="sng" dirty="0"/>
              <a:t> </a:t>
            </a:r>
            <a:r>
              <a:rPr lang="fr-FR" sz="1800" dirty="0">
                <a:sym typeface="Wingdings" panose="05000000000000000000" pitchFamily="2" charset="2"/>
              </a:rPr>
              <a:t> All </a:t>
            </a:r>
            <a:r>
              <a:rPr lang="fr-FR" sz="1800" dirty="0" err="1">
                <a:sym typeface="Wingdings" panose="05000000000000000000" pitchFamily="2" charset="2"/>
              </a:rPr>
              <a:t>passwords</a:t>
            </a:r>
            <a:r>
              <a:rPr lang="fr-FR" sz="1800" dirty="0">
                <a:sym typeface="Wingdings" panose="05000000000000000000" pitchFamily="2" charset="2"/>
              </a:rPr>
              <a:t> are </a:t>
            </a:r>
            <a:r>
              <a:rPr lang="fr-FR" sz="1800" dirty="0" err="1">
                <a:sym typeface="Wingdings" panose="05000000000000000000" pitchFamily="2" charset="2"/>
              </a:rPr>
              <a:t>still</a:t>
            </a:r>
            <a:r>
              <a:rPr lang="fr-FR" sz="1800" dirty="0">
                <a:sym typeface="Wingdings" panose="05000000000000000000" pitchFamily="2" charset="2"/>
              </a:rPr>
              <a:t> </a:t>
            </a:r>
            <a:r>
              <a:rPr lang="fr-FR" sz="1800" dirty="0" err="1">
                <a:sym typeface="Wingdings" panose="05000000000000000000" pitchFamily="2" charset="2"/>
              </a:rPr>
              <a:t>logged</a:t>
            </a:r>
            <a:r>
              <a:rPr lang="fr-FR" sz="1800" dirty="0">
                <a:sym typeface="Wingdings" panose="05000000000000000000" pitchFamily="2" charset="2"/>
              </a:rPr>
              <a:t> and </a:t>
            </a:r>
            <a:r>
              <a:rPr lang="fr-FR" sz="1800" dirty="0" err="1">
                <a:sym typeface="Wingdings" panose="05000000000000000000" pitchFamily="2" charset="2"/>
              </a:rPr>
              <a:t>available</a:t>
            </a:r>
            <a:r>
              <a:rPr lang="fr-FR" sz="1800" dirty="0">
                <a:sym typeface="Wingdings" panose="05000000000000000000" pitchFamily="2" charset="2"/>
              </a:rPr>
              <a:t> to </a:t>
            </a:r>
            <a:r>
              <a:rPr lang="fr-FR" sz="1800" dirty="0" err="1">
                <a:sym typeface="Wingdings" panose="05000000000000000000" pitchFamily="2" charset="2"/>
              </a:rPr>
              <a:t>our</a:t>
            </a:r>
            <a:r>
              <a:rPr lang="fr-FR" sz="1800" dirty="0">
                <a:sym typeface="Wingdings" panose="05000000000000000000" pitchFamily="2" charset="2"/>
              </a:rPr>
              <a:t> ELX-EMEA-Marketing </a:t>
            </a:r>
            <a:r>
              <a:rPr lang="fr-FR" sz="1800" dirty="0" err="1">
                <a:sym typeface="Wingdings" panose="05000000000000000000" pitchFamily="2" charset="2"/>
              </a:rPr>
              <a:t>users</a:t>
            </a:r>
            <a:r>
              <a:rPr lang="fr-FR" sz="1800" dirty="0">
                <a:sym typeface="Wingdings" panose="05000000000000000000" pitchFamily="2" charset="2"/>
              </a:rPr>
              <a:t>/groups/</a:t>
            </a:r>
            <a:r>
              <a:rPr lang="fr-FR" sz="1800" dirty="0" err="1">
                <a:sym typeface="Wingdings" panose="05000000000000000000" pitchFamily="2" charset="2"/>
              </a:rPr>
              <a:t>systems</a:t>
            </a:r>
            <a:endParaRPr lang="fr-FR" sz="1800" dirty="0">
              <a:sym typeface="Wingdings" panose="05000000000000000000" pitchFamily="2" charset="2"/>
            </a:endParaRPr>
          </a:p>
          <a:p>
            <a:endParaRPr lang="fr-FR" sz="1800" dirty="0">
              <a:sym typeface="Wingdings" panose="05000000000000000000" pitchFamily="2" charset="2"/>
            </a:endParaRPr>
          </a:p>
          <a:p>
            <a:r>
              <a:rPr lang="fr-FR" sz="1800" dirty="0">
                <a:solidFill>
                  <a:srgbClr val="FF0000"/>
                </a:solidFill>
                <a:sym typeface="Wingdings" panose="05000000000000000000" pitchFamily="2" charset="2"/>
              </a:rPr>
              <a:t>Need to </a:t>
            </a:r>
            <a:r>
              <a:rPr lang="fr-FR" sz="1800" dirty="0" err="1">
                <a:solidFill>
                  <a:srgbClr val="FF0000"/>
                </a:solidFill>
                <a:sym typeface="Wingdings" panose="05000000000000000000" pitchFamily="2" charset="2"/>
              </a:rPr>
              <a:t>identify</a:t>
            </a:r>
            <a:r>
              <a:rPr lang="fr-FR" sz="1800" dirty="0">
                <a:solidFill>
                  <a:srgbClr val="FF0000"/>
                </a:solidFill>
                <a:sym typeface="Wingdings" panose="05000000000000000000" pitchFamily="2" charset="2"/>
              </a:rPr>
              <a:t> the </a:t>
            </a:r>
            <a:r>
              <a:rPr lang="fr-FR" sz="1800" dirty="0" err="1">
                <a:solidFill>
                  <a:srgbClr val="FF0000"/>
                </a:solidFill>
                <a:sym typeface="Wingdings" panose="05000000000000000000" pitchFamily="2" charset="2"/>
              </a:rPr>
              <a:t>number</a:t>
            </a:r>
            <a:r>
              <a:rPr lang="fr-FR" sz="1800" dirty="0">
                <a:solidFill>
                  <a:srgbClr val="FF0000"/>
                </a:solidFill>
                <a:sym typeface="Wingdings" panose="05000000000000000000" pitchFamily="2" charset="2"/>
              </a:rPr>
              <a:t> of unique </a:t>
            </a:r>
            <a:r>
              <a:rPr lang="fr-FR" sz="1800" dirty="0" err="1">
                <a:solidFill>
                  <a:srgbClr val="FF0000"/>
                </a:solidFill>
                <a:sym typeface="Wingdings" panose="05000000000000000000" pitchFamily="2" charset="2"/>
              </a:rPr>
              <a:t>customers</a:t>
            </a:r>
            <a:r>
              <a:rPr lang="fr-FR" sz="1800" dirty="0">
                <a:solidFill>
                  <a:srgbClr val="FF0000"/>
                </a:solidFill>
                <a:sym typeface="Wingdings" panose="05000000000000000000" pitchFamily="2" charset="2"/>
              </a:rPr>
              <a:t> </a:t>
            </a:r>
            <a:r>
              <a:rPr lang="fr-FR" sz="1800" dirty="0" err="1">
                <a:solidFill>
                  <a:srgbClr val="FF0000"/>
                </a:solidFill>
                <a:sym typeface="Wingdings" panose="05000000000000000000" pitchFamily="2" charset="2"/>
              </a:rPr>
              <a:t>impacted</a:t>
            </a:r>
            <a:r>
              <a:rPr lang="fr-FR" sz="1800" dirty="0">
                <a:solidFill>
                  <a:srgbClr val="FF0000"/>
                </a:solidFill>
                <a:sym typeface="Wingdings" panose="05000000000000000000" pitchFamily="2" charset="2"/>
              </a:rPr>
              <a:t>.?</a:t>
            </a:r>
          </a:p>
          <a:p>
            <a:endParaRPr lang="fr-FR" sz="1800" dirty="0">
              <a:sym typeface="Wingdings" panose="05000000000000000000" pitchFamily="2" charset="2"/>
            </a:endParaRPr>
          </a:p>
          <a:p>
            <a:r>
              <a:rPr lang="sv-SE" sz="1400" dirty="0" err="1"/>
              <a:t>This</a:t>
            </a:r>
            <a:r>
              <a:rPr lang="sv-SE" sz="1400" dirty="0"/>
              <a:t> </a:t>
            </a:r>
            <a:r>
              <a:rPr lang="sv-SE" sz="1400" dirty="0" err="1"/>
              <a:t>might</a:t>
            </a:r>
            <a:r>
              <a:rPr lang="sv-SE" sz="1400" dirty="0"/>
              <a:t> </a:t>
            </a:r>
            <a:r>
              <a:rPr lang="sv-SE" sz="1400" dirty="0" err="1"/>
              <a:t>also</a:t>
            </a:r>
            <a:r>
              <a:rPr lang="sv-SE" sz="1400" dirty="0"/>
              <a:t> be the </a:t>
            </a:r>
            <a:r>
              <a:rPr lang="sv-SE" sz="1400" dirty="0" err="1"/>
              <a:t>case</a:t>
            </a:r>
            <a:r>
              <a:rPr lang="sv-SE" sz="1400" dirty="0"/>
              <a:t> for </a:t>
            </a:r>
            <a:r>
              <a:rPr lang="sv-SE" sz="1400" dirty="0" err="1"/>
              <a:t>other</a:t>
            </a:r>
            <a:r>
              <a:rPr lang="sv-SE" sz="1400" dirty="0"/>
              <a:t> </a:t>
            </a:r>
            <a:r>
              <a:rPr lang="sv-SE" sz="1400" dirty="0" err="1"/>
              <a:t>channels</a:t>
            </a:r>
            <a:r>
              <a:rPr lang="sv-SE" sz="1400" dirty="0"/>
              <a:t> </a:t>
            </a:r>
            <a:r>
              <a:rPr lang="sv-SE" sz="1400" dirty="0" err="1"/>
              <a:t>using</a:t>
            </a:r>
            <a:r>
              <a:rPr lang="sv-SE" sz="1400" dirty="0"/>
              <a:t> CDC not </a:t>
            </a:r>
            <a:r>
              <a:rPr lang="sv-SE" sz="1400" dirty="0" err="1"/>
              <a:t>through</a:t>
            </a:r>
            <a:r>
              <a:rPr lang="sv-SE" sz="1400" dirty="0"/>
              <a:t> </a:t>
            </a:r>
            <a:r>
              <a:rPr lang="sv-SE" sz="1400" dirty="0" err="1"/>
              <a:t>our</a:t>
            </a:r>
            <a:r>
              <a:rPr lang="sv-SE" sz="1400" dirty="0"/>
              <a:t> </a:t>
            </a:r>
            <a:r>
              <a:rPr lang="sv-SE" sz="1400" dirty="0" err="1"/>
              <a:t>European</a:t>
            </a:r>
            <a:r>
              <a:rPr lang="sv-SE" sz="1400" dirty="0"/>
              <a:t> setup.</a:t>
            </a:r>
          </a:p>
        </p:txBody>
      </p:sp>
      <p:sp>
        <p:nvSpPr>
          <p:cNvPr id="6" name="Title 5">
            <a:extLst>
              <a:ext uri="{FF2B5EF4-FFF2-40B4-BE49-F238E27FC236}">
                <a16:creationId xmlns:a16="http://schemas.microsoft.com/office/drawing/2014/main" id="{937E2639-BCB5-4FC8-8C10-D149FA339956}"/>
              </a:ext>
            </a:extLst>
          </p:cNvPr>
          <p:cNvSpPr>
            <a:spLocks noGrp="1"/>
          </p:cNvSpPr>
          <p:nvPr>
            <p:ph type="title"/>
          </p:nvPr>
        </p:nvSpPr>
        <p:spPr/>
        <p:txBody>
          <a:bodyPr/>
          <a:lstStyle/>
          <a:p>
            <a:r>
              <a:rPr lang="fr-FR" dirty="0"/>
              <a:t>Impact on </a:t>
            </a:r>
            <a:r>
              <a:rPr lang="fr-FR" dirty="0" err="1"/>
              <a:t>customers</a:t>
            </a:r>
            <a:r>
              <a:rPr lang="fr-FR" dirty="0"/>
              <a:t> </a:t>
            </a:r>
            <a:r>
              <a:rPr lang="fr-FR" sz="2000" dirty="0"/>
              <a:t>(</a:t>
            </a:r>
            <a:r>
              <a:rPr lang="fr-FR" sz="2000" dirty="0" err="1"/>
              <a:t>MobileApps</a:t>
            </a:r>
            <a:r>
              <a:rPr lang="fr-FR" sz="2000" dirty="0"/>
              <a:t>)</a:t>
            </a:r>
            <a:endParaRPr lang="sv-SE" dirty="0"/>
          </a:p>
        </p:txBody>
      </p:sp>
      <p:pic>
        <p:nvPicPr>
          <p:cNvPr id="7" name="Picture 6">
            <a:extLst>
              <a:ext uri="{FF2B5EF4-FFF2-40B4-BE49-F238E27FC236}">
                <a16:creationId xmlns:a16="http://schemas.microsoft.com/office/drawing/2014/main" id="{4439B2BC-E232-4069-9332-4C79EA589BCD}"/>
              </a:ext>
            </a:extLst>
          </p:cNvPr>
          <p:cNvPicPr>
            <a:picLocks noChangeAspect="1"/>
          </p:cNvPicPr>
          <p:nvPr/>
        </p:nvPicPr>
        <p:blipFill>
          <a:blip r:embed="rId2"/>
          <a:stretch>
            <a:fillRect/>
          </a:stretch>
        </p:blipFill>
        <p:spPr>
          <a:xfrm>
            <a:off x="4048961" y="1075109"/>
            <a:ext cx="7104872" cy="4480617"/>
          </a:xfrm>
          <a:prstGeom prst="rect">
            <a:avLst/>
          </a:prstGeom>
        </p:spPr>
      </p:pic>
      <p:pic>
        <p:nvPicPr>
          <p:cNvPr id="8" name="Picture 7">
            <a:extLst>
              <a:ext uri="{FF2B5EF4-FFF2-40B4-BE49-F238E27FC236}">
                <a16:creationId xmlns:a16="http://schemas.microsoft.com/office/drawing/2014/main" id="{F9BD7BA4-4D58-4BA2-95BB-53AADB7F47E4}"/>
              </a:ext>
            </a:extLst>
          </p:cNvPr>
          <p:cNvPicPr>
            <a:picLocks noChangeAspect="1"/>
          </p:cNvPicPr>
          <p:nvPr/>
        </p:nvPicPr>
        <p:blipFill>
          <a:blip r:embed="rId3"/>
          <a:stretch>
            <a:fillRect/>
          </a:stretch>
        </p:blipFill>
        <p:spPr>
          <a:xfrm>
            <a:off x="2380084" y="5561977"/>
            <a:ext cx="8773749" cy="1181265"/>
          </a:xfrm>
          <a:prstGeom prst="rect">
            <a:avLst/>
          </a:prstGeom>
        </p:spPr>
      </p:pic>
      <p:sp>
        <p:nvSpPr>
          <p:cNvPr id="9" name="Rectangle 8">
            <a:extLst>
              <a:ext uri="{FF2B5EF4-FFF2-40B4-BE49-F238E27FC236}">
                <a16:creationId xmlns:a16="http://schemas.microsoft.com/office/drawing/2014/main" id="{27803233-4D0C-4622-895D-C893412531CE}"/>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59979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4ED00C-040F-4D7A-AA7C-D480AB79F84F}"/>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51DE1972-2172-48DC-8781-DC57EB89E133}"/>
              </a:ext>
            </a:extLst>
          </p:cNvPr>
          <p:cNvSpPr>
            <a:spLocks noGrp="1"/>
          </p:cNvSpPr>
          <p:nvPr>
            <p:ph type="sldNum" sz="quarter" idx="13"/>
          </p:nvPr>
        </p:nvSpPr>
        <p:spPr/>
        <p:txBody>
          <a:bodyPr/>
          <a:lstStyle/>
          <a:p>
            <a:fld id="{09471650-AE8C-4F0A-9990-7EAE6F8DE484}" type="slidenum">
              <a:rPr lang="en-GB" smtClean="0"/>
              <a:pPr/>
              <a:t>4</a:t>
            </a:fld>
            <a:endParaRPr lang="en-GB" dirty="0"/>
          </a:p>
        </p:txBody>
      </p:sp>
      <p:sp>
        <p:nvSpPr>
          <p:cNvPr id="4" name="Footer Placeholder 3">
            <a:extLst>
              <a:ext uri="{FF2B5EF4-FFF2-40B4-BE49-F238E27FC236}">
                <a16:creationId xmlns:a16="http://schemas.microsoft.com/office/drawing/2014/main" id="{4E264C8C-D78E-43F0-94DA-047E096E3D94}"/>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8B08B590-D773-4162-9EEB-47938B6EB713}"/>
              </a:ext>
            </a:extLst>
          </p:cNvPr>
          <p:cNvSpPr>
            <a:spLocks noGrp="1"/>
          </p:cNvSpPr>
          <p:nvPr>
            <p:ph type="body" sz="quarter" idx="15"/>
          </p:nvPr>
        </p:nvSpPr>
        <p:spPr/>
        <p:txBody>
          <a:bodyPr/>
          <a:lstStyle/>
          <a:p>
            <a:pPr marL="457200" indent="-457200">
              <a:buFont typeface="+mj-lt"/>
              <a:buAutoNum type="arabicPeriod"/>
            </a:pPr>
            <a:r>
              <a:rPr lang="fr-FR" sz="1800" dirty="0" err="1"/>
              <a:t>We</a:t>
            </a:r>
            <a:r>
              <a:rPr lang="fr-FR" sz="1800" dirty="0"/>
              <a:t> know the </a:t>
            </a:r>
            <a:r>
              <a:rPr lang="fr-FR" sz="1800" dirty="0" err="1"/>
              <a:t>extend</a:t>
            </a:r>
            <a:r>
              <a:rPr lang="fr-FR" sz="1800" dirty="0"/>
              <a:t> of the </a:t>
            </a:r>
            <a:r>
              <a:rPr lang="fr-FR" sz="1800" dirty="0" err="1"/>
              <a:t>breach</a:t>
            </a:r>
            <a:r>
              <a:rPr lang="fr-FR" sz="1800" dirty="0"/>
              <a:t>, - All CDC consumer channels are </a:t>
            </a:r>
            <a:r>
              <a:rPr lang="fr-FR" sz="1800" dirty="0" err="1"/>
              <a:t>impacted</a:t>
            </a:r>
            <a:r>
              <a:rPr lang="fr-FR" sz="1800" dirty="0"/>
              <a:t>, Most if not all Azure ELX-EMEA-Marketing </a:t>
            </a:r>
            <a:r>
              <a:rPr lang="fr-FR" sz="1800" dirty="0" err="1"/>
              <a:t>users</a:t>
            </a:r>
            <a:r>
              <a:rPr lang="fr-FR" sz="1800" dirty="0"/>
              <a:t>/</a:t>
            </a:r>
            <a:r>
              <a:rPr lang="fr-FR" sz="1800" dirty="0" err="1"/>
              <a:t>unsecure</a:t>
            </a:r>
            <a:r>
              <a:rPr lang="fr-FR" sz="1800" dirty="0"/>
              <a:t> service </a:t>
            </a:r>
            <a:r>
              <a:rPr lang="fr-FR" sz="1800" dirty="0" err="1"/>
              <a:t>principals</a:t>
            </a:r>
            <a:r>
              <a:rPr lang="fr-FR" sz="1800" dirty="0"/>
              <a:t>.</a:t>
            </a:r>
          </a:p>
          <a:p>
            <a:pPr marL="457200" indent="-457200">
              <a:buFont typeface="+mj-lt"/>
              <a:buAutoNum type="arabicPeriod"/>
            </a:pPr>
            <a:r>
              <a:rPr lang="fr-FR" sz="1800" dirty="0" err="1"/>
              <a:t>We</a:t>
            </a:r>
            <a:r>
              <a:rPr lang="fr-FR" sz="1800" dirty="0"/>
              <a:t> </a:t>
            </a:r>
            <a:r>
              <a:rPr lang="fr-FR" sz="1800" dirty="0" err="1"/>
              <a:t>way</a:t>
            </a:r>
            <a:r>
              <a:rPr lang="fr-FR" sz="1800" dirty="0"/>
              <a:t> to </a:t>
            </a:r>
            <a:r>
              <a:rPr lang="fr-FR" sz="1800" dirty="0" err="1"/>
              <a:t>contain</a:t>
            </a:r>
            <a:r>
              <a:rPr lang="fr-FR" sz="1800" dirty="0"/>
              <a:t> </a:t>
            </a:r>
            <a:r>
              <a:rPr lang="fr-FR" sz="1800" dirty="0" err="1"/>
              <a:t>this</a:t>
            </a:r>
            <a:r>
              <a:rPr lang="fr-FR" sz="1800" dirty="0"/>
              <a:t> </a:t>
            </a:r>
            <a:r>
              <a:rPr lang="fr-FR" sz="1800" dirty="0" err="1"/>
              <a:t>within</a:t>
            </a:r>
            <a:r>
              <a:rPr lang="fr-FR" sz="1800" dirty="0"/>
              <a:t> the </a:t>
            </a:r>
            <a:r>
              <a:rPr lang="fr-FR" sz="1800" dirty="0" err="1"/>
              <a:t>concent</a:t>
            </a:r>
            <a:r>
              <a:rPr lang="fr-FR" sz="1800" dirty="0"/>
              <a:t> </a:t>
            </a:r>
            <a:r>
              <a:rPr lang="fr-FR" sz="1800" dirty="0" err="1"/>
              <a:t>landscape</a:t>
            </a:r>
            <a:r>
              <a:rPr lang="fr-FR" sz="1800" dirty="0"/>
              <a:t>.</a:t>
            </a:r>
          </a:p>
          <a:p>
            <a:pPr marL="457200" indent="-457200">
              <a:buFont typeface="+mj-lt"/>
              <a:buAutoNum type="arabicPeriod"/>
            </a:pPr>
            <a:r>
              <a:rPr lang="fr-FR" sz="1800" dirty="0"/>
              <a:t>No </a:t>
            </a:r>
            <a:r>
              <a:rPr lang="fr-FR" sz="1800" dirty="0" err="1"/>
              <a:t>way</a:t>
            </a:r>
            <a:r>
              <a:rPr lang="fr-FR" sz="1800" dirty="0"/>
              <a:t> to </a:t>
            </a:r>
            <a:r>
              <a:rPr lang="fr-FR" sz="1800" dirty="0" err="1"/>
              <a:t>confirm</a:t>
            </a:r>
            <a:r>
              <a:rPr lang="fr-FR" sz="1800" dirty="0"/>
              <a:t> </a:t>
            </a:r>
            <a:r>
              <a:rPr lang="fr-FR" sz="1800" dirty="0" err="1"/>
              <a:t>that</a:t>
            </a:r>
            <a:r>
              <a:rPr lang="fr-FR" sz="1800" dirty="0"/>
              <a:t> all mobile </a:t>
            </a:r>
            <a:r>
              <a:rPr lang="fr-FR" sz="1800" dirty="0" err="1"/>
              <a:t>users</a:t>
            </a:r>
            <a:r>
              <a:rPr lang="fr-FR" sz="1800" dirty="0"/>
              <a:t> (</a:t>
            </a:r>
            <a:r>
              <a:rPr lang="fr-FR" sz="1800" dirty="0" err="1"/>
              <a:t>xxxK</a:t>
            </a:r>
            <a:r>
              <a:rPr lang="fr-FR" sz="1800" dirty="0"/>
              <a:t>) </a:t>
            </a:r>
            <a:r>
              <a:rPr lang="fr-FR" sz="1800" dirty="0" err="1"/>
              <a:t>passwords</a:t>
            </a:r>
            <a:r>
              <a:rPr lang="fr-FR" sz="1800" dirty="0"/>
              <a:t> </a:t>
            </a:r>
            <a:r>
              <a:rPr lang="fr-FR" sz="1800" dirty="0" err="1"/>
              <a:t>were</a:t>
            </a:r>
            <a:r>
              <a:rPr lang="fr-FR" sz="1800" dirty="0"/>
              <a:t> not </a:t>
            </a:r>
            <a:r>
              <a:rPr lang="fr-FR" sz="1800" dirty="0" err="1"/>
              <a:t>exported</a:t>
            </a:r>
            <a:r>
              <a:rPr lang="fr-FR" sz="1800" dirty="0"/>
              <a:t> and </a:t>
            </a:r>
            <a:r>
              <a:rPr lang="fr-FR" sz="1800" dirty="0" err="1"/>
              <a:t>used</a:t>
            </a:r>
            <a:r>
              <a:rPr lang="fr-FR" sz="1800" dirty="0"/>
              <a:t> </a:t>
            </a:r>
            <a:r>
              <a:rPr lang="fr-FR" sz="1800" dirty="0" err="1"/>
              <a:t>maliciously</a:t>
            </a:r>
            <a:r>
              <a:rPr lang="fr-FR" sz="1800" dirty="0"/>
              <a:t> by </a:t>
            </a:r>
            <a:r>
              <a:rPr lang="fr-FR" sz="1800" dirty="0" err="1"/>
              <a:t>third</a:t>
            </a:r>
            <a:r>
              <a:rPr lang="fr-FR" sz="1800" dirty="0"/>
              <a:t> parties.</a:t>
            </a:r>
          </a:p>
          <a:p>
            <a:pPr marL="457200" indent="-457200">
              <a:buFont typeface="+mj-lt"/>
              <a:buAutoNum type="arabicPeriod"/>
            </a:pPr>
            <a:r>
              <a:rPr lang="fr-FR" sz="1800" dirty="0"/>
              <a:t>No </a:t>
            </a:r>
            <a:r>
              <a:rPr lang="fr-FR" sz="1800" dirty="0" err="1"/>
              <a:t>way</a:t>
            </a:r>
            <a:r>
              <a:rPr lang="fr-FR" sz="1800" dirty="0"/>
              <a:t> to know the </a:t>
            </a:r>
            <a:r>
              <a:rPr lang="fr-FR" sz="1800" dirty="0" err="1"/>
              <a:t>True</a:t>
            </a:r>
            <a:r>
              <a:rPr lang="fr-FR" sz="1800" dirty="0"/>
              <a:t> </a:t>
            </a:r>
            <a:r>
              <a:rPr lang="fr-FR" sz="1800" dirty="0" err="1"/>
              <a:t>clientIP</a:t>
            </a:r>
            <a:r>
              <a:rPr lang="fr-FR" sz="1800" dirty="0"/>
              <a:t> for </a:t>
            </a:r>
            <a:r>
              <a:rPr lang="fr-FR" sz="1800" dirty="0" err="1"/>
              <a:t>any</a:t>
            </a:r>
            <a:r>
              <a:rPr lang="fr-FR" sz="1800" dirty="0"/>
              <a:t> mobile user to </a:t>
            </a:r>
            <a:r>
              <a:rPr lang="fr-FR" sz="1800" dirty="0" err="1"/>
              <a:t>confirm</a:t>
            </a:r>
            <a:r>
              <a:rPr lang="fr-FR" sz="1800" dirty="0"/>
              <a:t> </a:t>
            </a:r>
            <a:r>
              <a:rPr lang="fr-FR" sz="1800" dirty="0" err="1"/>
              <a:t>authenticity</a:t>
            </a:r>
            <a:r>
              <a:rPr lang="fr-FR" sz="1800" dirty="0"/>
              <a:t> of the </a:t>
            </a:r>
            <a:r>
              <a:rPr lang="fr-FR" sz="1800" dirty="0" err="1"/>
              <a:t>human</a:t>
            </a:r>
            <a:r>
              <a:rPr lang="fr-FR" sz="1800" dirty="0"/>
              <a:t> </a:t>
            </a:r>
            <a:r>
              <a:rPr lang="fr-FR" sz="1800" dirty="0" err="1"/>
              <a:t>traffic</a:t>
            </a:r>
            <a:r>
              <a:rPr lang="fr-FR" sz="1800" dirty="0"/>
              <a:t>.</a:t>
            </a:r>
          </a:p>
          <a:p>
            <a:pPr marL="457200" indent="-457200">
              <a:buFont typeface="+mj-lt"/>
              <a:buAutoNum type="arabicPeriod"/>
            </a:pPr>
            <a:r>
              <a:rPr lang="fr-FR" sz="1800" dirty="0"/>
              <a:t>No </a:t>
            </a:r>
            <a:r>
              <a:rPr lang="fr-FR" sz="1800" dirty="0" err="1"/>
              <a:t>way</a:t>
            </a:r>
            <a:r>
              <a:rPr lang="fr-FR" sz="1800" dirty="0"/>
              <a:t> to </a:t>
            </a:r>
            <a:r>
              <a:rPr lang="fr-FR" sz="1800" dirty="0" err="1"/>
              <a:t>confirm</a:t>
            </a:r>
            <a:r>
              <a:rPr lang="fr-FR" sz="1800" dirty="0"/>
              <a:t> </a:t>
            </a:r>
            <a:r>
              <a:rPr lang="fr-FR" sz="1800" dirty="0" err="1"/>
              <a:t>that</a:t>
            </a:r>
            <a:r>
              <a:rPr lang="fr-FR" sz="1800" dirty="0"/>
              <a:t> the consumer PII data like </a:t>
            </a:r>
            <a:r>
              <a:rPr lang="fr-FR" sz="1800" dirty="0" err="1"/>
              <a:t>customer</a:t>
            </a:r>
            <a:r>
              <a:rPr lang="fr-FR" sz="1800" dirty="0"/>
              <a:t> </a:t>
            </a:r>
            <a:r>
              <a:rPr lang="fr-FR" sz="1800" dirty="0" err="1"/>
              <a:t>address</a:t>
            </a:r>
            <a:r>
              <a:rPr lang="fr-FR" sz="1800" dirty="0"/>
              <a:t>, email, </a:t>
            </a:r>
            <a:r>
              <a:rPr lang="fr-FR" sz="1800" dirty="0" err="1"/>
              <a:t>telephone</a:t>
            </a:r>
            <a:r>
              <a:rPr lang="fr-FR" sz="1800" dirty="0"/>
              <a:t> </a:t>
            </a:r>
            <a:r>
              <a:rPr lang="fr-FR" sz="1800" dirty="0" err="1"/>
              <a:t>were</a:t>
            </a:r>
            <a:r>
              <a:rPr lang="fr-FR" sz="1800" dirty="0"/>
              <a:t> not </a:t>
            </a:r>
            <a:r>
              <a:rPr lang="fr-FR" sz="1800" dirty="0" err="1"/>
              <a:t>maliciously</a:t>
            </a:r>
            <a:r>
              <a:rPr lang="fr-FR" sz="1800" dirty="0"/>
              <a:t> </a:t>
            </a:r>
            <a:r>
              <a:rPr lang="fr-FR" sz="1800" dirty="0" err="1"/>
              <a:t>exploited</a:t>
            </a:r>
            <a:r>
              <a:rPr lang="fr-FR" sz="1800" dirty="0"/>
              <a:t> by </a:t>
            </a:r>
            <a:r>
              <a:rPr lang="fr-FR" sz="1800" dirty="0" err="1"/>
              <a:t>unauthorized</a:t>
            </a:r>
            <a:r>
              <a:rPr lang="fr-FR" sz="1800" dirty="0"/>
              <a:t> </a:t>
            </a:r>
            <a:r>
              <a:rPr lang="fr-FR" sz="1800" dirty="0" err="1"/>
              <a:t>users</a:t>
            </a:r>
            <a:r>
              <a:rPr lang="fr-FR" sz="1800" dirty="0"/>
              <a:t>.</a:t>
            </a:r>
          </a:p>
          <a:p>
            <a:pPr marL="457200" indent="-457200">
              <a:buFont typeface="+mj-lt"/>
              <a:buAutoNum type="arabicPeriod"/>
            </a:pPr>
            <a:r>
              <a:rPr lang="fr-FR" sz="1800" dirty="0"/>
              <a:t>No </a:t>
            </a:r>
            <a:r>
              <a:rPr lang="fr-FR" sz="1800" dirty="0" err="1"/>
              <a:t>way</a:t>
            </a:r>
            <a:r>
              <a:rPr lang="fr-FR" sz="1800" dirty="0"/>
              <a:t> to trace client apps able to </a:t>
            </a:r>
            <a:r>
              <a:rPr lang="fr-FR" sz="1800" dirty="0" err="1"/>
              <a:t>connect</a:t>
            </a:r>
            <a:r>
              <a:rPr lang="fr-FR" sz="1800" dirty="0"/>
              <a:t> and </a:t>
            </a:r>
            <a:r>
              <a:rPr lang="fr-FR" sz="1800" dirty="0" err="1"/>
              <a:t>get</a:t>
            </a:r>
            <a:r>
              <a:rPr lang="fr-FR" sz="1800" dirty="0"/>
              <a:t> consumer data </a:t>
            </a:r>
            <a:r>
              <a:rPr lang="fr-FR" sz="1800" dirty="0" err="1"/>
              <a:t>from</a:t>
            </a:r>
            <a:r>
              <a:rPr lang="fr-FR" sz="1800" dirty="0"/>
              <a:t> </a:t>
            </a:r>
            <a:r>
              <a:rPr lang="fr-FR" sz="1800" dirty="0" err="1"/>
              <a:t>cdc</a:t>
            </a:r>
            <a:r>
              <a:rPr lang="fr-FR" sz="1800" dirty="0"/>
              <a:t>.</a:t>
            </a:r>
          </a:p>
          <a:p>
            <a:pPr marL="457200" indent="-457200">
              <a:buFont typeface="+mj-lt"/>
              <a:buAutoNum type="arabicPeriod"/>
            </a:pPr>
            <a:r>
              <a:rPr lang="fr-FR" sz="1800" dirty="0"/>
              <a:t>No IP </a:t>
            </a:r>
            <a:r>
              <a:rPr lang="fr-FR" sz="1800" dirty="0" err="1"/>
              <a:t>whitelisting</a:t>
            </a:r>
            <a:r>
              <a:rPr lang="fr-FR" sz="1800" dirty="0"/>
              <a:t> or network restrictions in the inter-service communication.</a:t>
            </a:r>
          </a:p>
          <a:p>
            <a:pPr marL="457200" indent="-457200">
              <a:buFont typeface="+mj-lt"/>
              <a:buAutoNum type="arabicPeriod"/>
            </a:pPr>
            <a:r>
              <a:rPr lang="fr-FR" sz="1800" dirty="0" err="1"/>
              <a:t>Many</a:t>
            </a:r>
            <a:r>
              <a:rPr lang="fr-FR" sz="1800" dirty="0"/>
              <a:t> </a:t>
            </a:r>
            <a:r>
              <a:rPr lang="fr-FR" sz="1800" dirty="0" err="1"/>
              <a:t>other</a:t>
            </a:r>
            <a:r>
              <a:rPr lang="fr-FR" sz="1800" dirty="0"/>
              <a:t> services are </a:t>
            </a:r>
            <a:r>
              <a:rPr lang="fr-FR" sz="1800" dirty="0" err="1"/>
              <a:t>compromised</a:t>
            </a:r>
            <a:r>
              <a:rPr lang="fr-FR" sz="1800" dirty="0"/>
              <a:t> as </a:t>
            </a:r>
            <a:r>
              <a:rPr lang="fr-FR" sz="1800" dirty="0" err="1"/>
              <a:t>well</a:t>
            </a:r>
            <a:r>
              <a:rPr lang="fr-FR" sz="1800" dirty="0"/>
              <a:t>: </a:t>
            </a:r>
            <a:r>
              <a:rPr lang="fr-FR" sz="1800" dirty="0" err="1"/>
              <a:t>crm</a:t>
            </a:r>
            <a:r>
              <a:rPr lang="fr-FR" sz="1800" dirty="0"/>
              <a:t> </a:t>
            </a:r>
            <a:r>
              <a:rPr lang="fr-FR" sz="1800" dirty="0" err="1"/>
              <a:t>customer</a:t>
            </a:r>
            <a:r>
              <a:rPr lang="fr-FR" sz="1800" dirty="0"/>
              <a:t> data, smart </a:t>
            </a:r>
            <a:r>
              <a:rPr lang="fr-FR" sz="1800" dirty="0" err="1"/>
              <a:t>sensors</a:t>
            </a:r>
            <a:r>
              <a:rPr lang="fr-FR" sz="1800" dirty="0"/>
              <a:t>, home </a:t>
            </a:r>
            <a:r>
              <a:rPr lang="fr-FR" sz="1800" dirty="0" err="1"/>
              <a:t>map</a:t>
            </a:r>
            <a:r>
              <a:rPr lang="fr-FR" sz="1800" dirty="0"/>
              <a:t>, </a:t>
            </a:r>
            <a:r>
              <a:rPr lang="fr-FR" sz="1800" dirty="0" err="1"/>
              <a:t>bookings</a:t>
            </a:r>
            <a:r>
              <a:rPr lang="fr-FR" sz="1800" dirty="0"/>
              <a:t>, ISP </a:t>
            </a:r>
            <a:r>
              <a:rPr lang="fr-FR" sz="1800" dirty="0" err="1"/>
              <a:t>requests</a:t>
            </a:r>
            <a:r>
              <a:rPr lang="fr-FR" sz="1800" dirty="0"/>
              <a:t>, </a:t>
            </a:r>
            <a:r>
              <a:rPr lang="fr-FR" sz="1800" dirty="0" err="1"/>
              <a:t>appointments</a:t>
            </a:r>
            <a:r>
              <a:rPr lang="fr-FR" sz="1800" dirty="0"/>
              <a:t> ..</a:t>
            </a:r>
          </a:p>
          <a:p>
            <a:pPr marL="457200" indent="-457200">
              <a:buFont typeface="+mj-lt"/>
              <a:buAutoNum type="arabicPeriod"/>
            </a:pPr>
            <a:endParaRPr lang="fr-FR" sz="1800" dirty="0"/>
          </a:p>
          <a:p>
            <a:r>
              <a:rPr lang="fr-FR" sz="1800" dirty="0">
                <a:solidFill>
                  <a:srgbClr val="FF0000"/>
                </a:solidFill>
              </a:rPr>
              <a:t>The </a:t>
            </a:r>
            <a:r>
              <a:rPr lang="fr-FR" sz="1800" dirty="0" err="1">
                <a:solidFill>
                  <a:srgbClr val="FF0000"/>
                </a:solidFill>
              </a:rPr>
              <a:t>breach</a:t>
            </a:r>
            <a:r>
              <a:rPr lang="fr-FR" sz="1800" dirty="0">
                <a:solidFill>
                  <a:srgbClr val="FF0000"/>
                </a:solidFill>
              </a:rPr>
              <a:t> </a:t>
            </a:r>
            <a:r>
              <a:rPr lang="fr-FR" sz="1800" dirty="0" err="1">
                <a:solidFill>
                  <a:srgbClr val="FF0000"/>
                </a:solidFill>
              </a:rPr>
              <a:t>was</a:t>
            </a:r>
            <a:r>
              <a:rPr lang="fr-FR" sz="1800" dirty="0">
                <a:solidFill>
                  <a:srgbClr val="FF0000"/>
                </a:solidFill>
              </a:rPr>
              <a:t> </a:t>
            </a:r>
            <a:r>
              <a:rPr lang="fr-FR" sz="1800" dirty="0" err="1">
                <a:solidFill>
                  <a:srgbClr val="FF0000"/>
                </a:solidFill>
              </a:rPr>
              <a:t>around</a:t>
            </a:r>
            <a:r>
              <a:rPr lang="fr-FR" sz="1800" dirty="0">
                <a:solidFill>
                  <a:srgbClr val="FF0000"/>
                </a:solidFill>
              </a:rPr>
              <a:t> for more </a:t>
            </a:r>
            <a:r>
              <a:rPr lang="fr-FR" sz="1800" dirty="0" err="1">
                <a:solidFill>
                  <a:srgbClr val="FF0000"/>
                </a:solidFill>
              </a:rPr>
              <a:t>than</a:t>
            </a:r>
            <a:r>
              <a:rPr lang="fr-FR" sz="1800" dirty="0">
                <a:solidFill>
                  <a:srgbClr val="FF0000"/>
                </a:solidFill>
              </a:rPr>
              <a:t> a </a:t>
            </a:r>
            <a:r>
              <a:rPr lang="fr-FR" sz="1800" b="1" dirty="0" err="1">
                <a:solidFill>
                  <a:srgbClr val="FF0000"/>
                </a:solidFill>
              </a:rPr>
              <a:t>year</a:t>
            </a:r>
            <a:r>
              <a:rPr lang="fr-FR" sz="1800" dirty="0">
                <a:solidFill>
                  <a:srgbClr val="FF0000"/>
                </a:solidFill>
              </a:rPr>
              <a:t> </a:t>
            </a:r>
            <a:r>
              <a:rPr lang="fr-FR" sz="1800" dirty="0" err="1">
                <a:solidFill>
                  <a:srgbClr val="FF0000"/>
                </a:solidFill>
              </a:rPr>
              <a:t>without</a:t>
            </a:r>
            <a:r>
              <a:rPr lang="fr-FR" sz="1800" dirty="0">
                <a:solidFill>
                  <a:srgbClr val="FF0000"/>
                </a:solidFill>
              </a:rPr>
              <a:t> </a:t>
            </a:r>
            <a:r>
              <a:rPr lang="fr-FR" sz="1800" dirty="0" err="1">
                <a:solidFill>
                  <a:srgbClr val="FF0000"/>
                </a:solidFill>
              </a:rPr>
              <a:t>proper</a:t>
            </a:r>
            <a:r>
              <a:rPr lang="fr-FR" sz="1800" dirty="0">
                <a:solidFill>
                  <a:srgbClr val="FF0000"/>
                </a:solidFill>
              </a:rPr>
              <a:t> action.</a:t>
            </a:r>
          </a:p>
          <a:p>
            <a:r>
              <a:rPr lang="fr-FR" sz="1600" dirty="0" err="1">
                <a:solidFill>
                  <a:srgbClr val="FF0000"/>
                </a:solidFill>
              </a:rPr>
              <a:t>European</a:t>
            </a:r>
            <a:r>
              <a:rPr lang="fr-FR" sz="1600" dirty="0">
                <a:solidFill>
                  <a:srgbClr val="FF0000"/>
                </a:solidFill>
              </a:rPr>
              <a:t> </a:t>
            </a:r>
            <a:r>
              <a:rPr lang="fr-FR" sz="1600" dirty="0" err="1">
                <a:solidFill>
                  <a:srgbClr val="FF0000"/>
                </a:solidFill>
              </a:rPr>
              <a:t>customer</a:t>
            </a:r>
            <a:r>
              <a:rPr lang="fr-FR" sz="1600" dirty="0">
                <a:solidFill>
                  <a:srgbClr val="FF0000"/>
                </a:solidFill>
              </a:rPr>
              <a:t> services setup </a:t>
            </a:r>
            <a:r>
              <a:rPr lang="fr-FR" sz="1600" dirty="0" err="1">
                <a:solidFill>
                  <a:srgbClr val="FF0000"/>
                </a:solidFill>
              </a:rPr>
              <a:t>is</a:t>
            </a:r>
            <a:r>
              <a:rPr lang="fr-FR" sz="1600" dirty="0">
                <a:solidFill>
                  <a:srgbClr val="FF0000"/>
                </a:solidFill>
              </a:rPr>
              <a:t> a </a:t>
            </a:r>
            <a:r>
              <a:rPr lang="fr-FR" sz="1600" dirty="0" err="1">
                <a:solidFill>
                  <a:srgbClr val="FF0000"/>
                </a:solidFill>
              </a:rPr>
              <a:t>reference</a:t>
            </a:r>
            <a:r>
              <a:rPr lang="fr-FR" sz="1600" dirty="0">
                <a:solidFill>
                  <a:srgbClr val="FF0000"/>
                </a:solidFill>
              </a:rPr>
              <a:t> architecture and </a:t>
            </a:r>
            <a:r>
              <a:rPr lang="fr-FR" sz="1600" dirty="0" err="1">
                <a:solidFill>
                  <a:srgbClr val="FF0000"/>
                </a:solidFill>
              </a:rPr>
              <a:t>it</a:t>
            </a:r>
            <a:r>
              <a:rPr lang="fr-FR" sz="1600" dirty="0">
                <a:solidFill>
                  <a:srgbClr val="FF0000"/>
                </a:solidFill>
              </a:rPr>
              <a:t> </a:t>
            </a:r>
            <a:r>
              <a:rPr lang="fr-FR" sz="1600" dirty="0" err="1">
                <a:solidFill>
                  <a:srgbClr val="FF0000"/>
                </a:solidFill>
              </a:rPr>
              <a:t>is</a:t>
            </a:r>
            <a:r>
              <a:rPr lang="fr-FR" sz="1600" dirty="0">
                <a:solidFill>
                  <a:srgbClr val="FF0000"/>
                </a:solidFill>
              </a:rPr>
              <a:t> </a:t>
            </a:r>
            <a:r>
              <a:rPr lang="fr-FR" sz="1600" dirty="0" err="1">
                <a:solidFill>
                  <a:srgbClr val="FF0000"/>
                </a:solidFill>
              </a:rPr>
              <a:t>being</a:t>
            </a:r>
            <a:r>
              <a:rPr lang="fr-FR" sz="1600" dirty="0">
                <a:solidFill>
                  <a:srgbClr val="FF0000"/>
                </a:solidFill>
              </a:rPr>
              <a:t> or </a:t>
            </a:r>
            <a:r>
              <a:rPr lang="fr-FR" sz="1600" dirty="0" err="1">
                <a:solidFill>
                  <a:srgbClr val="FF0000"/>
                </a:solidFill>
              </a:rPr>
              <a:t>going</a:t>
            </a:r>
            <a:r>
              <a:rPr lang="fr-FR" sz="1600" dirty="0">
                <a:solidFill>
                  <a:srgbClr val="FF0000"/>
                </a:solidFill>
              </a:rPr>
              <a:t> to </a:t>
            </a:r>
            <a:r>
              <a:rPr lang="fr-FR" sz="1600" dirty="0" err="1">
                <a:solidFill>
                  <a:srgbClr val="FF0000"/>
                </a:solidFill>
              </a:rPr>
              <a:t>be</a:t>
            </a:r>
            <a:r>
              <a:rPr lang="fr-FR" sz="1600" dirty="0">
                <a:solidFill>
                  <a:srgbClr val="FF0000"/>
                </a:solidFill>
              </a:rPr>
              <a:t> </a:t>
            </a:r>
            <a:r>
              <a:rPr lang="fr-FR" sz="1600" dirty="0" err="1">
                <a:solidFill>
                  <a:srgbClr val="FF0000"/>
                </a:solidFill>
              </a:rPr>
              <a:t>implemented</a:t>
            </a:r>
            <a:r>
              <a:rPr lang="fr-FR" sz="1600" dirty="0">
                <a:solidFill>
                  <a:srgbClr val="FF0000"/>
                </a:solidFill>
              </a:rPr>
              <a:t> </a:t>
            </a:r>
            <a:r>
              <a:rPr lang="fr-FR" sz="1600" dirty="0" err="1">
                <a:solidFill>
                  <a:srgbClr val="FF0000"/>
                </a:solidFill>
              </a:rPr>
              <a:t>across</a:t>
            </a:r>
            <a:r>
              <a:rPr lang="fr-FR" sz="1600" dirty="0">
                <a:solidFill>
                  <a:srgbClr val="FF0000"/>
                </a:solidFill>
              </a:rPr>
              <a:t> </a:t>
            </a:r>
            <a:r>
              <a:rPr lang="fr-FR" sz="1600" dirty="0" err="1">
                <a:solidFill>
                  <a:srgbClr val="FF0000"/>
                </a:solidFill>
              </a:rPr>
              <a:t>other</a:t>
            </a:r>
            <a:r>
              <a:rPr lang="fr-FR" sz="1600" dirty="0">
                <a:solidFill>
                  <a:srgbClr val="FF0000"/>
                </a:solidFill>
              </a:rPr>
              <a:t> </a:t>
            </a:r>
            <a:r>
              <a:rPr lang="fr-FR" sz="1600" dirty="0" err="1">
                <a:solidFill>
                  <a:srgbClr val="FF0000"/>
                </a:solidFill>
              </a:rPr>
              <a:t>regions</a:t>
            </a:r>
            <a:r>
              <a:rPr lang="fr-FR" sz="1600" dirty="0">
                <a:solidFill>
                  <a:srgbClr val="FF0000"/>
                </a:solidFill>
              </a:rPr>
              <a:t> as </a:t>
            </a:r>
            <a:r>
              <a:rPr lang="fr-FR" sz="1600" dirty="0" err="1">
                <a:solidFill>
                  <a:srgbClr val="FF0000"/>
                </a:solidFill>
              </a:rPr>
              <a:t>well</a:t>
            </a:r>
            <a:r>
              <a:rPr lang="fr-FR" sz="1600" dirty="0">
                <a:solidFill>
                  <a:srgbClr val="FF0000"/>
                </a:solidFill>
              </a:rPr>
              <a:t>. </a:t>
            </a:r>
            <a:r>
              <a:rPr lang="fr-FR" sz="1600" dirty="0" err="1">
                <a:solidFill>
                  <a:srgbClr val="FF0000"/>
                </a:solidFill>
              </a:rPr>
              <a:t>Making</a:t>
            </a:r>
            <a:r>
              <a:rPr lang="fr-FR" sz="1600" dirty="0">
                <a:solidFill>
                  <a:srgbClr val="FF0000"/>
                </a:solidFill>
              </a:rPr>
              <a:t> all </a:t>
            </a:r>
            <a:r>
              <a:rPr lang="fr-FR" sz="1600" dirty="0" err="1">
                <a:solidFill>
                  <a:srgbClr val="FF0000"/>
                </a:solidFill>
              </a:rPr>
              <a:t>our</a:t>
            </a:r>
            <a:r>
              <a:rPr lang="fr-FR" sz="1600" dirty="0">
                <a:solidFill>
                  <a:srgbClr val="FF0000"/>
                </a:solidFill>
              </a:rPr>
              <a:t> </a:t>
            </a:r>
            <a:r>
              <a:rPr lang="fr-FR" sz="1600" dirty="0" err="1">
                <a:solidFill>
                  <a:srgbClr val="FF0000"/>
                </a:solidFill>
              </a:rPr>
              <a:t>customer</a:t>
            </a:r>
            <a:r>
              <a:rPr lang="fr-FR" sz="1600" dirty="0">
                <a:solidFill>
                  <a:srgbClr val="FF0000"/>
                </a:solidFill>
              </a:rPr>
              <a:t> records </a:t>
            </a:r>
            <a:r>
              <a:rPr lang="fr-FR" sz="1600" dirty="0" err="1">
                <a:solidFill>
                  <a:srgbClr val="FF0000"/>
                </a:solidFill>
              </a:rPr>
              <a:t>globally</a:t>
            </a:r>
            <a:r>
              <a:rPr lang="fr-FR" sz="1600" dirty="0">
                <a:solidFill>
                  <a:srgbClr val="FF0000"/>
                </a:solidFill>
              </a:rPr>
              <a:t> </a:t>
            </a:r>
            <a:r>
              <a:rPr lang="fr-FR" sz="1600" dirty="0" err="1">
                <a:solidFill>
                  <a:srgbClr val="FF0000"/>
                </a:solidFill>
              </a:rPr>
              <a:t>vulnerable</a:t>
            </a:r>
            <a:r>
              <a:rPr lang="fr-FR" sz="1600" dirty="0">
                <a:solidFill>
                  <a:srgbClr val="FF0000"/>
                </a:solidFill>
              </a:rPr>
              <a:t> to </a:t>
            </a:r>
            <a:r>
              <a:rPr lang="fr-FR" sz="1600" dirty="0" err="1">
                <a:solidFill>
                  <a:srgbClr val="FF0000"/>
                </a:solidFill>
              </a:rPr>
              <a:t>many</a:t>
            </a:r>
            <a:r>
              <a:rPr lang="fr-FR" sz="1600" dirty="0">
                <a:solidFill>
                  <a:srgbClr val="FF0000"/>
                </a:solidFill>
              </a:rPr>
              <a:t> types of </a:t>
            </a:r>
            <a:r>
              <a:rPr lang="fr-FR" sz="1600" dirty="0" err="1">
                <a:solidFill>
                  <a:srgbClr val="FF0000"/>
                </a:solidFill>
              </a:rPr>
              <a:t>attacks</a:t>
            </a:r>
            <a:r>
              <a:rPr lang="fr-FR" sz="1600" dirty="0">
                <a:solidFill>
                  <a:srgbClr val="FF0000"/>
                </a:solidFill>
              </a:rPr>
              <a:t>.</a:t>
            </a:r>
            <a:endParaRPr lang="sv-SE" sz="1600" dirty="0">
              <a:solidFill>
                <a:srgbClr val="FF0000"/>
              </a:solidFill>
            </a:endParaRPr>
          </a:p>
        </p:txBody>
      </p:sp>
      <p:sp>
        <p:nvSpPr>
          <p:cNvPr id="6" name="Title 5">
            <a:extLst>
              <a:ext uri="{FF2B5EF4-FFF2-40B4-BE49-F238E27FC236}">
                <a16:creationId xmlns:a16="http://schemas.microsoft.com/office/drawing/2014/main" id="{755B9E54-D455-4983-9F7E-79A55E305C16}"/>
              </a:ext>
            </a:extLst>
          </p:cNvPr>
          <p:cNvSpPr>
            <a:spLocks noGrp="1"/>
          </p:cNvSpPr>
          <p:nvPr>
            <p:ph type="title"/>
          </p:nvPr>
        </p:nvSpPr>
        <p:spPr/>
        <p:txBody>
          <a:bodyPr/>
          <a:lstStyle/>
          <a:p>
            <a:r>
              <a:rPr lang="fr-FR" dirty="0"/>
              <a:t>Situation</a:t>
            </a:r>
            <a:endParaRPr lang="sv-SE" dirty="0"/>
          </a:p>
        </p:txBody>
      </p:sp>
      <p:sp>
        <p:nvSpPr>
          <p:cNvPr id="7" name="Rectangle 6">
            <a:extLst>
              <a:ext uri="{FF2B5EF4-FFF2-40B4-BE49-F238E27FC236}">
                <a16:creationId xmlns:a16="http://schemas.microsoft.com/office/drawing/2014/main" id="{5074FE1D-01AD-401B-A3A9-192A8D017616}"/>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1693126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CD0958-8D41-4A1A-B26A-DE24FE56C81C}"/>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495A1AF8-BFD4-4C6E-A054-AC102FE3709E}"/>
              </a:ext>
            </a:extLst>
          </p:cNvPr>
          <p:cNvSpPr>
            <a:spLocks noGrp="1"/>
          </p:cNvSpPr>
          <p:nvPr>
            <p:ph type="sldNum" sz="quarter" idx="13"/>
          </p:nvPr>
        </p:nvSpPr>
        <p:spPr/>
        <p:txBody>
          <a:bodyPr/>
          <a:lstStyle/>
          <a:p>
            <a:fld id="{09471650-AE8C-4F0A-9990-7EAE6F8DE484}" type="slidenum">
              <a:rPr lang="en-GB" smtClean="0"/>
              <a:pPr/>
              <a:t>5</a:t>
            </a:fld>
            <a:endParaRPr lang="en-GB" dirty="0"/>
          </a:p>
        </p:txBody>
      </p:sp>
      <p:sp>
        <p:nvSpPr>
          <p:cNvPr id="4" name="Footer Placeholder 3">
            <a:extLst>
              <a:ext uri="{FF2B5EF4-FFF2-40B4-BE49-F238E27FC236}">
                <a16:creationId xmlns:a16="http://schemas.microsoft.com/office/drawing/2014/main" id="{FF8A9FEF-653A-4F9B-B5AC-05AC8F3BCF3D}"/>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6193692F-3A4C-48E3-AB70-75AAAC03727A}"/>
              </a:ext>
            </a:extLst>
          </p:cNvPr>
          <p:cNvSpPr>
            <a:spLocks noGrp="1"/>
          </p:cNvSpPr>
          <p:nvPr>
            <p:ph type="body" sz="quarter" idx="15"/>
          </p:nvPr>
        </p:nvSpPr>
        <p:spPr>
          <a:xfrm>
            <a:off x="371475" y="5566277"/>
            <a:ext cx="11449050" cy="1170713"/>
          </a:xfrm>
        </p:spPr>
        <p:txBody>
          <a:bodyPr/>
          <a:lstStyle/>
          <a:p>
            <a:r>
              <a:rPr lang="fr-FR" sz="1600" dirty="0"/>
              <a:t>The issue </a:t>
            </a:r>
            <a:r>
              <a:rPr lang="fr-FR" sz="1600" dirty="0" err="1"/>
              <a:t>is</a:t>
            </a:r>
            <a:r>
              <a:rPr lang="fr-FR" sz="1600" dirty="0"/>
              <a:t> spread </a:t>
            </a:r>
            <a:r>
              <a:rPr lang="fr-FR" sz="1600" dirty="0" err="1"/>
              <a:t>across</a:t>
            </a:r>
            <a:r>
              <a:rPr lang="fr-FR" sz="1600" dirty="0"/>
              <a:t> all </a:t>
            </a:r>
            <a:r>
              <a:rPr lang="fr-FR" sz="1600" dirty="0" err="1"/>
              <a:t>systems</a:t>
            </a:r>
            <a:r>
              <a:rPr lang="fr-FR" sz="1600" dirty="0"/>
              <a:t> </a:t>
            </a:r>
            <a:r>
              <a:rPr lang="fr-FR" sz="1600" dirty="0" err="1"/>
              <a:t>using</a:t>
            </a:r>
            <a:r>
              <a:rPr lang="fr-FR" sz="1600" dirty="0"/>
              <a:t> the </a:t>
            </a:r>
            <a:r>
              <a:rPr lang="fr-FR" sz="1600" dirty="0" err="1"/>
              <a:t>European</a:t>
            </a:r>
            <a:r>
              <a:rPr lang="fr-FR" sz="1600" dirty="0"/>
              <a:t> login flow to CDC. </a:t>
            </a:r>
          </a:p>
          <a:p>
            <a:r>
              <a:rPr lang="fr-FR" sz="1600" dirty="0"/>
              <a:t>There </a:t>
            </a:r>
            <a:r>
              <a:rPr lang="fr-FR" sz="1600" dirty="0" err="1"/>
              <a:t>is</a:t>
            </a:r>
            <a:r>
              <a:rPr lang="fr-FR" sz="1600" dirty="0"/>
              <a:t> a </a:t>
            </a:r>
            <a:r>
              <a:rPr lang="fr-FR" sz="1600" dirty="0" err="1"/>
              <a:t>possibility</a:t>
            </a:r>
            <a:r>
              <a:rPr lang="fr-FR" sz="1600" dirty="0"/>
              <a:t> </a:t>
            </a:r>
            <a:r>
              <a:rPr lang="fr-FR" sz="1600" dirty="0" err="1"/>
              <a:t>that</a:t>
            </a:r>
            <a:r>
              <a:rPr lang="fr-FR" sz="1600" dirty="0"/>
              <a:t> a system </a:t>
            </a:r>
            <a:r>
              <a:rPr lang="fr-FR" sz="1600" dirty="0" err="1"/>
              <a:t>might</a:t>
            </a:r>
            <a:r>
              <a:rPr lang="fr-FR" sz="1600" dirty="0"/>
              <a:t> cache the </a:t>
            </a:r>
            <a:r>
              <a:rPr lang="fr-FR" sz="1600" dirty="0" err="1"/>
              <a:t>credentials</a:t>
            </a:r>
            <a:r>
              <a:rPr lang="fr-FR" sz="1600" dirty="0"/>
              <a:t> (</a:t>
            </a:r>
            <a:r>
              <a:rPr lang="fr-FR" sz="1600" dirty="0" err="1"/>
              <a:t>Oneapp</a:t>
            </a:r>
            <a:r>
              <a:rPr lang="fr-FR" sz="1600" dirty="0"/>
              <a:t>), and for </a:t>
            </a:r>
            <a:r>
              <a:rPr lang="fr-FR" sz="1600" dirty="0" err="1"/>
              <a:t>that</a:t>
            </a:r>
            <a:r>
              <a:rPr lang="fr-FR" sz="1600" dirty="0"/>
              <a:t> </a:t>
            </a:r>
            <a:r>
              <a:rPr lang="fr-FR" sz="1600" dirty="0" err="1"/>
              <a:t>we</a:t>
            </a:r>
            <a:r>
              <a:rPr lang="fr-FR" sz="1600" dirty="0"/>
              <a:t> </a:t>
            </a:r>
            <a:r>
              <a:rPr lang="fr-FR" sz="1600" dirty="0" err="1"/>
              <a:t>need</a:t>
            </a:r>
            <a:r>
              <a:rPr lang="fr-FR" sz="1600" dirty="0"/>
              <a:t> to </a:t>
            </a:r>
            <a:r>
              <a:rPr lang="fr-FR" sz="1600" dirty="0" err="1"/>
              <a:t>be</a:t>
            </a:r>
            <a:r>
              <a:rPr lang="fr-FR" sz="1600" dirty="0"/>
              <a:t> sure the data </a:t>
            </a:r>
            <a:r>
              <a:rPr lang="fr-FR" sz="1600" dirty="0" err="1"/>
              <a:t>is</a:t>
            </a:r>
            <a:r>
              <a:rPr lang="fr-FR" sz="1600" dirty="0"/>
              <a:t> </a:t>
            </a:r>
            <a:r>
              <a:rPr lang="fr-FR" sz="1600" dirty="0" err="1"/>
              <a:t>encrypted</a:t>
            </a:r>
            <a:r>
              <a:rPr lang="fr-FR" sz="1600" dirty="0"/>
              <a:t> in the </a:t>
            </a:r>
            <a:r>
              <a:rPr lang="fr-FR" sz="1600" dirty="0" err="1"/>
              <a:t>requestBody</a:t>
            </a:r>
            <a:r>
              <a:rPr lang="fr-FR" sz="1600" dirty="0"/>
              <a:t> and at </a:t>
            </a:r>
            <a:r>
              <a:rPr lang="fr-FR" sz="1600" dirty="0" err="1"/>
              <a:t>rest</a:t>
            </a:r>
            <a:r>
              <a:rPr lang="fr-FR" sz="1600" dirty="0"/>
              <a:t>.</a:t>
            </a:r>
            <a:endParaRPr lang="sv-SE" sz="1600" dirty="0"/>
          </a:p>
        </p:txBody>
      </p:sp>
      <p:sp>
        <p:nvSpPr>
          <p:cNvPr id="6" name="Title 5">
            <a:extLst>
              <a:ext uri="{FF2B5EF4-FFF2-40B4-BE49-F238E27FC236}">
                <a16:creationId xmlns:a16="http://schemas.microsoft.com/office/drawing/2014/main" id="{A7203F32-11E3-474A-B76E-DC2CB077FB18}"/>
              </a:ext>
            </a:extLst>
          </p:cNvPr>
          <p:cNvSpPr>
            <a:spLocks noGrp="1"/>
          </p:cNvSpPr>
          <p:nvPr>
            <p:ph type="title"/>
          </p:nvPr>
        </p:nvSpPr>
        <p:spPr/>
        <p:txBody>
          <a:bodyPr/>
          <a:lstStyle/>
          <a:p>
            <a:r>
              <a:rPr lang="fr-FR" dirty="0" err="1"/>
              <a:t>Exposure</a:t>
            </a:r>
            <a:r>
              <a:rPr lang="fr-FR" dirty="0"/>
              <a:t> </a:t>
            </a:r>
            <a:r>
              <a:rPr lang="fr-FR" sz="2400" dirty="0"/>
              <a:t>of </a:t>
            </a:r>
            <a:r>
              <a:rPr lang="fr-FR" sz="2400" dirty="0" err="1"/>
              <a:t>customer</a:t>
            </a:r>
            <a:r>
              <a:rPr lang="fr-FR" sz="2400" dirty="0"/>
              <a:t> PII data </a:t>
            </a:r>
            <a:r>
              <a:rPr lang="fr-FR" sz="2400" dirty="0" err="1"/>
              <a:t>across</a:t>
            </a:r>
            <a:r>
              <a:rPr lang="fr-FR" sz="2400" dirty="0"/>
              <a:t> cloud teams</a:t>
            </a:r>
            <a:endParaRPr lang="sv-SE" b="1" dirty="0"/>
          </a:p>
        </p:txBody>
      </p:sp>
      <p:pic>
        <p:nvPicPr>
          <p:cNvPr id="4098" name="Picture 2">
            <a:extLst>
              <a:ext uri="{FF2B5EF4-FFF2-40B4-BE49-F238E27FC236}">
                <a16:creationId xmlns:a16="http://schemas.microsoft.com/office/drawing/2014/main" id="{C27E86B3-60FA-4B60-BE1F-BD1E588A86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415" y="1291723"/>
            <a:ext cx="10839635" cy="40818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55976D1-7791-4132-A821-A0E3FDF69436}"/>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87508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CA65FB-DB18-4E0F-99A6-6A15B499323A}"/>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1687D0D0-750E-4ADA-B7E1-0C0AC6C6F8A1}"/>
              </a:ext>
            </a:extLst>
          </p:cNvPr>
          <p:cNvSpPr>
            <a:spLocks noGrp="1"/>
          </p:cNvSpPr>
          <p:nvPr>
            <p:ph type="sldNum" sz="quarter" idx="13"/>
          </p:nvPr>
        </p:nvSpPr>
        <p:spPr/>
        <p:txBody>
          <a:bodyPr/>
          <a:lstStyle/>
          <a:p>
            <a:fld id="{09471650-AE8C-4F0A-9990-7EAE6F8DE484}" type="slidenum">
              <a:rPr lang="en-GB" smtClean="0"/>
              <a:pPr/>
              <a:t>6</a:t>
            </a:fld>
            <a:endParaRPr lang="en-GB" dirty="0"/>
          </a:p>
        </p:txBody>
      </p:sp>
      <p:sp>
        <p:nvSpPr>
          <p:cNvPr id="4" name="Footer Placeholder 3">
            <a:extLst>
              <a:ext uri="{FF2B5EF4-FFF2-40B4-BE49-F238E27FC236}">
                <a16:creationId xmlns:a16="http://schemas.microsoft.com/office/drawing/2014/main" id="{83059649-BFED-486C-A6A7-A656E8E89A71}"/>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594186B3-D05A-461D-8F46-2E607B55CD1C}"/>
              </a:ext>
            </a:extLst>
          </p:cNvPr>
          <p:cNvSpPr>
            <a:spLocks noGrp="1"/>
          </p:cNvSpPr>
          <p:nvPr>
            <p:ph type="body" sz="quarter" idx="15"/>
          </p:nvPr>
        </p:nvSpPr>
        <p:spPr/>
        <p:txBody>
          <a:bodyPr/>
          <a:lstStyle/>
          <a:p>
            <a:r>
              <a:rPr lang="fr-FR" dirty="0"/>
              <a:t>Customer data </a:t>
            </a:r>
            <a:r>
              <a:rPr lang="fr-FR" dirty="0" err="1"/>
              <a:t>available</a:t>
            </a:r>
            <a:r>
              <a:rPr lang="fr-FR" dirty="0"/>
              <a:t> for x </a:t>
            </a:r>
            <a:r>
              <a:rPr lang="fr-FR" dirty="0" err="1"/>
              <a:t>number</a:t>
            </a:r>
            <a:r>
              <a:rPr lang="fr-FR" dirty="0"/>
              <a:t> of </a:t>
            </a:r>
            <a:r>
              <a:rPr lang="fr-FR" dirty="0" err="1"/>
              <a:t>Employees</a:t>
            </a:r>
            <a:r>
              <a:rPr lang="fr-FR" dirty="0"/>
              <a:t>, Consultants, ex-consultants</a:t>
            </a:r>
          </a:p>
          <a:p>
            <a:r>
              <a:rPr lang="fr-FR" dirty="0"/>
              <a:t>No </a:t>
            </a:r>
            <a:r>
              <a:rPr lang="fr-FR" dirty="0" err="1"/>
              <a:t>way</a:t>
            </a:r>
            <a:r>
              <a:rPr lang="fr-FR" dirty="0"/>
              <a:t> to </a:t>
            </a:r>
            <a:r>
              <a:rPr lang="fr-FR" dirty="0" err="1"/>
              <a:t>confirm</a:t>
            </a:r>
            <a:r>
              <a:rPr lang="fr-FR" dirty="0"/>
              <a:t> </a:t>
            </a:r>
            <a:r>
              <a:rPr lang="fr-FR" dirty="0" err="1"/>
              <a:t>that</a:t>
            </a:r>
            <a:r>
              <a:rPr lang="fr-FR" dirty="0"/>
              <a:t> </a:t>
            </a:r>
            <a:r>
              <a:rPr lang="fr-FR" dirty="0" err="1"/>
              <a:t>nothing</a:t>
            </a:r>
            <a:r>
              <a:rPr lang="fr-FR" dirty="0"/>
              <a:t> </a:t>
            </a:r>
            <a:r>
              <a:rPr lang="fr-FR" dirty="0" err="1"/>
              <a:t>malicious</a:t>
            </a:r>
            <a:r>
              <a:rPr lang="fr-FR" dirty="0"/>
              <a:t> </a:t>
            </a:r>
            <a:r>
              <a:rPr lang="fr-FR" dirty="0" err="1"/>
              <a:t>happened</a:t>
            </a:r>
            <a:r>
              <a:rPr lang="fr-FR" dirty="0"/>
              <a:t> for all </a:t>
            </a:r>
            <a:r>
              <a:rPr lang="fr-FR" dirty="0" err="1"/>
              <a:t>cdc</a:t>
            </a:r>
            <a:r>
              <a:rPr lang="fr-FR" dirty="0"/>
              <a:t> </a:t>
            </a:r>
            <a:r>
              <a:rPr lang="fr-FR" dirty="0" err="1"/>
              <a:t>users</a:t>
            </a:r>
            <a:r>
              <a:rPr lang="fr-FR" dirty="0"/>
              <a:t> PII data.</a:t>
            </a:r>
          </a:p>
          <a:p>
            <a:r>
              <a:rPr lang="fr-FR" dirty="0" err="1"/>
              <a:t>Ability</a:t>
            </a:r>
            <a:r>
              <a:rPr lang="fr-FR" dirty="0"/>
              <a:t> to </a:t>
            </a:r>
            <a:r>
              <a:rPr lang="fr-FR" dirty="0" err="1"/>
              <a:t>impersonate</a:t>
            </a:r>
            <a:r>
              <a:rPr lang="fr-FR" dirty="0"/>
              <a:t> </a:t>
            </a:r>
            <a:r>
              <a:rPr lang="fr-FR" dirty="0" err="1"/>
              <a:t>any</a:t>
            </a:r>
            <a:r>
              <a:rPr lang="fr-FR" dirty="0"/>
              <a:t> consumer to </a:t>
            </a:r>
            <a:r>
              <a:rPr lang="fr-FR" dirty="0" err="1"/>
              <a:t>get</a:t>
            </a:r>
            <a:r>
              <a:rPr lang="fr-FR" dirty="0"/>
              <a:t> extra </a:t>
            </a:r>
            <a:r>
              <a:rPr lang="fr-FR" dirty="0" err="1"/>
              <a:t>personal</a:t>
            </a:r>
            <a:r>
              <a:rPr lang="fr-FR" dirty="0"/>
              <a:t> information </a:t>
            </a:r>
            <a:r>
              <a:rPr lang="fr-FR" sz="1800" dirty="0"/>
              <a:t>like </a:t>
            </a:r>
            <a:r>
              <a:rPr lang="fr-FR" sz="1800" dirty="0" err="1"/>
              <a:t>appliance’s</a:t>
            </a:r>
            <a:r>
              <a:rPr lang="fr-FR" sz="1800" dirty="0"/>
              <a:t> smart </a:t>
            </a:r>
            <a:r>
              <a:rPr lang="fr-FR" sz="1800" dirty="0" err="1"/>
              <a:t>sensors</a:t>
            </a:r>
            <a:r>
              <a:rPr lang="fr-FR" sz="1800" dirty="0"/>
              <a:t> and </a:t>
            </a:r>
            <a:r>
              <a:rPr lang="fr-FR" sz="1800" dirty="0" err="1"/>
              <a:t>telemetry</a:t>
            </a:r>
            <a:r>
              <a:rPr lang="fr-FR" sz="1800" dirty="0"/>
              <a:t>.. Even the </a:t>
            </a:r>
            <a:r>
              <a:rPr lang="fr-FR" sz="1800" dirty="0" err="1"/>
              <a:t>customer</a:t>
            </a:r>
            <a:r>
              <a:rPr lang="fr-FR" sz="1800" dirty="0"/>
              <a:t> home </a:t>
            </a:r>
            <a:r>
              <a:rPr lang="fr-FR" sz="1800" dirty="0" err="1"/>
              <a:t>map</a:t>
            </a:r>
            <a:r>
              <a:rPr lang="fr-FR" sz="1800" dirty="0"/>
              <a:t> etc.</a:t>
            </a:r>
          </a:p>
          <a:p>
            <a:endParaRPr lang="fr-FR" dirty="0"/>
          </a:p>
          <a:p>
            <a:endParaRPr lang="sv-SE" dirty="0"/>
          </a:p>
        </p:txBody>
      </p:sp>
      <p:sp>
        <p:nvSpPr>
          <p:cNvPr id="6" name="Title 5">
            <a:extLst>
              <a:ext uri="{FF2B5EF4-FFF2-40B4-BE49-F238E27FC236}">
                <a16:creationId xmlns:a16="http://schemas.microsoft.com/office/drawing/2014/main" id="{0E5DB06B-921B-499D-A05F-8DA8CC0D509A}"/>
              </a:ext>
            </a:extLst>
          </p:cNvPr>
          <p:cNvSpPr>
            <a:spLocks noGrp="1"/>
          </p:cNvSpPr>
          <p:nvPr>
            <p:ph type="title"/>
          </p:nvPr>
        </p:nvSpPr>
        <p:spPr/>
        <p:txBody>
          <a:bodyPr/>
          <a:lstStyle/>
          <a:p>
            <a:r>
              <a:rPr lang="fr-FR" dirty="0"/>
              <a:t>User Groups </a:t>
            </a:r>
            <a:r>
              <a:rPr lang="fr-FR" dirty="0" err="1"/>
              <a:t>involved</a:t>
            </a:r>
            <a:r>
              <a:rPr lang="fr-FR" dirty="0"/>
              <a:t>.</a:t>
            </a:r>
            <a:br>
              <a:rPr lang="fr-FR" dirty="0"/>
            </a:br>
            <a:r>
              <a:rPr lang="fr-FR" sz="1800" b="1" dirty="0"/>
              <a:t>(</a:t>
            </a:r>
            <a:r>
              <a:rPr lang="fr-FR" sz="1800" b="1" dirty="0" err="1"/>
              <a:t>Only</a:t>
            </a:r>
            <a:r>
              <a:rPr lang="fr-FR" sz="1800" b="1" dirty="0"/>
              <a:t> Mobile </a:t>
            </a:r>
            <a:r>
              <a:rPr lang="fr-FR" sz="1800" b="1" dirty="0" err="1"/>
              <a:t>consumers</a:t>
            </a:r>
            <a:r>
              <a:rPr lang="fr-FR" sz="1800" b="1" dirty="0"/>
              <a:t> in </a:t>
            </a:r>
            <a:r>
              <a:rPr lang="fr-FR" sz="1800" b="1" dirty="0" err="1"/>
              <a:t>this</a:t>
            </a:r>
            <a:r>
              <a:rPr lang="fr-FR" sz="1800" b="1" dirty="0"/>
              <a:t> case)</a:t>
            </a:r>
            <a:endParaRPr lang="sv-SE" dirty="0"/>
          </a:p>
        </p:txBody>
      </p:sp>
      <p:pic>
        <p:nvPicPr>
          <p:cNvPr id="8" name="Picture 7">
            <a:extLst>
              <a:ext uri="{FF2B5EF4-FFF2-40B4-BE49-F238E27FC236}">
                <a16:creationId xmlns:a16="http://schemas.microsoft.com/office/drawing/2014/main" id="{EC45A035-CAEA-4823-9874-CC870FD77FEA}"/>
              </a:ext>
            </a:extLst>
          </p:cNvPr>
          <p:cNvPicPr>
            <a:picLocks noChangeAspect="1"/>
          </p:cNvPicPr>
          <p:nvPr/>
        </p:nvPicPr>
        <p:blipFill>
          <a:blip r:embed="rId2"/>
          <a:stretch>
            <a:fillRect/>
          </a:stretch>
        </p:blipFill>
        <p:spPr>
          <a:xfrm>
            <a:off x="3234928" y="2972408"/>
            <a:ext cx="7761616" cy="3362319"/>
          </a:xfrm>
          <a:prstGeom prst="rect">
            <a:avLst/>
          </a:prstGeom>
        </p:spPr>
      </p:pic>
      <p:sp>
        <p:nvSpPr>
          <p:cNvPr id="9" name="Rectangle 8">
            <a:extLst>
              <a:ext uri="{FF2B5EF4-FFF2-40B4-BE49-F238E27FC236}">
                <a16:creationId xmlns:a16="http://schemas.microsoft.com/office/drawing/2014/main" id="{38FF5773-1993-45D5-9CE9-461992B3EA66}"/>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3945264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7B9EA-0B1D-4979-BC41-C5E7E00D4BB0}"/>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E20B108B-F806-4A6C-81ED-A62AE2CFCEC5}"/>
              </a:ext>
            </a:extLst>
          </p:cNvPr>
          <p:cNvSpPr>
            <a:spLocks noGrp="1"/>
          </p:cNvSpPr>
          <p:nvPr>
            <p:ph type="sldNum" sz="quarter" idx="13"/>
          </p:nvPr>
        </p:nvSpPr>
        <p:spPr/>
        <p:txBody>
          <a:bodyPr/>
          <a:lstStyle/>
          <a:p>
            <a:fld id="{09471650-AE8C-4F0A-9990-7EAE6F8DE484}" type="slidenum">
              <a:rPr lang="en-GB" smtClean="0"/>
              <a:pPr/>
              <a:t>7</a:t>
            </a:fld>
            <a:endParaRPr lang="en-GB" dirty="0"/>
          </a:p>
        </p:txBody>
      </p:sp>
      <p:sp>
        <p:nvSpPr>
          <p:cNvPr id="4" name="Footer Placeholder 3">
            <a:extLst>
              <a:ext uri="{FF2B5EF4-FFF2-40B4-BE49-F238E27FC236}">
                <a16:creationId xmlns:a16="http://schemas.microsoft.com/office/drawing/2014/main" id="{064BD3BA-156A-462F-8649-D816129E7400}"/>
              </a:ext>
            </a:extLst>
          </p:cNvPr>
          <p:cNvSpPr>
            <a:spLocks noGrp="1"/>
          </p:cNvSpPr>
          <p:nvPr>
            <p:ph type="ftr" sz="quarter" idx="14"/>
          </p:nvPr>
        </p:nvSpPr>
        <p:spPr/>
        <p:txBody>
          <a:bodyPr/>
          <a:lstStyle/>
          <a:p>
            <a:endParaRPr lang="en-GB" dirty="0"/>
          </a:p>
        </p:txBody>
      </p:sp>
      <p:sp>
        <p:nvSpPr>
          <p:cNvPr id="6" name="Title 5">
            <a:extLst>
              <a:ext uri="{FF2B5EF4-FFF2-40B4-BE49-F238E27FC236}">
                <a16:creationId xmlns:a16="http://schemas.microsoft.com/office/drawing/2014/main" id="{D9DD005B-4947-478C-BBF7-17F3D1D03510}"/>
              </a:ext>
            </a:extLst>
          </p:cNvPr>
          <p:cNvSpPr>
            <a:spLocks noGrp="1"/>
          </p:cNvSpPr>
          <p:nvPr>
            <p:ph type="title"/>
          </p:nvPr>
        </p:nvSpPr>
        <p:spPr/>
        <p:txBody>
          <a:bodyPr/>
          <a:lstStyle/>
          <a:p>
            <a:r>
              <a:rPr lang="fr-FR" dirty="0"/>
              <a:t>Issue 1: Customer </a:t>
            </a:r>
            <a:r>
              <a:rPr lang="fr-FR" dirty="0" err="1"/>
              <a:t>credentials</a:t>
            </a:r>
            <a:endParaRPr lang="sv-SE" dirty="0"/>
          </a:p>
        </p:txBody>
      </p:sp>
      <p:pic>
        <p:nvPicPr>
          <p:cNvPr id="10" name="Picture 9">
            <a:extLst>
              <a:ext uri="{FF2B5EF4-FFF2-40B4-BE49-F238E27FC236}">
                <a16:creationId xmlns:a16="http://schemas.microsoft.com/office/drawing/2014/main" id="{DFFBCB8E-4B1B-4B43-B30D-FADA007D1A15}"/>
              </a:ext>
            </a:extLst>
          </p:cNvPr>
          <p:cNvPicPr>
            <a:picLocks noChangeAspect="1"/>
          </p:cNvPicPr>
          <p:nvPr/>
        </p:nvPicPr>
        <p:blipFill>
          <a:blip r:embed="rId2"/>
          <a:stretch>
            <a:fillRect/>
          </a:stretch>
        </p:blipFill>
        <p:spPr>
          <a:xfrm>
            <a:off x="7294375" y="1765753"/>
            <a:ext cx="4066588" cy="3899239"/>
          </a:xfrm>
          <a:prstGeom prst="rect">
            <a:avLst/>
          </a:prstGeom>
        </p:spPr>
      </p:pic>
      <p:pic>
        <p:nvPicPr>
          <p:cNvPr id="11" name="Picture 10">
            <a:extLst>
              <a:ext uri="{FF2B5EF4-FFF2-40B4-BE49-F238E27FC236}">
                <a16:creationId xmlns:a16="http://schemas.microsoft.com/office/drawing/2014/main" id="{1BCE72CC-1853-4D08-B153-0719D79DDFF7}"/>
              </a:ext>
            </a:extLst>
          </p:cNvPr>
          <p:cNvPicPr>
            <a:picLocks noChangeAspect="1"/>
          </p:cNvPicPr>
          <p:nvPr/>
        </p:nvPicPr>
        <p:blipFill>
          <a:blip r:embed="rId3"/>
          <a:stretch>
            <a:fillRect/>
          </a:stretch>
        </p:blipFill>
        <p:spPr>
          <a:xfrm>
            <a:off x="787003" y="2212834"/>
            <a:ext cx="4079930" cy="2524159"/>
          </a:xfrm>
          <a:prstGeom prst="rect">
            <a:avLst/>
          </a:prstGeom>
        </p:spPr>
      </p:pic>
      <p:pic>
        <p:nvPicPr>
          <p:cNvPr id="12" name="Picture 11">
            <a:extLst>
              <a:ext uri="{FF2B5EF4-FFF2-40B4-BE49-F238E27FC236}">
                <a16:creationId xmlns:a16="http://schemas.microsoft.com/office/drawing/2014/main" id="{27112707-605D-4D14-936B-797A6FDF86CF}"/>
              </a:ext>
            </a:extLst>
          </p:cNvPr>
          <p:cNvPicPr>
            <a:picLocks noChangeAspect="1"/>
          </p:cNvPicPr>
          <p:nvPr/>
        </p:nvPicPr>
        <p:blipFill>
          <a:blip r:embed="rId4"/>
          <a:stretch>
            <a:fillRect/>
          </a:stretch>
        </p:blipFill>
        <p:spPr>
          <a:xfrm>
            <a:off x="1071491" y="5144478"/>
            <a:ext cx="7060099" cy="1171159"/>
          </a:xfrm>
          <a:prstGeom prst="rect">
            <a:avLst/>
          </a:prstGeom>
        </p:spPr>
      </p:pic>
      <p:sp>
        <p:nvSpPr>
          <p:cNvPr id="13" name="TextBox 12">
            <a:extLst>
              <a:ext uri="{FF2B5EF4-FFF2-40B4-BE49-F238E27FC236}">
                <a16:creationId xmlns:a16="http://schemas.microsoft.com/office/drawing/2014/main" id="{EB57EEC3-A648-4F21-B3B1-405D56BA0273}"/>
              </a:ext>
            </a:extLst>
          </p:cNvPr>
          <p:cNvSpPr txBox="1"/>
          <p:nvPr/>
        </p:nvSpPr>
        <p:spPr>
          <a:xfrm>
            <a:off x="3498933" y="5480326"/>
            <a:ext cx="2736000" cy="369332"/>
          </a:xfrm>
          <a:prstGeom prst="rect">
            <a:avLst/>
          </a:prstGeom>
          <a:noFill/>
        </p:spPr>
        <p:txBody>
          <a:bodyPr wrap="square" rtlCol="0">
            <a:spAutoFit/>
          </a:bodyPr>
          <a:lstStyle/>
          <a:p>
            <a:r>
              <a:rPr lang="fr-FR" dirty="0" err="1">
                <a:highlight>
                  <a:srgbClr val="FFFF00"/>
                </a:highlight>
              </a:rPr>
              <a:t>OneApp</a:t>
            </a:r>
            <a:r>
              <a:rPr lang="fr-FR" dirty="0">
                <a:highlight>
                  <a:srgbClr val="FFFF00"/>
                </a:highlight>
              </a:rPr>
              <a:t> </a:t>
            </a:r>
            <a:r>
              <a:rPr lang="fr-FR" dirty="0" err="1">
                <a:highlight>
                  <a:srgbClr val="FFFF00"/>
                </a:highlight>
              </a:rPr>
              <a:t>microservices</a:t>
            </a:r>
            <a:endParaRPr lang="sv-SE" dirty="0">
              <a:highlight>
                <a:srgbClr val="FFFF00"/>
              </a:highlight>
            </a:endParaRPr>
          </a:p>
        </p:txBody>
      </p:sp>
      <p:sp>
        <p:nvSpPr>
          <p:cNvPr id="14" name="TextBox 13">
            <a:extLst>
              <a:ext uri="{FF2B5EF4-FFF2-40B4-BE49-F238E27FC236}">
                <a16:creationId xmlns:a16="http://schemas.microsoft.com/office/drawing/2014/main" id="{1453CAF5-20A2-4887-9E1C-66B804C179B6}"/>
              </a:ext>
            </a:extLst>
          </p:cNvPr>
          <p:cNvSpPr txBox="1"/>
          <p:nvPr/>
        </p:nvSpPr>
        <p:spPr>
          <a:xfrm>
            <a:off x="844777" y="3967814"/>
            <a:ext cx="3964381" cy="307777"/>
          </a:xfrm>
          <a:prstGeom prst="rect">
            <a:avLst/>
          </a:prstGeom>
          <a:noFill/>
        </p:spPr>
        <p:txBody>
          <a:bodyPr wrap="square" rtlCol="0">
            <a:spAutoFit/>
          </a:bodyPr>
          <a:lstStyle/>
          <a:p>
            <a:r>
              <a:rPr lang="fr-FR" sz="1400" dirty="0" err="1">
                <a:highlight>
                  <a:srgbClr val="FFFF00"/>
                </a:highlight>
              </a:rPr>
              <a:t>MobileApps</a:t>
            </a:r>
            <a:r>
              <a:rPr lang="fr-FR" sz="1400" dirty="0">
                <a:highlight>
                  <a:srgbClr val="FFFF00"/>
                </a:highlight>
              </a:rPr>
              <a:t> </a:t>
            </a:r>
            <a:r>
              <a:rPr lang="fr-FR" sz="1400" dirty="0" err="1">
                <a:highlight>
                  <a:srgbClr val="FFFF00"/>
                </a:highlight>
              </a:rPr>
              <a:t>consumerProfile</a:t>
            </a:r>
            <a:r>
              <a:rPr lang="fr-FR" sz="1400" dirty="0">
                <a:highlight>
                  <a:srgbClr val="FFFF00"/>
                </a:highlight>
              </a:rPr>
              <a:t> </a:t>
            </a:r>
            <a:r>
              <a:rPr lang="fr-FR" sz="1400" dirty="0" err="1">
                <a:highlight>
                  <a:srgbClr val="FFFF00"/>
                </a:highlight>
              </a:rPr>
              <a:t>microservices</a:t>
            </a:r>
            <a:endParaRPr lang="sv-SE" sz="1400" dirty="0">
              <a:highlight>
                <a:srgbClr val="FFFF00"/>
              </a:highlight>
            </a:endParaRPr>
          </a:p>
        </p:txBody>
      </p:sp>
      <p:sp>
        <p:nvSpPr>
          <p:cNvPr id="15" name="TextBox 14">
            <a:extLst>
              <a:ext uri="{FF2B5EF4-FFF2-40B4-BE49-F238E27FC236}">
                <a16:creationId xmlns:a16="http://schemas.microsoft.com/office/drawing/2014/main" id="{CF866A63-ABA7-4E4F-AEA8-AFADFE40E406}"/>
              </a:ext>
            </a:extLst>
          </p:cNvPr>
          <p:cNvSpPr txBox="1"/>
          <p:nvPr/>
        </p:nvSpPr>
        <p:spPr>
          <a:xfrm>
            <a:off x="8442308" y="3773022"/>
            <a:ext cx="2736000" cy="369332"/>
          </a:xfrm>
          <a:prstGeom prst="rect">
            <a:avLst/>
          </a:prstGeom>
          <a:noFill/>
        </p:spPr>
        <p:txBody>
          <a:bodyPr wrap="square" rtlCol="0">
            <a:spAutoFit/>
          </a:bodyPr>
          <a:lstStyle/>
          <a:p>
            <a:r>
              <a:rPr lang="fr-FR" dirty="0">
                <a:highlight>
                  <a:srgbClr val="FFFF00"/>
                </a:highlight>
              </a:rPr>
              <a:t>CDC APIM proxy</a:t>
            </a:r>
            <a:endParaRPr lang="sv-SE" dirty="0">
              <a:highlight>
                <a:srgbClr val="FFFF00"/>
              </a:highlight>
            </a:endParaRPr>
          </a:p>
        </p:txBody>
      </p:sp>
      <p:sp>
        <p:nvSpPr>
          <p:cNvPr id="17" name="Text Placeholder 4">
            <a:extLst>
              <a:ext uri="{FF2B5EF4-FFF2-40B4-BE49-F238E27FC236}">
                <a16:creationId xmlns:a16="http://schemas.microsoft.com/office/drawing/2014/main" id="{B19E8363-DE2A-4F00-A5A0-E6092BE4A4A4}"/>
              </a:ext>
            </a:extLst>
          </p:cNvPr>
          <p:cNvSpPr>
            <a:spLocks noGrp="1"/>
          </p:cNvSpPr>
          <p:nvPr>
            <p:ph type="body" sz="quarter" idx="15"/>
          </p:nvPr>
        </p:nvSpPr>
        <p:spPr>
          <a:xfrm>
            <a:off x="334928" y="1040406"/>
            <a:ext cx="11449050" cy="725347"/>
          </a:xfrm>
        </p:spPr>
        <p:txBody>
          <a:bodyPr/>
          <a:lstStyle/>
          <a:p>
            <a:r>
              <a:rPr lang="fr-FR" sz="1600" dirty="0"/>
              <a:t>Customer </a:t>
            </a:r>
            <a:r>
              <a:rPr lang="fr-FR" sz="1600" dirty="0" err="1"/>
              <a:t>passwords</a:t>
            </a:r>
            <a:r>
              <a:rPr lang="fr-FR" sz="1600" dirty="0"/>
              <a:t> are </a:t>
            </a:r>
            <a:r>
              <a:rPr lang="fr-FR" sz="1600" dirty="0" err="1"/>
              <a:t>exposed</a:t>
            </a:r>
            <a:r>
              <a:rPr lang="fr-FR" sz="1600" dirty="0"/>
              <a:t> and </a:t>
            </a:r>
            <a:r>
              <a:rPr lang="fr-FR" sz="1600" dirty="0" err="1"/>
              <a:t>available</a:t>
            </a:r>
            <a:r>
              <a:rPr lang="fr-FR" sz="1600" dirty="0"/>
              <a:t> in </a:t>
            </a:r>
            <a:r>
              <a:rPr lang="fr-FR" sz="1600" dirty="0" err="1"/>
              <a:t>plaintext</a:t>
            </a:r>
            <a:r>
              <a:rPr lang="fr-FR" sz="1600" dirty="0"/>
              <a:t> </a:t>
            </a:r>
            <a:r>
              <a:rPr lang="fr-FR" sz="1600" dirty="0" err="1"/>
              <a:t>across</a:t>
            </a:r>
            <a:r>
              <a:rPr lang="fr-FR" sz="1600" dirty="0"/>
              <a:t> </a:t>
            </a:r>
            <a:r>
              <a:rPr lang="fr-FR" sz="1600" dirty="0" err="1"/>
              <a:t>many</a:t>
            </a:r>
            <a:r>
              <a:rPr lang="fr-FR" sz="1600" dirty="0"/>
              <a:t> services/logs .</a:t>
            </a:r>
          </a:p>
          <a:p>
            <a:r>
              <a:rPr lang="fr-FR" sz="1600" dirty="0" err="1"/>
              <a:t>Many</a:t>
            </a:r>
            <a:r>
              <a:rPr lang="fr-FR" sz="1600" dirty="0"/>
              <a:t> </a:t>
            </a:r>
            <a:r>
              <a:rPr lang="fr-FR" sz="1600" dirty="0" err="1"/>
              <a:t>product</a:t>
            </a:r>
            <a:r>
              <a:rPr lang="fr-FR" sz="1600" dirty="0"/>
              <a:t> teams have </a:t>
            </a:r>
            <a:r>
              <a:rPr lang="fr-FR" sz="1600" dirty="0" err="1"/>
              <a:t>access</a:t>
            </a:r>
            <a:r>
              <a:rPr lang="fr-FR" sz="1600" dirty="0"/>
              <a:t> and are able to expose </a:t>
            </a:r>
            <a:r>
              <a:rPr lang="fr-FR" sz="1600" dirty="0" err="1"/>
              <a:t>unecrypted</a:t>
            </a:r>
            <a:r>
              <a:rPr lang="fr-FR" sz="1600" dirty="0"/>
              <a:t> </a:t>
            </a:r>
            <a:r>
              <a:rPr lang="fr-FR" sz="1600" dirty="0" err="1"/>
              <a:t>customer</a:t>
            </a:r>
            <a:r>
              <a:rPr lang="fr-FR" sz="1600" dirty="0"/>
              <a:t> </a:t>
            </a:r>
            <a:r>
              <a:rPr lang="fr-FR" sz="1600" dirty="0" err="1"/>
              <a:t>passwords</a:t>
            </a:r>
            <a:r>
              <a:rPr lang="fr-FR" sz="1600" dirty="0"/>
              <a:t>.</a:t>
            </a:r>
          </a:p>
        </p:txBody>
      </p:sp>
      <p:sp>
        <p:nvSpPr>
          <p:cNvPr id="16" name="Rectangle 15">
            <a:extLst>
              <a:ext uri="{FF2B5EF4-FFF2-40B4-BE49-F238E27FC236}">
                <a16:creationId xmlns:a16="http://schemas.microsoft.com/office/drawing/2014/main" id="{B24A35FB-07C7-4C44-9F7E-186F0E3A36E6}"/>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196492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F924E-EC86-4CE6-82E8-0074266390DA}"/>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435BCC01-B36E-4591-977B-6F832CC864FA}"/>
              </a:ext>
            </a:extLst>
          </p:cNvPr>
          <p:cNvSpPr>
            <a:spLocks noGrp="1"/>
          </p:cNvSpPr>
          <p:nvPr>
            <p:ph type="sldNum" sz="quarter" idx="13"/>
          </p:nvPr>
        </p:nvSpPr>
        <p:spPr/>
        <p:txBody>
          <a:bodyPr/>
          <a:lstStyle/>
          <a:p>
            <a:fld id="{09471650-AE8C-4F0A-9990-7EAE6F8DE484}" type="slidenum">
              <a:rPr lang="en-GB" smtClean="0"/>
              <a:pPr/>
              <a:t>8</a:t>
            </a:fld>
            <a:endParaRPr lang="en-GB" dirty="0"/>
          </a:p>
        </p:txBody>
      </p:sp>
      <p:sp>
        <p:nvSpPr>
          <p:cNvPr id="4" name="Footer Placeholder 3">
            <a:extLst>
              <a:ext uri="{FF2B5EF4-FFF2-40B4-BE49-F238E27FC236}">
                <a16:creationId xmlns:a16="http://schemas.microsoft.com/office/drawing/2014/main" id="{098BE096-20F8-4020-8BD5-2CD3C38D8973}"/>
              </a:ext>
            </a:extLst>
          </p:cNvPr>
          <p:cNvSpPr>
            <a:spLocks noGrp="1"/>
          </p:cNvSpPr>
          <p:nvPr>
            <p:ph type="ftr" sz="quarter" idx="14"/>
          </p:nvPr>
        </p:nvSpPr>
        <p:spPr/>
        <p:txBody>
          <a:bodyPr/>
          <a:lstStyle/>
          <a:p>
            <a:endParaRPr lang="en-GB" dirty="0"/>
          </a:p>
        </p:txBody>
      </p:sp>
      <p:sp>
        <p:nvSpPr>
          <p:cNvPr id="6" name="Title 5">
            <a:extLst>
              <a:ext uri="{FF2B5EF4-FFF2-40B4-BE49-F238E27FC236}">
                <a16:creationId xmlns:a16="http://schemas.microsoft.com/office/drawing/2014/main" id="{04C127E2-3FE8-4BED-9DBE-1C3F5828F996}"/>
              </a:ext>
            </a:extLst>
          </p:cNvPr>
          <p:cNvSpPr>
            <a:spLocks noGrp="1"/>
          </p:cNvSpPr>
          <p:nvPr>
            <p:ph type="title"/>
          </p:nvPr>
        </p:nvSpPr>
        <p:spPr/>
        <p:txBody>
          <a:bodyPr/>
          <a:lstStyle/>
          <a:p>
            <a:r>
              <a:rPr lang="fr-FR" dirty="0" err="1"/>
              <a:t>Other</a:t>
            </a:r>
            <a:r>
              <a:rPr lang="fr-FR" dirty="0"/>
              <a:t> PII data </a:t>
            </a:r>
            <a:r>
              <a:rPr lang="fr-FR" dirty="0" err="1"/>
              <a:t>logged</a:t>
            </a:r>
            <a:r>
              <a:rPr lang="fr-FR" dirty="0"/>
              <a:t> and </a:t>
            </a:r>
            <a:r>
              <a:rPr lang="fr-FR" dirty="0" err="1"/>
              <a:t>exposed</a:t>
            </a:r>
            <a:r>
              <a:rPr lang="fr-FR" dirty="0"/>
              <a:t> </a:t>
            </a:r>
            <a:r>
              <a:rPr lang="fr-FR" dirty="0" err="1"/>
              <a:t>from</a:t>
            </a:r>
            <a:r>
              <a:rPr lang="fr-FR" dirty="0"/>
              <a:t> T1 </a:t>
            </a:r>
            <a:r>
              <a:rPr lang="fr-FR" dirty="0" err="1"/>
              <a:t>channel</a:t>
            </a:r>
            <a:endParaRPr lang="sv-SE" dirty="0"/>
          </a:p>
        </p:txBody>
      </p:sp>
      <p:pic>
        <p:nvPicPr>
          <p:cNvPr id="7" name="Picture 6">
            <a:extLst>
              <a:ext uri="{FF2B5EF4-FFF2-40B4-BE49-F238E27FC236}">
                <a16:creationId xmlns:a16="http://schemas.microsoft.com/office/drawing/2014/main" id="{1E9D1D05-105A-4F37-98FD-0783D42A81E8}"/>
              </a:ext>
            </a:extLst>
          </p:cNvPr>
          <p:cNvPicPr>
            <a:picLocks noChangeAspect="1"/>
          </p:cNvPicPr>
          <p:nvPr/>
        </p:nvPicPr>
        <p:blipFill>
          <a:blip r:embed="rId2"/>
          <a:stretch>
            <a:fillRect/>
          </a:stretch>
        </p:blipFill>
        <p:spPr>
          <a:xfrm>
            <a:off x="285750" y="1793986"/>
            <a:ext cx="8014854" cy="1574903"/>
          </a:xfrm>
          <a:prstGeom prst="rect">
            <a:avLst/>
          </a:prstGeom>
        </p:spPr>
      </p:pic>
      <p:pic>
        <p:nvPicPr>
          <p:cNvPr id="10" name="Picture 9">
            <a:extLst>
              <a:ext uri="{FF2B5EF4-FFF2-40B4-BE49-F238E27FC236}">
                <a16:creationId xmlns:a16="http://schemas.microsoft.com/office/drawing/2014/main" id="{C0400612-969E-48A2-A5A6-D81C0DC8BAAA}"/>
              </a:ext>
            </a:extLst>
          </p:cNvPr>
          <p:cNvPicPr>
            <a:picLocks noChangeAspect="1"/>
          </p:cNvPicPr>
          <p:nvPr/>
        </p:nvPicPr>
        <p:blipFill>
          <a:blip r:embed="rId3"/>
          <a:stretch>
            <a:fillRect/>
          </a:stretch>
        </p:blipFill>
        <p:spPr>
          <a:xfrm>
            <a:off x="690995" y="4233766"/>
            <a:ext cx="7609609" cy="1808841"/>
          </a:xfrm>
          <a:prstGeom prst="rect">
            <a:avLst/>
          </a:prstGeom>
        </p:spPr>
      </p:pic>
      <p:sp>
        <p:nvSpPr>
          <p:cNvPr id="11" name="TextBox 10">
            <a:extLst>
              <a:ext uri="{FF2B5EF4-FFF2-40B4-BE49-F238E27FC236}">
                <a16:creationId xmlns:a16="http://schemas.microsoft.com/office/drawing/2014/main" id="{6869DBFF-A497-43FB-BC25-4040DFA598CB}"/>
              </a:ext>
            </a:extLst>
          </p:cNvPr>
          <p:cNvSpPr txBox="1"/>
          <p:nvPr/>
        </p:nvSpPr>
        <p:spPr>
          <a:xfrm>
            <a:off x="377994" y="1260474"/>
            <a:ext cx="1654541" cy="369332"/>
          </a:xfrm>
          <a:prstGeom prst="rect">
            <a:avLst/>
          </a:prstGeom>
          <a:noFill/>
        </p:spPr>
        <p:txBody>
          <a:bodyPr wrap="square" rtlCol="0">
            <a:spAutoFit/>
          </a:bodyPr>
          <a:lstStyle/>
          <a:p>
            <a:r>
              <a:rPr lang="fr-FR" dirty="0"/>
              <a:t>CDC/</a:t>
            </a:r>
            <a:r>
              <a:rPr lang="fr-FR" dirty="0" err="1"/>
              <a:t>GetInfo</a:t>
            </a:r>
            <a:endParaRPr lang="sv-SE" dirty="0"/>
          </a:p>
        </p:txBody>
      </p:sp>
      <p:sp>
        <p:nvSpPr>
          <p:cNvPr id="12" name="TextBox 11">
            <a:extLst>
              <a:ext uri="{FF2B5EF4-FFF2-40B4-BE49-F238E27FC236}">
                <a16:creationId xmlns:a16="http://schemas.microsoft.com/office/drawing/2014/main" id="{AA600D69-565E-4CCD-AEDB-7D13A6EF366C}"/>
              </a:ext>
            </a:extLst>
          </p:cNvPr>
          <p:cNvSpPr txBox="1"/>
          <p:nvPr/>
        </p:nvSpPr>
        <p:spPr>
          <a:xfrm>
            <a:off x="371474" y="3615005"/>
            <a:ext cx="1841790" cy="369332"/>
          </a:xfrm>
          <a:prstGeom prst="rect">
            <a:avLst/>
          </a:prstGeom>
          <a:noFill/>
        </p:spPr>
        <p:txBody>
          <a:bodyPr wrap="square" rtlCol="0">
            <a:spAutoFit/>
          </a:bodyPr>
          <a:lstStyle/>
          <a:p>
            <a:r>
              <a:rPr lang="fr-FR" dirty="0"/>
              <a:t>CDC/</a:t>
            </a:r>
            <a:r>
              <a:rPr lang="fr-FR" dirty="0" err="1"/>
              <a:t>Register</a:t>
            </a:r>
            <a:endParaRPr lang="sv-SE" dirty="0"/>
          </a:p>
        </p:txBody>
      </p:sp>
      <p:sp>
        <p:nvSpPr>
          <p:cNvPr id="13" name="Rectangle 12">
            <a:extLst>
              <a:ext uri="{FF2B5EF4-FFF2-40B4-BE49-F238E27FC236}">
                <a16:creationId xmlns:a16="http://schemas.microsoft.com/office/drawing/2014/main" id="{A20091AD-FBAE-476A-8307-399C3D01C0DE}"/>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B3ED64A-031D-C01D-B203-7C3C45C64C9C}"/>
                  </a:ext>
                </a:extLst>
              </p14:cNvPr>
              <p14:cNvContentPartPr/>
              <p14:nvPr/>
            </p14:nvContentPartPr>
            <p14:xfrm>
              <a:off x="4487902" y="2517810"/>
              <a:ext cx="267480" cy="13320"/>
            </p14:xfrm>
          </p:contentPart>
        </mc:Choice>
        <mc:Fallback xmlns="">
          <p:pic>
            <p:nvPicPr>
              <p:cNvPr id="5" name="Ink 4">
                <a:extLst>
                  <a:ext uri="{FF2B5EF4-FFF2-40B4-BE49-F238E27FC236}">
                    <a16:creationId xmlns:a16="http://schemas.microsoft.com/office/drawing/2014/main" id="{DB3ED64A-031D-C01D-B203-7C3C45C64C9C}"/>
                  </a:ext>
                </a:extLst>
              </p:cNvPr>
              <p:cNvPicPr/>
              <p:nvPr/>
            </p:nvPicPr>
            <p:blipFill>
              <a:blip r:embed="rId5"/>
              <a:stretch>
                <a:fillRect/>
              </a:stretch>
            </p:blipFill>
            <p:spPr>
              <a:xfrm>
                <a:off x="4479262" y="2508810"/>
                <a:ext cx="285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E51FE360-C0F2-0229-D2D0-E8F5270F7714}"/>
                  </a:ext>
                </a:extLst>
              </p14:cNvPr>
              <p14:cNvContentPartPr/>
              <p14:nvPr/>
            </p14:nvContentPartPr>
            <p14:xfrm>
              <a:off x="4507342" y="2439690"/>
              <a:ext cx="1351440" cy="110520"/>
            </p14:xfrm>
          </p:contentPart>
        </mc:Choice>
        <mc:Fallback xmlns="">
          <p:pic>
            <p:nvPicPr>
              <p:cNvPr id="8" name="Ink 7">
                <a:extLst>
                  <a:ext uri="{FF2B5EF4-FFF2-40B4-BE49-F238E27FC236}">
                    <a16:creationId xmlns:a16="http://schemas.microsoft.com/office/drawing/2014/main" id="{E51FE360-C0F2-0229-D2D0-E8F5270F7714}"/>
                  </a:ext>
                </a:extLst>
              </p:cNvPr>
              <p:cNvPicPr/>
              <p:nvPr/>
            </p:nvPicPr>
            <p:blipFill>
              <a:blip r:embed="rId7"/>
              <a:stretch>
                <a:fillRect/>
              </a:stretch>
            </p:blipFill>
            <p:spPr>
              <a:xfrm>
                <a:off x="4471702" y="2404050"/>
                <a:ext cx="14230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F2CE5DA3-7372-1BF1-8878-CCC3962C5D0E}"/>
                  </a:ext>
                </a:extLst>
              </p14:cNvPr>
              <p14:cNvContentPartPr/>
              <p14:nvPr/>
            </p14:nvContentPartPr>
            <p14:xfrm>
              <a:off x="6985582" y="2454450"/>
              <a:ext cx="294120" cy="63720"/>
            </p14:xfrm>
          </p:contentPart>
        </mc:Choice>
        <mc:Fallback xmlns="">
          <p:pic>
            <p:nvPicPr>
              <p:cNvPr id="9" name="Ink 8">
                <a:extLst>
                  <a:ext uri="{FF2B5EF4-FFF2-40B4-BE49-F238E27FC236}">
                    <a16:creationId xmlns:a16="http://schemas.microsoft.com/office/drawing/2014/main" id="{F2CE5DA3-7372-1BF1-8878-CCC3962C5D0E}"/>
                  </a:ext>
                </a:extLst>
              </p:cNvPr>
              <p:cNvPicPr/>
              <p:nvPr/>
            </p:nvPicPr>
            <p:blipFill>
              <a:blip r:embed="rId9"/>
              <a:stretch>
                <a:fillRect/>
              </a:stretch>
            </p:blipFill>
            <p:spPr>
              <a:xfrm>
                <a:off x="6949942" y="2418810"/>
                <a:ext cx="3657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C0AEB960-B9BF-76AE-1922-8468E2613BC3}"/>
                  </a:ext>
                </a:extLst>
              </p14:cNvPr>
              <p14:cNvContentPartPr/>
              <p14:nvPr/>
            </p14:nvContentPartPr>
            <p14:xfrm>
              <a:off x="1777102" y="2691690"/>
              <a:ext cx="470520" cy="360"/>
            </p14:xfrm>
          </p:contentPart>
        </mc:Choice>
        <mc:Fallback xmlns="">
          <p:pic>
            <p:nvPicPr>
              <p:cNvPr id="14" name="Ink 13">
                <a:extLst>
                  <a:ext uri="{FF2B5EF4-FFF2-40B4-BE49-F238E27FC236}">
                    <a16:creationId xmlns:a16="http://schemas.microsoft.com/office/drawing/2014/main" id="{C0AEB960-B9BF-76AE-1922-8468E2613BC3}"/>
                  </a:ext>
                </a:extLst>
              </p:cNvPr>
              <p:cNvPicPr/>
              <p:nvPr/>
            </p:nvPicPr>
            <p:blipFill>
              <a:blip r:embed="rId11"/>
              <a:stretch>
                <a:fillRect/>
              </a:stretch>
            </p:blipFill>
            <p:spPr>
              <a:xfrm>
                <a:off x="1741102" y="2655690"/>
                <a:ext cx="5421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504D397-02B7-12E2-A1C1-3DBE356E9D49}"/>
                  </a:ext>
                </a:extLst>
              </p14:cNvPr>
              <p14:cNvContentPartPr/>
              <p14:nvPr/>
            </p14:nvContentPartPr>
            <p14:xfrm>
              <a:off x="2582062" y="2498370"/>
              <a:ext cx="122760" cy="6840"/>
            </p14:xfrm>
          </p:contentPart>
        </mc:Choice>
        <mc:Fallback xmlns="">
          <p:pic>
            <p:nvPicPr>
              <p:cNvPr id="15" name="Ink 14">
                <a:extLst>
                  <a:ext uri="{FF2B5EF4-FFF2-40B4-BE49-F238E27FC236}">
                    <a16:creationId xmlns:a16="http://schemas.microsoft.com/office/drawing/2014/main" id="{3504D397-02B7-12E2-A1C1-3DBE356E9D49}"/>
                  </a:ext>
                </a:extLst>
              </p:cNvPr>
              <p:cNvPicPr/>
              <p:nvPr/>
            </p:nvPicPr>
            <p:blipFill>
              <a:blip r:embed="rId13"/>
              <a:stretch>
                <a:fillRect/>
              </a:stretch>
            </p:blipFill>
            <p:spPr>
              <a:xfrm>
                <a:off x="2546062" y="2462730"/>
                <a:ext cx="1944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39725258-155D-FCF6-AF0B-177D8BF31DCA}"/>
                  </a:ext>
                </a:extLst>
              </p14:cNvPr>
              <p14:cNvContentPartPr/>
              <p14:nvPr/>
            </p14:nvContentPartPr>
            <p14:xfrm>
              <a:off x="5273782" y="4629210"/>
              <a:ext cx="875880" cy="65520"/>
            </p14:xfrm>
          </p:contentPart>
        </mc:Choice>
        <mc:Fallback xmlns="">
          <p:pic>
            <p:nvPicPr>
              <p:cNvPr id="16" name="Ink 15">
                <a:extLst>
                  <a:ext uri="{FF2B5EF4-FFF2-40B4-BE49-F238E27FC236}">
                    <a16:creationId xmlns:a16="http://schemas.microsoft.com/office/drawing/2014/main" id="{39725258-155D-FCF6-AF0B-177D8BF31DCA}"/>
                  </a:ext>
                </a:extLst>
              </p:cNvPr>
              <p:cNvPicPr/>
              <p:nvPr/>
            </p:nvPicPr>
            <p:blipFill>
              <a:blip r:embed="rId15"/>
              <a:stretch>
                <a:fillRect/>
              </a:stretch>
            </p:blipFill>
            <p:spPr>
              <a:xfrm>
                <a:off x="5237782" y="4593210"/>
                <a:ext cx="947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A9145160-B6E6-F8FE-2FA9-4BAD56BA3EE7}"/>
                  </a:ext>
                </a:extLst>
              </p14:cNvPr>
              <p14:cNvContentPartPr/>
              <p14:nvPr/>
            </p14:nvContentPartPr>
            <p14:xfrm>
              <a:off x="7849582" y="4661610"/>
              <a:ext cx="236160" cy="19800"/>
            </p14:xfrm>
          </p:contentPart>
        </mc:Choice>
        <mc:Fallback xmlns="">
          <p:pic>
            <p:nvPicPr>
              <p:cNvPr id="17" name="Ink 16">
                <a:extLst>
                  <a:ext uri="{FF2B5EF4-FFF2-40B4-BE49-F238E27FC236}">
                    <a16:creationId xmlns:a16="http://schemas.microsoft.com/office/drawing/2014/main" id="{A9145160-B6E6-F8FE-2FA9-4BAD56BA3EE7}"/>
                  </a:ext>
                </a:extLst>
              </p:cNvPr>
              <p:cNvPicPr/>
              <p:nvPr/>
            </p:nvPicPr>
            <p:blipFill>
              <a:blip r:embed="rId17"/>
              <a:stretch>
                <a:fillRect/>
              </a:stretch>
            </p:blipFill>
            <p:spPr>
              <a:xfrm>
                <a:off x="7813942" y="4625970"/>
                <a:ext cx="307800" cy="91440"/>
              </a:xfrm>
              <a:prstGeom prst="rect">
                <a:avLst/>
              </a:prstGeom>
            </p:spPr>
          </p:pic>
        </mc:Fallback>
      </mc:AlternateContent>
      <p:sp>
        <p:nvSpPr>
          <p:cNvPr id="18" name="TextBox 17">
            <a:extLst>
              <a:ext uri="{FF2B5EF4-FFF2-40B4-BE49-F238E27FC236}">
                <a16:creationId xmlns:a16="http://schemas.microsoft.com/office/drawing/2014/main" id="{848D7E31-BDF4-DEFD-7A6E-C109B72D5925}"/>
              </a:ext>
            </a:extLst>
          </p:cNvPr>
          <p:cNvSpPr txBox="1"/>
          <p:nvPr/>
        </p:nvSpPr>
        <p:spPr>
          <a:xfrm>
            <a:off x="9083844" y="2331076"/>
            <a:ext cx="2417161" cy="3139321"/>
          </a:xfrm>
          <a:prstGeom prst="rect">
            <a:avLst/>
          </a:prstGeom>
          <a:noFill/>
        </p:spPr>
        <p:txBody>
          <a:bodyPr wrap="square" rtlCol="0">
            <a:spAutoFit/>
          </a:bodyPr>
          <a:lstStyle/>
          <a:p>
            <a:r>
              <a:rPr lang="fr-FR" dirty="0" err="1"/>
              <a:t>My</a:t>
            </a:r>
            <a:r>
              <a:rPr lang="fr-FR" dirty="0"/>
              <a:t> </a:t>
            </a:r>
            <a:r>
              <a:rPr lang="fr-FR" dirty="0" err="1"/>
              <a:t>personal</a:t>
            </a:r>
            <a:r>
              <a:rPr lang="fr-FR" dirty="0"/>
              <a:t> email and </a:t>
            </a:r>
            <a:r>
              <a:rPr lang="fr-FR" dirty="0" err="1"/>
              <a:t>password</a:t>
            </a:r>
            <a:r>
              <a:rPr lang="fr-FR" dirty="0"/>
              <a:t> </a:t>
            </a:r>
            <a:r>
              <a:rPr lang="fr-FR" dirty="0" err="1"/>
              <a:t>was</a:t>
            </a:r>
            <a:r>
              <a:rPr lang="fr-FR" dirty="0"/>
              <a:t> </a:t>
            </a:r>
            <a:r>
              <a:rPr lang="fr-FR" dirty="0" err="1"/>
              <a:t>reveiled</a:t>
            </a:r>
            <a:r>
              <a:rPr lang="fr-FR" dirty="0"/>
              <a:t> to more </a:t>
            </a:r>
            <a:r>
              <a:rPr lang="fr-FR" dirty="0" err="1"/>
              <a:t>than</a:t>
            </a:r>
            <a:r>
              <a:rPr lang="fr-FR" dirty="0"/>
              <a:t> 100 </a:t>
            </a:r>
            <a:r>
              <a:rPr lang="fr-FR" dirty="0" err="1"/>
              <a:t>employees</a:t>
            </a:r>
            <a:r>
              <a:rPr lang="fr-FR" dirty="0"/>
              <a:t> </a:t>
            </a:r>
            <a:r>
              <a:rPr lang="fr-FR" dirty="0" err="1"/>
              <a:t>from</a:t>
            </a:r>
            <a:r>
              <a:rPr lang="fr-FR" dirty="0"/>
              <a:t> </a:t>
            </a:r>
            <a:r>
              <a:rPr lang="fr-FR" dirty="0" err="1"/>
              <a:t>both</a:t>
            </a:r>
            <a:r>
              <a:rPr lang="fr-FR" dirty="0"/>
              <a:t> Electrolux and IBM </a:t>
            </a:r>
            <a:r>
              <a:rPr lang="fr-FR" dirty="0" err="1"/>
              <a:t>companies</a:t>
            </a:r>
            <a:r>
              <a:rPr lang="fr-FR" dirty="0"/>
              <a:t>, and </a:t>
            </a:r>
            <a:r>
              <a:rPr lang="fr-FR" dirty="0" err="1"/>
              <a:t>this</a:t>
            </a:r>
            <a:r>
              <a:rPr lang="fr-FR" dirty="0"/>
              <a:t> </a:t>
            </a:r>
            <a:r>
              <a:rPr lang="fr-FR" dirty="0" err="1"/>
              <a:t>caused</a:t>
            </a:r>
            <a:r>
              <a:rPr lang="fr-FR" dirty="0"/>
              <a:t> me a lot of </a:t>
            </a:r>
            <a:r>
              <a:rPr lang="fr-FR" dirty="0" err="1"/>
              <a:t>harm</a:t>
            </a:r>
            <a:r>
              <a:rPr lang="fr-FR" dirty="0"/>
              <a:t> as I use the </a:t>
            </a:r>
            <a:r>
              <a:rPr lang="fr-FR" dirty="0" err="1"/>
              <a:t>same</a:t>
            </a:r>
            <a:r>
              <a:rPr lang="fr-FR" dirty="0"/>
              <a:t> </a:t>
            </a:r>
            <a:r>
              <a:rPr lang="fr-FR" dirty="0" err="1"/>
              <a:t>password</a:t>
            </a:r>
            <a:r>
              <a:rPr lang="fr-FR" dirty="0"/>
              <a:t> for shopping and </a:t>
            </a:r>
            <a:r>
              <a:rPr lang="fr-FR" dirty="0" err="1"/>
              <a:t>other</a:t>
            </a:r>
            <a:r>
              <a:rPr lang="fr-FR" dirty="0"/>
              <a:t> like </a:t>
            </a:r>
            <a:r>
              <a:rPr lang="fr-FR" dirty="0" err="1"/>
              <a:t>my</a:t>
            </a:r>
            <a:r>
              <a:rPr lang="fr-FR" dirty="0"/>
              <a:t> </a:t>
            </a:r>
            <a:r>
              <a:rPr lang="fr-FR" dirty="0" err="1"/>
              <a:t>icloud</a:t>
            </a:r>
            <a:r>
              <a:rPr lang="fr-FR" dirty="0"/>
              <a:t> </a:t>
            </a:r>
            <a:r>
              <a:rPr lang="fr-FR" dirty="0" err="1"/>
              <a:t>account</a:t>
            </a:r>
            <a:r>
              <a:rPr lang="fr-FR" dirty="0"/>
              <a:t>.</a:t>
            </a:r>
            <a:endParaRPr lang="en-SE" dirty="0"/>
          </a:p>
        </p:txBody>
      </p:sp>
    </p:spTree>
    <p:extLst>
      <p:ext uri="{BB962C8B-B14F-4D97-AF65-F5344CB8AC3E}">
        <p14:creationId xmlns:p14="http://schemas.microsoft.com/office/powerpoint/2010/main" val="1524917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ADFD6B-649B-474C-AA86-327453BFCDAA}"/>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75B559AE-7FD2-44C6-BD44-54AB3C08C43E}"/>
              </a:ext>
            </a:extLst>
          </p:cNvPr>
          <p:cNvSpPr>
            <a:spLocks noGrp="1"/>
          </p:cNvSpPr>
          <p:nvPr>
            <p:ph type="sldNum" sz="quarter" idx="13"/>
          </p:nvPr>
        </p:nvSpPr>
        <p:spPr/>
        <p:txBody>
          <a:bodyPr/>
          <a:lstStyle/>
          <a:p>
            <a:fld id="{09471650-AE8C-4F0A-9990-7EAE6F8DE484}" type="slidenum">
              <a:rPr lang="en-GB" smtClean="0"/>
              <a:pPr/>
              <a:t>9</a:t>
            </a:fld>
            <a:endParaRPr lang="en-GB" dirty="0"/>
          </a:p>
        </p:txBody>
      </p:sp>
      <p:sp>
        <p:nvSpPr>
          <p:cNvPr id="4" name="Footer Placeholder 3">
            <a:extLst>
              <a:ext uri="{FF2B5EF4-FFF2-40B4-BE49-F238E27FC236}">
                <a16:creationId xmlns:a16="http://schemas.microsoft.com/office/drawing/2014/main" id="{D195AB6F-091A-4604-AC02-AB16DDBB6E55}"/>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5482AA4F-BE3B-4CB9-B42A-2F81D7C47A10}"/>
              </a:ext>
            </a:extLst>
          </p:cNvPr>
          <p:cNvSpPr>
            <a:spLocks noGrp="1"/>
          </p:cNvSpPr>
          <p:nvPr>
            <p:ph type="body" sz="quarter" idx="15"/>
          </p:nvPr>
        </p:nvSpPr>
        <p:spPr>
          <a:xfrm>
            <a:off x="371474" y="1333500"/>
            <a:ext cx="9364807" cy="4412252"/>
          </a:xfrm>
        </p:spPr>
        <p:txBody>
          <a:bodyPr/>
          <a:lstStyle/>
          <a:p>
            <a:r>
              <a:rPr lang="fr-FR" sz="1800" dirty="0"/>
              <a:t>CDC </a:t>
            </a:r>
            <a:r>
              <a:rPr lang="fr-FR" sz="1800" dirty="0" err="1"/>
              <a:t>Credentials</a:t>
            </a:r>
            <a:r>
              <a:rPr lang="fr-FR" sz="1800" dirty="0"/>
              <a:t> </a:t>
            </a:r>
            <a:r>
              <a:rPr lang="fr-FR" sz="1800" dirty="0" err="1"/>
              <a:t>exposed</a:t>
            </a:r>
            <a:r>
              <a:rPr lang="fr-FR" sz="1800" dirty="0"/>
              <a:t> and not </a:t>
            </a:r>
            <a:r>
              <a:rPr lang="fr-FR" sz="1800" dirty="0" err="1"/>
              <a:t>safely</a:t>
            </a:r>
            <a:r>
              <a:rPr lang="fr-FR" sz="1800" dirty="0"/>
              <a:t> </a:t>
            </a:r>
            <a:r>
              <a:rPr lang="fr-FR" sz="1800" dirty="0" err="1"/>
              <a:t>guarded</a:t>
            </a:r>
            <a:r>
              <a:rPr lang="fr-FR" sz="1800" dirty="0"/>
              <a:t>.</a:t>
            </a:r>
          </a:p>
          <a:p>
            <a:r>
              <a:rPr lang="fr-FR" sz="1800" dirty="0"/>
              <a:t>All CDC secrets and </a:t>
            </a:r>
            <a:r>
              <a:rPr lang="fr-FR" sz="1800" dirty="0" err="1"/>
              <a:t>channel</a:t>
            </a:r>
            <a:r>
              <a:rPr lang="fr-FR" sz="1800" dirty="0"/>
              <a:t> </a:t>
            </a:r>
            <a:r>
              <a:rPr lang="fr-FR" sz="1800" dirty="0" err="1"/>
              <a:t>APIKeys</a:t>
            </a:r>
            <a:r>
              <a:rPr lang="fr-FR" sz="1800" dirty="0"/>
              <a:t> </a:t>
            </a:r>
            <a:r>
              <a:rPr lang="fr-FR" sz="1800" dirty="0" err="1"/>
              <a:t>were</a:t>
            </a:r>
            <a:r>
              <a:rPr lang="fr-FR" sz="1800" dirty="0"/>
              <a:t> </a:t>
            </a:r>
            <a:r>
              <a:rPr lang="fr-FR" sz="1800" dirty="0" err="1"/>
              <a:t>exposed</a:t>
            </a:r>
            <a:r>
              <a:rPr lang="fr-FR" sz="1800" dirty="0"/>
              <a:t>, </a:t>
            </a:r>
            <a:r>
              <a:rPr lang="fr-FR" sz="1800" dirty="0" err="1"/>
              <a:t>means</a:t>
            </a:r>
            <a:r>
              <a:rPr lang="fr-FR" sz="1800" dirty="0"/>
              <a:t> </a:t>
            </a:r>
            <a:r>
              <a:rPr lang="fr-FR" sz="1800" dirty="0" err="1"/>
              <a:t>that</a:t>
            </a:r>
            <a:r>
              <a:rPr lang="fr-FR" sz="1800" dirty="0"/>
              <a:t> </a:t>
            </a:r>
            <a:r>
              <a:rPr lang="fr-FR" sz="1800" dirty="0" err="1"/>
              <a:t>anyone</a:t>
            </a:r>
            <a:r>
              <a:rPr lang="fr-FR" sz="1800" dirty="0"/>
              <a:t> can </a:t>
            </a:r>
            <a:r>
              <a:rPr lang="fr-FR" sz="1800" dirty="0" err="1"/>
              <a:t>impersonate</a:t>
            </a:r>
            <a:r>
              <a:rPr lang="fr-FR" sz="1800" dirty="0"/>
              <a:t> a client app.</a:t>
            </a:r>
          </a:p>
          <a:p>
            <a:r>
              <a:rPr lang="fr-FR" sz="1800" dirty="0" err="1"/>
              <a:t>Any</a:t>
            </a:r>
            <a:r>
              <a:rPr lang="fr-FR" sz="1800" dirty="0"/>
              <a:t> user can </a:t>
            </a:r>
            <a:r>
              <a:rPr lang="fr-FR" sz="1800" dirty="0" err="1"/>
              <a:t>connect</a:t>
            </a:r>
            <a:r>
              <a:rPr lang="fr-FR" sz="1800" dirty="0"/>
              <a:t> to </a:t>
            </a:r>
            <a:r>
              <a:rPr lang="fr-FR" sz="1800" dirty="0" err="1"/>
              <a:t>cdc</a:t>
            </a:r>
            <a:r>
              <a:rPr lang="fr-FR" sz="1800" dirty="0"/>
              <a:t> and </a:t>
            </a:r>
            <a:r>
              <a:rPr lang="fr-FR" sz="1800" dirty="0" err="1"/>
              <a:t>get</a:t>
            </a:r>
            <a:r>
              <a:rPr lang="fr-FR" sz="1800" dirty="0"/>
              <a:t> all </a:t>
            </a:r>
            <a:r>
              <a:rPr lang="fr-FR" sz="1800" dirty="0" err="1"/>
              <a:t>available</a:t>
            </a:r>
            <a:r>
              <a:rPr lang="fr-FR" sz="1800" dirty="0"/>
              <a:t> </a:t>
            </a:r>
            <a:r>
              <a:rPr lang="fr-FR" sz="1800" dirty="0" err="1"/>
              <a:t>customer</a:t>
            </a:r>
            <a:r>
              <a:rPr lang="fr-FR" sz="1800" dirty="0"/>
              <a:t> data for </a:t>
            </a:r>
            <a:r>
              <a:rPr lang="fr-FR" sz="1800" dirty="0" err="1"/>
              <a:t>practically</a:t>
            </a:r>
            <a:r>
              <a:rPr lang="fr-FR" sz="1800" dirty="0"/>
              <a:t> all channels.</a:t>
            </a:r>
          </a:p>
          <a:p>
            <a:r>
              <a:rPr lang="fr-FR" sz="1800" dirty="0"/>
              <a:t>There </a:t>
            </a:r>
            <a:r>
              <a:rPr lang="fr-FR" sz="1800" dirty="0" err="1"/>
              <a:t>is</a:t>
            </a:r>
            <a:r>
              <a:rPr lang="fr-FR" sz="1800" dirty="0"/>
              <a:t> no </a:t>
            </a:r>
            <a:r>
              <a:rPr lang="fr-FR" sz="1800" dirty="0" err="1"/>
              <a:t>way</a:t>
            </a:r>
            <a:r>
              <a:rPr lang="fr-FR" sz="1800" dirty="0"/>
              <a:t> to </a:t>
            </a:r>
            <a:r>
              <a:rPr lang="fr-FR" sz="1800" dirty="0" err="1"/>
              <a:t>confirm</a:t>
            </a:r>
            <a:r>
              <a:rPr lang="fr-FR" sz="1800" dirty="0"/>
              <a:t> </a:t>
            </a:r>
            <a:r>
              <a:rPr lang="fr-FR" sz="1800" dirty="0" err="1"/>
              <a:t>that</a:t>
            </a:r>
            <a:r>
              <a:rPr lang="fr-FR" sz="1800" dirty="0"/>
              <a:t> </a:t>
            </a:r>
            <a:r>
              <a:rPr lang="fr-FR" sz="1800" dirty="0" err="1"/>
              <a:t>nothing</a:t>
            </a:r>
            <a:r>
              <a:rPr lang="fr-FR" sz="1800" dirty="0"/>
              <a:t> </a:t>
            </a:r>
            <a:r>
              <a:rPr lang="fr-FR" sz="1800" dirty="0" err="1"/>
              <a:t>malicious</a:t>
            </a:r>
            <a:r>
              <a:rPr lang="fr-FR" sz="1800" dirty="0"/>
              <a:t> </a:t>
            </a:r>
            <a:r>
              <a:rPr lang="fr-FR" sz="1800" dirty="0" err="1"/>
              <a:t>happened</a:t>
            </a:r>
            <a:r>
              <a:rPr lang="fr-FR" sz="1800" dirty="0"/>
              <a:t> </a:t>
            </a:r>
            <a:r>
              <a:rPr lang="fr-FR" sz="1800" dirty="0" err="1"/>
              <a:t>during</a:t>
            </a:r>
            <a:r>
              <a:rPr lang="fr-FR" sz="1800" b="1" dirty="0"/>
              <a:t> 1 </a:t>
            </a:r>
            <a:r>
              <a:rPr lang="fr-FR" sz="1800" b="1" dirty="0" err="1"/>
              <a:t>year</a:t>
            </a:r>
            <a:r>
              <a:rPr lang="fr-FR" sz="1800" b="1" dirty="0"/>
              <a:t> of </a:t>
            </a:r>
            <a:r>
              <a:rPr lang="fr-FR" sz="1800" b="1" dirty="0" err="1"/>
              <a:t>exposure</a:t>
            </a:r>
            <a:r>
              <a:rPr lang="fr-FR" sz="1800" b="1" dirty="0"/>
              <a:t> and long </a:t>
            </a:r>
            <a:r>
              <a:rPr lang="fr-FR" sz="1800" b="1" dirty="0" err="1"/>
              <a:t>period</a:t>
            </a:r>
            <a:r>
              <a:rPr lang="fr-FR" sz="1800" b="1" dirty="0"/>
              <a:t> of data manipulation and </a:t>
            </a:r>
            <a:r>
              <a:rPr lang="fr-FR" sz="1800" b="1" dirty="0" err="1"/>
              <a:t>replication</a:t>
            </a:r>
            <a:r>
              <a:rPr lang="fr-FR" sz="1800" b="1" dirty="0"/>
              <a:t> </a:t>
            </a:r>
            <a:r>
              <a:rPr lang="fr-FR" sz="1800" b="1" dirty="0" err="1"/>
              <a:t>across</a:t>
            </a:r>
            <a:r>
              <a:rPr lang="fr-FR" sz="1800" b="1" dirty="0"/>
              <a:t> </a:t>
            </a:r>
            <a:r>
              <a:rPr lang="fr-FR" sz="1800" b="1" dirty="0" err="1"/>
              <a:t>systems</a:t>
            </a:r>
            <a:r>
              <a:rPr lang="fr-FR" sz="1800" b="1" dirty="0"/>
              <a:t>. Like </a:t>
            </a:r>
            <a:r>
              <a:rPr lang="fr-FR" sz="1600" dirty="0"/>
              <a:t>(</a:t>
            </a:r>
            <a:r>
              <a:rPr lang="fr-FR" sz="1600" dirty="0" err="1"/>
              <a:t>CIAM,CRM,MarketingPermissions,Appointments</a:t>
            </a:r>
            <a:r>
              <a:rPr lang="fr-FR" sz="1600" dirty="0"/>
              <a:t>/</a:t>
            </a:r>
            <a:r>
              <a:rPr lang="fr-FR" sz="1600" dirty="0" err="1"/>
              <a:t>Bookings</a:t>
            </a:r>
            <a:r>
              <a:rPr lang="fr-FR" sz="1600" dirty="0"/>
              <a:t>)</a:t>
            </a:r>
            <a:endParaRPr lang="sv-SE" sz="1600" dirty="0"/>
          </a:p>
          <a:p>
            <a:endParaRPr lang="fr-FR" sz="1800" dirty="0"/>
          </a:p>
          <a:p>
            <a:r>
              <a:rPr lang="fr-FR" sz="1800" dirty="0" err="1"/>
              <a:t>Any</a:t>
            </a:r>
            <a:r>
              <a:rPr lang="fr-FR" sz="1800" dirty="0"/>
              <a:t> user can </a:t>
            </a:r>
            <a:r>
              <a:rPr lang="fr-FR" sz="1800" dirty="0" err="1"/>
              <a:t>authenticate</a:t>
            </a:r>
            <a:r>
              <a:rPr lang="fr-FR" sz="1800" dirty="0"/>
              <a:t> to CDC Or C4C for </a:t>
            </a:r>
            <a:r>
              <a:rPr lang="fr-FR" sz="1800" dirty="0" err="1"/>
              <a:t>that</a:t>
            </a:r>
            <a:r>
              <a:rPr lang="fr-FR" sz="1800" dirty="0"/>
              <a:t> </a:t>
            </a:r>
            <a:r>
              <a:rPr lang="fr-FR" sz="1800" dirty="0" err="1"/>
              <a:t>matters</a:t>
            </a:r>
            <a:r>
              <a:rPr lang="fr-FR" sz="1800" dirty="0"/>
              <a:t> and </a:t>
            </a:r>
            <a:r>
              <a:rPr lang="fr-FR" sz="1800" dirty="0" err="1"/>
              <a:t>get</a:t>
            </a:r>
            <a:r>
              <a:rPr lang="fr-FR" sz="1800" dirty="0"/>
              <a:t> </a:t>
            </a:r>
            <a:r>
              <a:rPr lang="fr-FR" sz="1800" dirty="0" err="1"/>
              <a:t>customer</a:t>
            </a:r>
            <a:r>
              <a:rPr lang="fr-FR" sz="1800" dirty="0"/>
              <a:t> data.</a:t>
            </a:r>
          </a:p>
          <a:p>
            <a:endParaRPr lang="fr-FR" sz="1800" dirty="0"/>
          </a:p>
          <a:p>
            <a:r>
              <a:rPr lang="fr-FR" sz="1800" dirty="0"/>
              <a:t>No IP restriction or </a:t>
            </a:r>
            <a:r>
              <a:rPr lang="fr-FR" sz="1800" dirty="0" err="1"/>
              <a:t>mutual</a:t>
            </a:r>
            <a:r>
              <a:rPr lang="fr-FR" sz="1800" dirty="0"/>
              <a:t> TLS </a:t>
            </a:r>
            <a:r>
              <a:rPr lang="fr-FR" sz="1800" dirty="0" err="1"/>
              <a:t>between</a:t>
            </a:r>
            <a:r>
              <a:rPr lang="fr-FR" sz="1800" dirty="0"/>
              <a:t> (</a:t>
            </a:r>
            <a:r>
              <a:rPr lang="fr-FR" sz="1800" dirty="0" err="1"/>
              <a:t>Proxies,APIs,Services</a:t>
            </a:r>
            <a:r>
              <a:rPr lang="fr-FR" sz="1800" dirty="0"/>
              <a:t>) and (CDC,C4C,yMKT,FSM..)</a:t>
            </a:r>
          </a:p>
        </p:txBody>
      </p:sp>
      <p:sp>
        <p:nvSpPr>
          <p:cNvPr id="6" name="Title 5">
            <a:extLst>
              <a:ext uri="{FF2B5EF4-FFF2-40B4-BE49-F238E27FC236}">
                <a16:creationId xmlns:a16="http://schemas.microsoft.com/office/drawing/2014/main" id="{E9DB3D9D-CBB9-447E-B005-D6DF68AB80F4}"/>
              </a:ext>
            </a:extLst>
          </p:cNvPr>
          <p:cNvSpPr>
            <a:spLocks noGrp="1"/>
          </p:cNvSpPr>
          <p:nvPr>
            <p:ph type="title"/>
          </p:nvPr>
        </p:nvSpPr>
        <p:spPr/>
        <p:txBody>
          <a:bodyPr/>
          <a:lstStyle/>
          <a:p>
            <a:r>
              <a:rPr lang="fr-FR" dirty="0"/>
              <a:t>Issue 2: CIAM system </a:t>
            </a:r>
            <a:r>
              <a:rPr lang="fr-FR" dirty="0" err="1"/>
              <a:t>credentials</a:t>
            </a:r>
            <a:endParaRPr lang="sv-SE" dirty="0"/>
          </a:p>
        </p:txBody>
      </p:sp>
      <p:pic>
        <p:nvPicPr>
          <p:cNvPr id="7" name="Picture 6">
            <a:extLst>
              <a:ext uri="{FF2B5EF4-FFF2-40B4-BE49-F238E27FC236}">
                <a16:creationId xmlns:a16="http://schemas.microsoft.com/office/drawing/2014/main" id="{9B771947-6D7A-4D6E-AAB9-047798E64BA9}"/>
              </a:ext>
            </a:extLst>
          </p:cNvPr>
          <p:cNvPicPr>
            <a:picLocks noChangeAspect="1"/>
          </p:cNvPicPr>
          <p:nvPr/>
        </p:nvPicPr>
        <p:blipFill>
          <a:blip r:embed="rId2"/>
          <a:stretch>
            <a:fillRect/>
          </a:stretch>
        </p:blipFill>
        <p:spPr>
          <a:xfrm>
            <a:off x="9736281" y="3837389"/>
            <a:ext cx="2597335" cy="2487846"/>
          </a:xfrm>
          <a:prstGeom prst="rect">
            <a:avLst/>
          </a:prstGeom>
        </p:spPr>
      </p:pic>
      <p:sp>
        <p:nvSpPr>
          <p:cNvPr id="8" name="Rectangle 7">
            <a:extLst>
              <a:ext uri="{FF2B5EF4-FFF2-40B4-BE49-F238E27FC236}">
                <a16:creationId xmlns:a16="http://schemas.microsoft.com/office/drawing/2014/main" id="{33C5E306-E60A-48B1-948D-673AE3D6049E}"/>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13724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CF84D1-647E-40F4-8B09-3DF2858AD02B}"/>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BB79CBD9-34AA-4EFF-91DC-D4F72A9EF4EB}"/>
              </a:ext>
            </a:extLst>
          </p:cNvPr>
          <p:cNvSpPr>
            <a:spLocks noGrp="1"/>
          </p:cNvSpPr>
          <p:nvPr>
            <p:ph type="sldNum" sz="quarter" idx="13"/>
          </p:nvPr>
        </p:nvSpPr>
        <p:spPr/>
        <p:txBody>
          <a:bodyPr/>
          <a:lstStyle/>
          <a:p>
            <a:fld id="{09471650-AE8C-4F0A-9990-7EAE6F8DE484}" type="slidenum">
              <a:rPr lang="en-GB" smtClean="0"/>
              <a:pPr/>
              <a:t>10</a:t>
            </a:fld>
            <a:endParaRPr lang="en-GB" dirty="0"/>
          </a:p>
        </p:txBody>
      </p:sp>
      <p:sp>
        <p:nvSpPr>
          <p:cNvPr id="4" name="Footer Placeholder 3">
            <a:extLst>
              <a:ext uri="{FF2B5EF4-FFF2-40B4-BE49-F238E27FC236}">
                <a16:creationId xmlns:a16="http://schemas.microsoft.com/office/drawing/2014/main" id="{6B8C6484-9876-49A4-9392-AF65C6862380}"/>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831E9D66-B88B-4A3C-BE6D-090BBDA586C6}"/>
              </a:ext>
            </a:extLst>
          </p:cNvPr>
          <p:cNvSpPr>
            <a:spLocks noGrp="1"/>
          </p:cNvSpPr>
          <p:nvPr>
            <p:ph type="body" sz="quarter" idx="15"/>
          </p:nvPr>
        </p:nvSpPr>
        <p:spPr/>
        <p:txBody>
          <a:bodyPr/>
          <a:lstStyle/>
          <a:p>
            <a:r>
              <a:rPr lang="fr-FR" dirty="0"/>
              <a:t>All CDC keys and secrets </a:t>
            </a:r>
            <a:r>
              <a:rPr lang="fr-FR" dirty="0" err="1"/>
              <a:t>exposed</a:t>
            </a:r>
            <a:r>
              <a:rPr lang="fr-FR" dirty="0"/>
              <a:t> </a:t>
            </a:r>
            <a:r>
              <a:rPr lang="fr-FR" dirty="0" err="1"/>
              <a:t>means</a:t>
            </a:r>
            <a:r>
              <a:rPr lang="fr-FR" dirty="0"/>
              <a:t> </a:t>
            </a:r>
            <a:r>
              <a:rPr lang="fr-FR" dirty="0" err="1"/>
              <a:t>that</a:t>
            </a:r>
            <a:r>
              <a:rPr lang="fr-FR" dirty="0"/>
              <a:t> all client apps </a:t>
            </a:r>
            <a:r>
              <a:rPr lang="fr-FR" dirty="0" err="1"/>
              <a:t>consuming</a:t>
            </a:r>
            <a:r>
              <a:rPr lang="fr-FR" dirty="0"/>
              <a:t> </a:t>
            </a:r>
            <a:r>
              <a:rPr lang="fr-FR" dirty="0" err="1"/>
              <a:t>those</a:t>
            </a:r>
            <a:r>
              <a:rPr lang="fr-FR" dirty="0"/>
              <a:t> secrets </a:t>
            </a:r>
            <a:r>
              <a:rPr lang="fr-FR" dirty="0" err="1"/>
              <a:t>were</a:t>
            </a:r>
            <a:r>
              <a:rPr lang="fr-FR" dirty="0"/>
              <a:t> </a:t>
            </a:r>
            <a:r>
              <a:rPr lang="fr-FR" dirty="0" err="1"/>
              <a:t>compromised</a:t>
            </a:r>
            <a:r>
              <a:rPr lang="fr-FR" dirty="0"/>
              <a:t>.</a:t>
            </a:r>
          </a:p>
          <a:p>
            <a:endParaRPr lang="fr-FR" dirty="0"/>
          </a:p>
          <a:p>
            <a:r>
              <a:rPr lang="fr-FR" dirty="0"/>
              <a:t>This </a:t>
            </a:r>
            <a:r>
              <a:rPr lang="fr-FR" dirty="0" err="1"/>
              <a:t>means</a:t>
            </a:r>
            <a:r>
              <a:rPr lang="fr-FR" dirty="0"/>
              <a:t> </a:t>
            </a:r>
            <a:r>
              <a:rPr lang="fr-FR" dirty="0" err="1"/>
              <a:t>that</a:t>
            </a:r>
            <a:r>
              <a:rPr lang="fr-FR" dirty="0"/>
              <a:t> </a:t>
            </a:r>
            <a:r>
              <a:rPr lang="fr-FR" dirty="0" err="1"/>
              <a:t>anyone</a:t>
            </a:r>
            <a:r>
              <a:rPr lang="fr-FR" dirty="0"/>
              <a:t> can </a:t>
            </a:r>
            <a:r>
              <a:rPr lang="fr-FR" dirty="0" err="1"/>
              <a:t>impersonate</a:t>
            </a:r>
            <a:r>
              <a:rPr lang="fr-FR" dirty="0"/>
              <a:t> a </a:t>
            </a:r>
            <a:r>
              <a:rPr lang="fr-FR" dirty="0" err="1"/>
              <a:t>channel</a:t>
            </a:r>
            <a:r>
              <a:rPr lang="fr-FR" dirty="0"/>
              <a:t> and </a:t>
            </a:r>
            <a:r>
              <a:rPr lang="fr-FR" dirty="0" err="1"/>
              <a:t>act</a:t>
            </a:r>
            <a:r>
              <a:rPr lang="fr-FR" dirty="0"/>
              <a:t> on </a:t>
            </a:r>
            <a:r>
              <a:rPr lang="fr-FR" dirty="0" err="1"/>
              <a:t>behalf</a:t>
            </a:r>
            <a:r>
              <a:rPr lang="fr-FR" dirty="0"/>
              <a:t> of </a:t>
            </a:r>
            <a:r>
              <a:rPr lang="fr-FR" dirty="0" err="1"/>
              <a:t>it</a:t>
            </a:r>
            <a:r>
              <a:rPr lang="fr-FR" dirty="0"/>
              <a:t> to do </a:t>
            </a:r>
            <a:r>
              <a:rPr lang="fr-FR" dirty="0" err="1"/>
              <a:t>malicious</a:t>
            </a:r>
            <a:r>
              <a:rPr lang="fr-FR" dirty="0"/>
              <a:t> action on the </a:t>
            </a:r>
            <a:r>
              <a:rPr lang="fr-FR" dirty="0" err="1"/>
              <a:t>customer</a:t>
            </a:r>
            <a:r>
              <a:rPr lang="fr-FR" dirty="0"/>
              <a:t> data </a:t>
            </a:r>
            <a:r>
              <a:rPr lang="fr-FR" dirty="0" err="1"/>
              <a:t>available</a:t>
            </a:r>
            <a:r>
              <a:rPr lang="fr-FR" dirty="0"/>
              <a:t> to the </a:t>
            </a:r>
            <a:r>
              <a:rPr lang="fr-FR" dirty="0" err="1"/>
              <a:t>channel</a:t>
            </a:r>
            <a:r>
              <a:rPr lang="fr-FR" dirty="0"/>
              <a:t>.</a:t>
            </a:r>
          </a:p>
          <a:p>
            <a:endParaRPr lang="fr-FR" dirty="0"/>
          </a:p>
          <a:p>
            <a:r>
              <a:rPr lang="sv-SE" dirty="0" err="1"/>
              <a:t>This</a:t>
            </a:r>
            <a:r>
              <a:rPr lang="sv-SE" dirty="0"/>
              <a:t> situation is </a:t>
            </a:r>
            <a:r>
              <a:rPr lang="sv-SE" dirty="0" err="1"/>
              <a:t>there</a:t>
            </a:r>
            <a:r>
              <a:rPr lang="sv-SE" dirty="0"/>
              <a:t> for a </a:t>
            </a:r>
            <a:r>
              <a:rPr lang="sv-SE" dirty="0" err="1"/>
              <a:t>year</a:t>
            </a:r>
            <a:r>
              <a:rPr lang="sv-SE" dirty="0"/>
              <a:t>.</a:t>
            </a:r>
          </a:p>
          <a:p>
            <a:endParaRPr lang="sv-SE" dirty="0"/>
          </a:p>
          <a:p>
            <a:r>
              <a:rPr lang="sv-SE" dirty="0" err="1">
                <a:solidFill>
                  <a:srgbClr val="FF0000"/>
                </a:solidFill>
              </a:rPr>
              <a:t>We</a:t>
            </a:r>
            <a:r>
              <a:rPr lang="sv-SE" dirty="0">
                <a:solidFill>
                  <a:srgbClr val="FF0000"/>
                </a:solidFill>
              </a:rPr>
              <a:t> </a:t>
            </a:r>
            <a:r>
              <a:rPr lang="sv-SE" dirty="0" err="1">
                <a:solidFill>
                  <a:srgbClr val="FF0000"/>
                </a:solidFill>
              </a:rPr>
              <a:t>are</a:t>
            </a:r>
            <a:r>
              <a:rPr lang="sv-SE" dirty="0">
                <a:solidFill>
                  <a:srgbClr val="FF0000"/>
                </a:solidFill>
              </a:rPr>
              <a:t> </a:t>
            </a:r>
            <a:r>
              <a:rPr lang="sv-SE" dirty="0" err="1">
                <a:solidFill>
                  <a:srgbClr val="FF0000"/>
                </a:solidFill>
              </a:rPr>
              <a:t>currently</a:t>
            </a:r>
            <a:r>
              <a:rPr lang="sv-SE" dirty="0">
                <a:solidFill>
                  <a:srgbClr val="FF0000"/>
                </a:solidFill>
              </a:rPr>
              <a:t> </a:t>
            </a:r>
            <a:r>
              <a:rPr lang="sv-SE" dirty="0" err="1">
                <a:solidFill>
                  <a:srgbClr val="FF0000"/>
                </a:solidFill>
              </a:rPr>
              <a:t>extending</a:t>
            </a:r>
            <a:r>
              <a:rPr lang="sv-SE" dirty="0">
                <a:solidFill>
                  <a:srgbClr val="FF0000"/>
                </a:solidFill>
              </a:rPr>
              <a:t> </a:t>
            </a:r>
            <a:r>
              <a:rPr lang="sv-SE" dirty="0" err="1">
                <a:solidFill>
                  <a:srgbClr val="FF0000"/>
                </a:solidFill>
              </a:rPr>
              <a:t>this</a:t>
            </a:r>
            <a:r>
              <a:rPr lang="sv-SE" dirty="0">
                <a:solidFill>
                  <a:srgbClr val="FF0000"/>
                </a:solidFill>
              </a:rPr>
              <a:t> same solution to </a:t>
            </a:r>
            <a:r>
              <a:rPr lang="sv-SE" dirty="0" err="1">
                <a:solidFill>
                  <a:srgbClr val="FF0000"/>
                </a:solidFill>
              </a:rPr>
              <a:t>other</a:t>
            </a:r>
            <a:r>
              <a:rPr lang="sv-SE" dirty="0">
                <a:solidFill>
                  <a:srgbClr val="FF0000"/>
                </a:solidFill>
              </a:rPr>
              <a:t> regions.</a:t>
            </a:r>
          </a:p>
        </p:txBody>
      </p:sp>
      <p:sp>
        <p:nvSpPr>
          <p:cNvPr id="6" name="Title 5">
            <a:extLst>
              <a:ext uri="{FF2B5EF4-FFF2-40B4-BE49-F238E27FC236}">
                <a16:creationId xmlns:a16="http://schemas.microsoft.com/office/drawing/2014/main" id="{BE32E89A-9DA4-44D6-999B-B98953366E08}"/>
              </a:ext>
            </a:extLst>
          </p:cNvPr>
          <p:cNvSpPr>
            <a:spLocks noGrp="1"/>
          </p:cNvSpPr>
          <p:nvPr>
            <p:ph type="title"/>
          </p:nvPr>
        </p:nvSpPr>
        <p:spPr/>
        <p:txBody>
          <a:bodyPr/>
          <a:lstStyle/>
          <a:p>
            <a:r>
              <a:rPr lang="fr-FR" dirty="0" err="1"/>
              <a:t>Meaning</a:t>
            </a:r>
            <a:endParaRPr lang="sv-SE" dirty="0"/>
          </a:p>
        </p:txBody>
      </p:sp>
      <p:sp>
        <p:nvSpPr>
          <p:cNvPr id="7" name="Rectangle 6">
            <a:extLst>
              <a:ext uri="{FF2B5EF4-FFF2-40B4-BE49-F238E27FC236}">
                <a16:creationId xmlns:a16="http://schemas.microsoft.com/office/drawing/2014/main" id="{43FB5BFE-1C5B-41A7-B6E1-C7B31CF3958A}"/>
              </a:ext>
            </a:extLst>
          </p:cNvPr>
          <p:cNvSpPr/>
          <p:nvPr/>
        </p:nvSpPr>
        <p:spPr>
          <a:xfrm rot="1760496">
            <a:off x="9418333" y="824694"/>
            <a:ext cx="3042765" cy="646331"/>
          </a:xfrm>
          <a:prstGeom prst="rect">
            <a:avLst/>
          </a:prstGeom>
        </p:spPr>
        <p:txBody>
          <a:bodyPr wrap="square">
            <a:spAutoFit/>
          </a:bodyPr>
          <a:lstStyle/>
          <a:p>
            <a:r>
              <a:rPr lang="en-GB" sz="3600" dirty="0">
                <a:highlight>
                  <a:srgbClr val="FF0000"/>
                </a:highlight>
              </a:rPr>
              <a:t>confidential</a:t>
            </a:r>
            <a:endParaRPr lang="sv-SE" sz="3600" dirty="0">
              <a:highlight>
                <a:srgbClr val="FF0000"/>
              </a:highlight>
            </a:endParaRPr>
          </a:p>
        </p:txBody>
      </p:sp>
    </p:spTree>
    <p:extLst>
      <p:ext uri="{BB962C8B-B14F-4D97-AF65-F5344CB8AC3E}">
        <p14:creationId xmlns:p14="http://schemas.microsoft.com/office/powerpoint/2010/main" val="1101828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1A91E3-2C5B-2C1C-5017-2EBCAEC2E64C}"/>
              </a:ext>
            </a:extLst>
          </p:cNvPr>
          <p:cNvSpPr>
            <a:spLocks noGrp="1"/>
          </p:cNvSpPr>
          <p:nvPr>
            <p:ph type="body" sz="half" idx="2"/>
          </p:nvPr>
        </p:nvSpPr>
        <p:spPr/>
        <p:txBody>
          <a:bodyPr/>
          <a:lstStyle/>
          <a:p>
            <a:endParaRPr lang="en-SE"/>
          </a:p>
        </p:txBody>
      </p:sp>
      <p:sp>
        <p:nvSpPr>
          <p:cNvPr id="3" name="Slide Number Placeholder 2">
            <a:extLst>
              <a:ext uri="{FF2B5EF4-FFF2-40B4-BE49-F238E27FC236}">
                <a16:creationId xmlns:a16="http://schemas.microsoft.com/office/drawing/2014/main" id="{4E75E24D-44F1-E099-CA01-D5A44ACA3917}"/>
              </a:ext>
            </a:extLst>
          </p:cNvPr>
          <p:cNvSpPr>
            <a:spLocks noGrp="1"/>
          </p:cNvSpPr>
          <p:nvPr>
            <p:ph type="sldNum" sz="quarter" idx="13"/>
          </p:nvPr>
        </p:nvSpPr>
        <p:spPr/>
        <p:txBody>
          <a:bodyPr/>
          <a:lstStyle/>
          <a:p>
            <a:fld id="{09471650-AE8C-4F0A-9990-7EAE6F8DE484}" type="slidenum">
              <a:rPr lang="en-GB" smtClean="0"/>
              <a:pPr/>
              <a:t>11</a:t>
            </a:fld>
            <a:endParaRPr lang="en-GB" dirty="0"/>
          </a:p>
        </p:txBody>
      </p:sp>
      <p:sp>
        <p:nvSpPr>
          <p:cNvPr id="4" name="Footer Placeholder 3">
            <a:extLst>
              <a:ext uri="{FF2B5EF4-FFF2-40B4-BE49-F238E27FC236}">
                <a16:creationId xmlns:a16="http://schemas.microsoft.com/office/drawing/2014/main" id="{3B5F3B5D-7C02-92B7-B6B3-EC35BDD71837}"/>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0E81B007-D034-F537-2026-B65911DEC4CB}"/>
              </a:ext>
            </a:extLst>
          </p:cNvPr>
          <p:cNvSpPr>
            <a:spLocks noGrp="1"/>
          </p:cNvSpPr>
          <p:nvPr>
            <p:ph type="body" sz="quarter" idx="15"/>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SE" altLang="en-SE" sz="1800" b="0" i="0" u="none" strike="noStrike" cap="none" normalizeH="0" baseline="0" dirty="0">
                <a:ln>
                  <a:noFill/>
                </a:ln>
                <a:solidFill>
                  <a:srgbClr val="0F0F0F"/>
                </a:solidFill>
                <a:effectLst/>
                <a:latin typeface="+mj-lt"/>
              </a:rPr>
              <a:t>After reviewing Electrolux's privacy policy, I noticed a few areas that could be addressed in a message to the data privacy authorities:</a:t>
            </a:r>
            <a:endParaRPr kumimoji="0" lang="fr-FR" altLang="en-SE" sz="1800" b="0" i="0" u="none" strike="noStrike" cap="none" normalizeH="0" baseline="0" dirty="0">
              <a:ln>
                <a:noFill/>
              </a:ln>
              <a:solidFill>
                <a:srgbClr val="0F0F0F"/>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SE" altLang="en-SE" sz="1800" b="0" i="0" u="none" strike="noStrike" cap="none" normalizeH="0" baseline="0" dirty="0">
              <a:ln>
                <a:noFill/>
              </a:ln>
              <a:solidFill>
                <a:srgbClr val="0F0F0F"/>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SE" altLang="en-SE" sz="1800" b="1" i="0" u="none" strike="noStrike" cap="none" normalizeH="0" baseline="0" dirty="0">
                <a:ln>
                  <a:noFill/>
                </a:ln>
                <a:solidFill>
                  <a:srgbClr val="0F0F0F"/>
                </a:solidFill>
                <a:effectLst/>
                <a:latin typeface="+mj-lt"/>
              </a:rPr>
              <a:t>Identification of Third Parties</a:t>
            </a:r>
            <a:r>
              <a:rPr kumimoji="0" lang="en-SE" altLang="en-SE" sz="1800" b="0" i="0" u="none" strike="noStrike" cap="none" normalizeH="0" baseline="0" dirty="0">
                <a:ln>
                  <a:noFill/>
                </a:ln>
                <a:solidFill>
                  <a:srgbClr val="0F0F0F"/>
                </a:solidFill>
                <a:effectLst/>
                <a:latin typeface="+mj-lt"/>
              </a:rPr>
              <a:t>: While Electrolux mentions sharing data with group companies, service providers, suppliers, partners, and in case of corporate restructuring, the policy could be more specific, especially regarding the types of third parties.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SE" altLang="en-SE" sz="1800" b="1" i="0" u="none" strike="noStrike" cap="none" normalizeH="0" baseline="0" dirty="0">
                <a:ln>
                  <a:noFill/>
                </a:ln>
                <a:solidFill>
                  <a:srgbClr val="0F0F0F"/>
                </a:solidFill>
                <a:effectLst/>
                <a:latin typeface="+mj-lt"/>
              </a:rPr>
              <a:t>Purpose of Sharing</a:t>
            </a:r>
            <a:r>
              <a:rPr kumimoji="0" lang="en-SE" altLang="en-SE" sz="1800" b="0" i="0" u="none" strike="noStrike" cap="none" normalizeH="0" baseline="0" dirty="0">
                <a:ln>
                  <a:noFill/>
                </a:ln>
                <a:solidFill>
                  <a:srgbClr val="0F0F0F"/>
                </a:solidFill>
                <a:effectLst/>
                <a:latin typeface="+mj-lt"/>
              </a:rPr>
              <a:t>: The policy outlines various reasons for data sharing, including legal requirements, business operations, and marketing. However, it could further emphasize the legitimacy and necessity of each purpose.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SE" altLang="en-SE" sz="1800" b="1" i="0" u="none" strike="noStrike" cap="none" normalizeH="0" baseline="0" dirty="0">
                <a:ln>
                  <a:noFill/>
                </a:ln>
                <a:solidFill>
                  <a:srgbClr val="0F0F0F"/>
                </a:solidFill>
                <a:effectLst/>
                <a:latin typeface="+mj-lt"/>
              </a:rPr>
              <a:t>Type of Data Shared</a:t>
            </a:r>
            <a:r>
              <a:rPr kumimoji="0" lang="en-SE" altLang="en-SE" sz="1800" b="0" i="0" u="none" strike="noStrike" cap="none" normalizeH="0" baseline="0" dirty="0">
                <a:ln>
                  <a:noFill/>
                </a:ln>
                <a:solidFill>
                  <a:srgbClr val="0F0F0F"/>
                </a:solidFill>
                <a:effectLst/>
                <a:latin typeface="+mj-lt"/>
              </a:rPr>
              <a:t>: The policy details the types of personal data collected. It might be beneficial to explicitly state how the sensitivity of data is considered and ensure data minimization principles.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SE" altLang="en-SE" sz="1800" b="1" i="0" u="none" strike="noStrike" cap="none" normalizeH="0" baseline="0" dirty="0">
                <a:ln>
                  <a:noFill/>
                </a:ln>
                <a:solidFill>
                  <a:srgbClr val="0F0F0F"/>
                </a:solidFill>
                <a:effectLst/>
                <a:latin typeface="+mj-lt"/>
              </a:rPr>
              <a:t>Control Measures</a:t>
            </a:r>
            <a:r>
              <a:rPr kumimoji="0" lang="en-SE" altLang="en-SE" sz="1800" b="0" i="0" u="none" strike="noStrike" cap="none" normalizeH="0" baseline="0" dirty="0">
                <a:ln>
                  <a:noFill/>
                </a:ln>
                <a:solidFill>
                  <a:srgbClr val="0F0F0F"/>
                </a:solidFill>
                <a:effectLst/>
                <a:latin typeface="+mj-lt"/>
              </a:rPr>
              <a:t>: Electrolux states that third parties are expected to protect personal data in line with legal and contractual obligations. The policy could include more on oversight mechanisms and compliance standards.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SE" altLang="en-SE" sz="1800" b="1" i="0" u="none" strike="noStrike" cap="none" normalizeH="0" baseline="0" dirty="0">
                <a:ln>
                  <a:noFill/>
                </a:ln>
                <a:solidFill>
                  <a:srgbClr val="0F0F0F"/>
                </a:solidFill>
                <a:effectLst/>
                <a:latin typeface="+mj-lt"/>
              </a:rPr>
              <a:t>User Rights and Choices</a:t>
            </a:r>
            <a:r>
              <a:rPr kumimoji="0" lang="en-SE" altLang="en-SE" sz="1800" b="0" i="0" u="none" strike="noStrike" cap="none" normalizeH="0" baseline="0" dirty="0">
                <a:ln>
                  <a:noFill/>
                </a:ln>
                <a:solidFill>
                  <a:srgbClr val="0F0F0F"/>
                </a:solidFill>
                <a:effectLst/>
                <a:latin typeface="+mj-lt"/>
              </a:rPr>
              <a:t>: The policy addresses EU/EEA residents' rights regarding their data and provides options for marketing preferences. Further emphasizing user accessibility to exercise these rights could enhance clarity.</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SE" altLang="en-SE" sz="1800" b="1" i="0" u="none" strike="noStrike" cap="none" normalizeH="0" baseline="0" dirty="0">
                <a:ln>
                  <a:noFill/>
                </a:ln>
                <a:solidFill>
                  <a:srgbClr val="0F0F0F"/>
                </a:solidFill>
                <a:effectLst/>
                <a:latin typeface="+mj-lt"/>
              </a:rPr>
              <a:t>Updates and International Transfers</a:t>
            </a:r>
            <a:r>
              <a:rPr kumimoji="0" lang="en-SE" altLang="en-SE" sz="1800" b="0" i="0" u="none" strike="noStrike" cap="none" normalizeH="0" baseline="0" dirty="0">
                <a:ln>
                  <a:noFill/>
                </a:ln>
                <a:solidFill>
                  <a:srgbClr val="0F0F0F"/>
                </a:solidFill>
                <a:effectLst/>
                <a:latin typeface="+mj-lt"/>
              </a:rPr>
              <a:t>: The policy mentions regular updates and international data transfers. Highlighting safeguards for these transfers, like Standard Contractual Clauses, could reinforce their commitment to data protection.</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SE" altLang="en-SE" sz="1800" b="1" i="0" u="none" strike="noStrike" cap="none" normalizeH="0" baseline="0" dirty="0">
                <a:ln>
                  <a:noFill/>
                </a:ln>
                <a:solidFill>
                  <a:srgbClr val="0F0F0F"/>
                </a:solidFill>
                <a:effectLst/>
                <a:latin typeface="+mj-lt"/>
              </a:rPr>
              <a:t>Consent and Withdrawal</a:t>
            </a:r>
            <a:r>
              <a:rPr kumimoji="0" lang="en-SE" altLang="en-SE" sz="1800" b="0" i="0" u="none" strike="noStrike" cap="none" normalizeH="0" baseline="0" dirty="0">
                <a:ln>
                  <a:noFill/>
                </a:ln>
                <a:solidFill>
                  <a:srgbClr val="0F0F0F"/>
                </a:solidFill>
                <a:effectLst/>
                <a:latin typeface="+mj-lt"/>
              </a:rPr>
              <a:t>: The policy includes details on consent for data processing and its withdrawal. It could reinforce the ease of withdrawing consent and managing user preferences.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SE" altLang="en-SE" sz="2800" b="0" i="0" u="none" strike="noStrike" cap="none" normalizeH="0" baseline="0" dirty="0">
              <a:ln>
                <a:noFill/>
              </a:ln>
              <a:solidFill>
                <a:schemeClr val="tx1"/>
              </a:solidFill>
              <a:effectLst/>
              <a:latin typeface="+mj-lt"/>
            </a:endParaRPr>
          </a:p>
          <a:p>
            <a:endParaRPr lang="en-SE" sz="1800" dirty="0">
              <a:latin typeface="+mj-lt"/>
            </a:endParaRPr>
          </a:p>
        </p:txBody>
      </p:sp>
      <p:sp>
        <p:nvSpPr>
          <p:cNvPr id="6" name="Title 5">
            <a:extLst>
              <a:ext uri="{FF2B5EF4-FFF2-40B4-BE49-F238E27FC236}">
                <a16:creationId xmlns:a16="http://schemas.microsoft.com/office/drawing/2014/main" id="{FE83CC7C-ED48-12D4-C72F-E6FBEAF7E9F2}"/>
              </a:ext>
            </a:extLst>
          </p:cNvPr>
          <p:cNvSpPr>
            <a:spLocks noGrp="1"/>
          </p:cNvSpPr>
          <p:nvPr>
            <p:ph type="title"/>
          </p:nvPr>
        </p:nvSpPr>
        <p:spPr/>
        <p:txBody>
          <a:bodyPr/>
          <a:lstStyle/>
          <a:p>
            <a:r>
              <a:rPr lang="fr-FR" dirty="0" err="1"/>
              <a:t>Privacy</a:t>
            </a:r>
            <a:r>
              <a:rPr lang="fr-FR" dirty="0"/>
              <a:t> </a:t>
            </a:r>
            <a:r>
              <a:rPr lang="fr-FR" dirty="0" err="1"/>
              <a:t>Statement</a:t>
            </a:r>
            <a:endParaRPr lang="en-SE" dirty="0"/>
          </a:p>
        </p:txBody>
      </p:sp>
      <p:pic>
        <p:nvPicPr>
          <p:cNvPr id="1025" name="Picture 1" descr="GPT">
            <a:extLst>
              <a:ext uri="{FF2B5EF4-FFF2-40B4-BE49-F238E27FC236}">
                <a16:creationId xmlns:a16="http://schemas.microsoft.com/office/drawing/2014/main" id="{8D2EFEC5-B665-3B7E-B6EC-F06646930B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76200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416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8FA098-DAA2-6251-09D3-D2176DCE42D0}"/>
              </a:ext>
            </a:extLst>
          </p:cNvPr>
          <p:cNvSpPr>
            <a:spLocks noGrp="1"/>
          </p:cNvSpPr>
          <p:nvPr>
            <p:ph type="sldNum" sz="quarter" idx="13"/>
          </p:nvPr>
        </p:nvSpPr>
        <p:spPr/>
        <p:txBody>
          <a:bodyPr/>
          <a:lstStyle/>
          <a:p>
            <a:fld id="{09471650-AE8C-4F0A-9990-7EAE6F8DE484}" type="slidenum">
              <a:rPr lang="en-GB" smtClean="0"/>
              <a:pPr/>
              <a:t>12</a:t>
            </a:fld>
            <a:endParaRPr lang="en-GB" dirty="0"/>
          </a:p>
        </p:txBody>
      </p:sp>
      <p:sp>
        <p:nvSpPr>
          <p:cNvPr id="5" name="Text Placeholder 4">
            <a:extLst>
              <a:ext uri="{FF2B5EF4-FFF2-40B4-BE49-F238E27FC236}">
                <a16:creationId xmlns:a16="http://schemas.microsoft.com/office/drawing/2014/main" id="{0AD43F50-AA3E-5289-303F-C2E9B02C420F}"/>
              </a:ext>
            </a:extLst>
          </p:cNvPr>
          <p:cNvSpPr>
            <a:spLocks noGrp="1"/>
          </p:cNvSpPr>
          <p:nvPr>
            <p:ph type="body" sz="quarter" idx="15"/>
          </p:nvPr>
        </p:nvSpPr>
        <p:spPr>
          <a:xfrm>
            <a:off x="4552682" y="2820474"/>
            <a:ext cx="2472744" cy="740536"/>
          </a:xfrm>
        </p:spPr>
        <p:txBody>
          <a:bodyPr/>
          <a:lstStyle/>
          <a:p>
            <a:r>
              <a:rPr lang="fr-FR" dirty="0"/>
              <a:t>Extra information</a:t>
            </a:r>
            <a:endParaRPr lang="en-SE" dirty="0"/>
          </a:p>
        </p:txBody>
      </p:sp>
    </p:spTree>
    <p:extLst>
      <p:ext uri="{BB962C8B-B14F-4D97-AF65-F5344CB8AC3E}">
        <p14:creationId xmlns:p14="http://schemas.microsoft.com/office/powerpoint/2010/main" val="4226150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5D55BED-EEFF-4809-A76C-531371FC123F}"/>
              </a:ext>
            </a:extLst>
          </p:cNvPr>
          <p:cNvSpPr>
            <a:spLocks noGrp="1"/>
          </p:cNvSpPr>
          <p:nvPr>
            <p:ph type="body" sz="half" idx="2"/>
          </p:nvPr>
        </p:nvSpPr>
        <p:spPr/>
        <p:txBody>
          <a:bodyPr/>
          <a:lstStyle/>
          <a:p>
            <a:endParaRPr lang="en-GB" dirty="0"/>
          </a:p>
        </p:txBody>
      </p:sp>
      <p:sp>
        <p:nvSpPr>
          <p:cNvPr id="3" name="Slide Number Placeholder 2">
            <a:extLst>
              <a:ext uri="{FF2B5EF4-FFF2-40B4-BE49-F238E27FC236}">
                <a16:creationId xmlns:a16="http://schemas.microsoft.com/office/drawing/2014/main" id="{17A88BEA-7218-4D11-86F6-3AA7006AE3F9}"/>
              </a:ext>
            </a:extLst>
          </p:cNvPr>
          <p:cNvSpPr>
            <a:spLocks noGrp="1"/>
          </p:cNvSpPr>
          <p:nvPr>
            <p:ph type="sldNum" sz="quarter" idx="13"/>
          </p:nvPr>
        </p:nvSpPr>
        <p:spPr/>
        <p:txBody>
          <a:bodyPr/>
          <a:lstStyle/>
          <a:p>
            <a:fld id="{09471650-AE8C-4F0A-9990-7EAE6F8DE484}" type="slidenum">
              <a:rPr lang="en-GB" smtClean="0"/>
              <a:pPr/>
              <a:t>13</a:t>
            </a:fld>
            <a:endParaRPr lang="en-GB" dirty="0"/>
          </a:p>
        </p:txBody>
      </p:sp>
      <p:sp>
        <p:nvSpPr>
          <p:cNvPr id="4" name="Footer Placeholder 3">
            <a:extLst>
              <a:ext uri="{FF2B5EF4-FFF2-40B4-BE49-F238E27FC236}">
                <a16:creationId xmlns:a16="http://schemas.microsoft.com/office/drawing/2014/main" id="{B0EFA5DA-6F68-49A2-B08B-3C479E752967}"/>
              </a:ext>
            </a:extLst>
          </p:cNvPr>
          <p:cNvSpPr>
            <a:spLocks noGrp="1"/>
          </p:cNvSpPr>
          <p:nvPr>
            <p:ph type="ftr" sz="quarter" idx="14"/>
          </p:nvPr>
        </p:nvSpPr>
        <p:spPr/>
        <p:txBody>
          <a:bodyPr/>
          <a:lstStyle/>
          <a:p>
            <a:endParaRPr lang="en-GB" dirty="0"/>
          </a:p>
        </p:txBody>
      </p:sp>
      <p:sp>
        <p:nvSpPr>
          <p:cNvPr id="10" name="Text Placeholder 9">
            <a:extLst>
              <a:ext uri="{FF2B5EF4-FFF2-40B4-BE49-F238E27FC236}">
                <a16:creationId xmlns:a16="http://schemas.microsoft.com/office/drawing/2014/main" id="{3D06B14E-2454-4950-9C4F-CB3B1A863D81}"/>
              </a:ext>
            </a:extLst>
          </p:cNvPr>
          <p:cNvSpPr>
            <a:spLocks noGrp="1"/>
          </p:cNvSpPr>
          <p:nvPr>
            <p:ph type="body" sz="quarter" idx="15"/>
          </p:nvPr>
        </p:nvSpPr>
        <p:spPr>
          <a:xfrm>
            <a:off x="371475" y="5440362"/>
            <a:ext cx="11449050" cy="1025525"/>
          </a:xfrm>
        </p:spPr>
        <p:txBody>
          <a:bodyPr/>
          <a:lstStyle/>
          <a:p>
            <a:r>
              <a:rPr lang="en-GB" sz="1600" dirty="0"/>
              <a:t>Even though All traffic is TLS encrypted, we cannot confirm that the certificate and key were not compromised. </a:t>
            </a:r>
          </a:p>
          <a:p>
            <a:r>
              <a:rPr lang="en-GB" sz="1600" dirty="0"/>
              <a:t>Many users have access to the cert/key being used between Azure resources, which are not stored in a secure location either way.</a:t>
            </a:r>
          </a:p>
        </p:txBody>
      </p:sp>
      <p:sp>
        <p:nvSpPr>
          <p:cNvPr id="8" name="Title 7">
            <a:extLst>
              <a:ext uri="{FF2B5EF4-FFF2-40B4-BE49-F238E27FC236}">
                <a16:creationId xmlns:a16="http://schemas.microsoft.com/office/drawing/2014/main" id="{634360E1-A3BF-40F3-9A7A-77787050B6D1}"/>
              </a:ext>
            </a:extLst>
          </p:cNvPr>
          <p:cNvSpPr>
            <a:spLocks noGrp="1"/>
          </p:cNvSpPr>
          <p:nvPr>
            <p:ph type="title"/>
          </p:nvPr>
        </p:nvSpPr>
        <p:spPr/>
        <p:txBody>
          <a:bodyPr/>
          <a:lstStyle/>
          <a:p>
            <a:r>
              <a:rPr lang="en-GB" dirty="0"/>
              <a:t>Current Situation</a:t>
            </a:r>
          </a:p>
        </p:txBody>
      </p:sp>
      <p:pic>
        <p:nvPicPr>
          <p:cNvPr id="1030" name="Picture 6">
            <a:extLst>
              <a:ext uri="{FF2B5EF4-FFF2-40B4-BE49-F238E27FC236}">
                <a16:creationId xmlns:a16="http://schemas.microsoft.com/office/drawing/2014/main" id="{2CDE36F9-04C7-45CF-8B67-695B2C8BC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 y="1084263"/>
            <a:ext cx="12192000"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344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B5632C-02FD-4A81-88DB-B2C0503045B1}"/>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97F75BC0-7E43-490F-96C8-E9345CC26BCC}"/>
              </a:ext>
            </a:extLst>
          </p:cNvPr>
          <p:cNvSpPr>
            <a:spLocks noGrp="1"/>
          </p:cNvSpPr>
          <p:nvPr>
            <p:ph type="sldNum" sz="quarter" idx="13"/>
          </p:nvPr>
        </p:nvSpPr>
        <p:spPr/>
        <p:txBody>
          <a:bodyPr/>
          <a:lstStyle/>
          <a:p>
            <a:fld id="{09471650-AE8C-4F0A-9990-7EAE6F8DE484}" type="slidenum">
              <a:rPr lang="en-GB" smtClean="0"/>
              <a:pPr/>
              <a:t>14</a:t>
            </a:fld>
            <a:endParaRPr lang="en-GB" dirty="0"/>
          </a:p>
        </p:txBody>
      </p:sp>
      <p:sp>
        <p:nvSpPr>
          <p:cNvPr id="4" name="Footer Placeholder 3">
            <a:extLst>
              <a:ext uri="{FF2B5EF4-FFF2-40B4-BE49-F238E27FC236}">
                <a16:creationId xmlns:a16="http://schemas.microsoft.com/office/drawing/2014/main" id="{ED496973-9732-4973-BD6B-D2B445568FD4}"/>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EE006AE0-7A8C-4617-BCC5-A8F38F749252}"/>
              </a:ext>
            </a:extLst>
          </p:cNvPr>
          <p:cNvSpPr>
            <a:spLocks noGrp="1"/>
          </p:cNvSpPr>
          <p:nvPr>
            <p:ph type="body" sz="quarter" idx="15"/>
          </p:nvPr>
        </p:nvSpPr>
        <p:spPr>
          <a:xfrm>
            <a:off x="371475" y="5410302"/>
            <a:ext cx="11449050" cy="1055586"/>
          </a:xfrm>
        </p:spPr>
        <p:txBody>
          <a:bodyPr/>
          <a:lstStyle/>
          <a:p>
            <a:r>
              <a:rPr lang="fr-FR" sz="1800" dirty="0" err="1"/>
              <a:t>We</a:t>
            </a:r>
            <a:r>
              <a:rPr lang="fr-FR" sz="1800" dirty="0"/>
              <a:t> </a:t>
            </a:r>
            <a:r>
              <a:rPr lang="fr-FR" sz="1800" dirty="0" err="1"/>
              <a:t>need</a:t>
            </a:r>
            <a:r>
              <a:rPr lang="fr-FR" sz="1800" dirty="0"/>
              <a:t> to </a:t>
            </a:r>
            <a:r>
              <a:rPr lang="fr-FR" sz="1800" dirty="0" err="1"/>
              <a:t>make</a:t>
            </a:r>
            <a:r>
              <a:rPr lang="fr-FR" sz="1800" dirty="0"/>
              <a:t> sure to stop </a:t>
            </a:r>
            <a:r>
              <a:rPr lang="fr-FR" sz="1800" dirty="0" err="1"/>
              <a:t>capturing</a:t>
            </a:r>
            <a:r>
              <a:rPr lang="fr-FR" sz="1800" dirty="0"/>
              <a:t> </a:t>
            </a:r>
            <a:r>
              <a:rPr lang="fr-FR" sz="1800" dirty="0" err="1"/>
              <a:t>any</a:t>
            </a:r>
            <a:r>
              <a:rPr lang="fr-FR" sz="1800" dirty="0"/>
              <a:t> logs </a:t>
            </a:r>
            <a:r>
              <a:rPr lang="fr-FR" sz="1800" dirty="0" err="1"/>
              <a:t>across</a:t>
            </a:r>
            <a:r>
              <a:rPr lang="fr-FR" sz="1800" dirty="0"/>
              <a:t> </a:t>
            </a:r>
            <a:r>
              <a:rPr lang="fr-FR" sz="1800" dirty="0" err="1"/>
              <a:t>those</a:t>
            </a:r>
            <a:r>
              <a:rPr lang="fr-FR" sz="1800" dirty="0"/>
              <a:t> </a:t>
            </a:r>
            <a:r>
              <a:rPr lang="fr-FR" sz="1800" dirty="0" err="1"/>
              <a:t>systems</a:t>
            </a:r>
            <a:r>
              <a:rPr lang="fr-FR" sz="1800" dirty="0"/>
              <a:t> in green.</a:t>
            </a:r>
          </a:p>
          <a:p>
            <a:r>
              <a:rPr lang="fr-FR" sz="1800" dirty="0" err="1"/>
              <a:t>We</a:t>
            </a:r>
            <a:r>
              <a:rPr lang="fr-FR" sz="1800" dirty="0"/>
              <a:t> </a:t>
            </a:r>
            <a:r>
              <a:rPr lang="fr-FR" sz="1800" dirty="0" err="1"/>
              <a:t>need</a:t>
            </a:r>
            <a:r>
              <a:rPr lang="fr-FR" sz="1800" dirty="0"/>
              <a:t> to </a:t>
            </a:r>
            <a:r>
              <a:rPr lang="fr-FR" sz="1800" dirty="0" err="1"/>
              <a:t>remove</a:t>
            </a:r>
            <a:r>
              <a:rPr lang="fr-FR" sz="1800" dirty="0"/>
              <a:t> all logs </a:t>
            </a:r>
            <a:r>
              <a:rPr lang="fr-FR" sz="1800" dirty="0" err="1"/>
              <a:t>containing</a:t>
            </a:r>
            <a:r>
              <a:rPr lang="fr-FR" sz="1800" dirty="0"/>
              <a:t> </a:t>
            </a:r>
            <a:r>
              <a:rPr lang="fr-FR" sz="1800" dirty="0" err="1"/>
              <a:t>customer</a:t>
            </a:r>
            <a:r>
              <a:rPr lang="fr-FR" sz="1800" dirty="0"/>
              <a:t> </a:t>
            </a:r>
            <a:r>
              <a:rPr lang="fr-FR" sz="1800" dirty="0" err="1"/>
              <a:t>credentials</a:t>
            </a:r>
            <a:r>
              <a:rPr lang="fr-FR" sz="1800" dirty="0"/>
              <a:t> </a:t>
            </a:r>
            <a:r>
              <a:rPr lang="fr-FR" sz="1800" dirty="0" err="1"/>
              <a:t>from</a:t>
            </a:r>
            <a:r>
              <a:rPr lang="fr-FR" sz="1800" dirty="0"/>
              <a:t> </a:t>
            </a:r>
            <a:r>
              <a:rPr lang="fr-FR" sz="1800" dirty="0" err="1"/>
              <a:t>our</a:t>
            </a:r>
            <a:r>
              <a:rPr lang="fr-FR" sz="1800" dirty="0"/>
              <a:t> central </a:t>
            </a:r>
            <a:r>
              <a:rPr lang="fr-FR" sz="1800" dirty="0" err="1"/>
              <a:t>logging</a:t>
            </a:r>
            <a:r>
              <a:rPr lang="fr-FR" sz="1800" dirty="0"/>
              <a:t> </a:t>
            </a:r>
            <a:r>
              <a:rPr lang="fr-FR" sz="1800" dirty="0" err="1"/>
              <a:t>tool</a:t>
            </a:r>
            <a:r>
              <a:rPr lang="fr-FR" sz="1800" dirty="0"/>
              <a:t>.</a:t>
            </a:r>
            <a:endParaRPr lang="sv-SE" sz="1800" dirty="0"/>
          </a:p>
        </p:txBody>
      </p:sp>
      <p:sp>
        <p:nvSpPr>
          <p:cNvPr id="6" name="Title 5">
            <a:extLst>
              <a:ext uri="{FF2B5EF4-FFF2-40B4-BE49-F238E27FC236}">
                <a16:creationId xmlns:a16="http://schemas.microsoft.com/office/drawing/2014/main" id="{69E2F2D8-171E-460B-9CB9-2CC560293B20}"/>
              </a:ext>
            </a:extLst>
          </p:cNvPr>
          <p:cNvSpPr>
            <a:spLocks noGrp="1"/>
          </p:cNvSpPr>
          <p:nvPr>
            <p:ph type="title"/>
          </p:nvPr>
        </p:nvSpPr>
        <p:spPr/>
        <p:txBody>
          <a:bodyPr/>
          <a:lstStyle/>
          <a:p>
            <a:r>
              <a:rPr lang="fr-FR" dirty="0"/>
              <a:t>Platform Engineering on </a:t>
            </a:r>
            <a:r>
              <a:rPr lang="fr-FR" sz="2000" dirty="0"/>
              <a:t>ELX-EMEA-Marketing</a:t>
            </a:r>
            <a:endParaRPr lang="sv-SE" dirty="0"/>
          </a:p>
        </p:txBody>
      </p:sp>
      <p:pic>
        <p:nvPicPr>
          <p:cNvPr id="6148" name="Picture 4">
            <a:extLst>
              <a:ext uri="{FF2B5EF4-FFF2-40B4-BE49-F238E27FC236}">
                <a16:creationId xmlns:a16="http://schemas.microsoft.com/office/drawing/2014/main" id="{7693586E-CC05-44FF-9C7F-11CBC7E13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466" y="1387577"/>
            <a:ext cx="11067068" cy="3651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068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E144F5-DB41-4FA7-935B-5C77456ABE3D}"/>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4820C368-569E-44C8-ADD1-9C4389074950}"/>
              </a:ext>
            </a:extLst>
          </p:cNvPr>
          <p:cNvSpPr>
            <a:spLocks noGrp="1"/>
          </p:cNvSpPr>
          <p:nvPr>
            <p:ph type="sldNum" sz="quarter" idx="13"/>
          </p:nvPr>
        </p:nvSpPr>
        <p:spPr/>
        <p:txBody>
          <a:bodyPr/>
          <a:lstStyle/>
          <a:p>
            <a:fld id="{09471650-AE8C-4F0A-9990-7EAE6F8DE484}" type="slidenum">
              <a:rPr lang="en-GB" smtClean="0"/>
              <a:pPr/>
              <a:t>15</a:t>
            </a:fld>
            <a:endParaRPr lang="en-GB" dirty="0"/>
          </a:p>
        </p:txBody>
      </p:sp>
      <p:sp>
        <p:nvSpPr>
          <p:cNvPr id="4" name="Footer Placeholder 3">
            <a:extLst>
              <a:ext uri="{FF2B5EF4-FFF2-40B4-BE49-F238E27FC236}">
                <a16:creationId xmlns:a16="http://schemas.microsoft.com/office/drawing/2014/main" id="{99EABE10-559E-429E-A731-43E5357057C4}"/>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99881F3A-58FC-4BB6-ACD3-0C758B5EF425}"/>
              </a:ext>
            </a:extLst>
          </p:cNvPr>
          <p:cNvSpPr>
            <a:spLocks noGrp="1"/>
          </p:cNvSpPr>
          <p:nvPr>
            <p:ph type="body" sz="quarter" idx="15"/>
          </p:nvPr>
        </p:nvSpPr>
        <p:spPr>
          <a:xfrm>
            <a:off x="371475" y="5440362"/>
            <a:ext cx="11449050" cy="1152629"/>
          </a:xfrm>
        </p:spPr>
        <p:txBody>
          <a:bodyPr/>
          <a:lstStyle/>
          <a:p>
            <a:r>
              <a:rPr lang="fr-FR" dirty="0" err="1"/>
              <a:t>Since</a:t>
            </a:r>
            <a:r>
              <a:rPr lang="fr-FR" dirty="0"/>
              <a:t> all CDC secrets </a:t>
            </a:r>
            <a:r>
              <a:rPr lang="fr-FR" dirty="0" err="1"/>
              <a:t>were</a:t>
            </a:r>
            <a:r>
              <a:rPr lang="fr-FR" dirty="0"/>
              <a:t> </a:t>
            </a:r>
            <a:r>
              <a:rPr lang="fr-FR" dirty="0" err="1"/>
              <a:t>exposed</a:t>
            </a:r>
            <a:r>
              <a:rPr lang="fr-FR" dirty="0"/>
              <a:t>, </a:t>
            </a:r>
            <a:r>
              <a:rPr lang="fr-FR" dirty="0" err="1"/>
              <a:t>we</a:t>
            </a:r>
            <a:r>
              <a:rPr lang="fr-FR" dirty="0"/>
              <a:t> </a:t>
            </a:r>
            <a:r>
              <a:rPr lang="fr-FR" dirty="0" err="1"/>
              <a:t>would</a:t>
            </a:r>
            <a:r>
              <a:rPr lang="fr-FR" dirty="0"/>
              <a:t> </a:t>
            </a:r>
            <a:r>
              <a:rPr lang="fr-FR" dirty="0" err="1"/>
              <a:t>need</a:t>
            </a:r>
            <a:r>
              <a:rPr lang="fr-FR" dirty="0"/>
              <a:t> to </a:t>
            </a:r>
            <a:r>
              <a:rPr lang="fr-FR" dirty="0" err="1"/>
              <a:t>regenerate</a:t>
            </a:r>
            <a:r>
              <a:rPr lang="fr-FR" dirty="0"/>
              <a:t> </a:t>
            </a:r>
            <a:r>
              <a:rPr lang="fr-FR" dirty="0" err="1"/>
              <a:t>them</a:t>
            </a:r>
            <a:r>
              <a:rPr lang="fr-FR" dirty="0"/>
              <a:t> for all channels.</a:t>
            </a:r>
          </a:p>
          <a:p>
            <a:r>
              <a:rPr lang="fr-FR" dirty="0" err="1"/>
              <a:t>We</a:t>
            </a:r>
            <a:r>
              <a:rPr lang="fr-FR" dirty="0"/>
              <a:t> </a:t>
            </a:r>
            <a:r>
              <a:rPr lang="fr-FR" dirty="0" err="1"/>
              <a:t>need</a:t>
            </a:r>
            <a:r>
              <a:rPr lang="fr-FR" dirty="0"/>
              <a:t> to </a:t>
            </a:r>
            <a:r>
              <a:rPr lang="fr-FR" dirty="0" err="1"/>
              <a:t>make</a:t>
            </a:r>
            <a:r>
              <a:rPr lang="fr-FR" dirty="0"/>
              <a:t> sure </a:t>
            </a:r>
            <a:r>
              <a:rPr lang="fr-FR" dirty="0" err="1"/>
              <a:t>those</a:t>
            </a:r>
            <a:r>
              <a:rPr lang="fr-FR" dirty="0"/>
              <a:t> secrets are </a:t>
            </a:r>
            <a:r>
              <a:rPr lang="fr-FR" dirty="0" err="1"/>
              <a:t>stored</a:t>
            </a:r>
            <a:r>
              <a:rPr lang="fr-FR" dirty="0"/>
              <a:t> in a </a:t>
            </a:r>
            <a:r>
              <a:rPr lang="fr-FR" dirty="0" err="1"/>
              <a:t>secure</a:t>
            </a:r>
            <a:r>
              <a:rPr lang="fr-FR" dirty="0"/>
              <a:t> location</a:t>
            </a:r>
          </a:p>
          <a:p>
            <a:r>
              <a:rPr lang="fr-FR" dirty="0" err="1"/>
              <a:t>We</a:t>
            </a:r>
            <a:r>
              <a:rPr lang="fr-FR" dirty="0"/>
              <a:t> </a:t>
            </a:r>
            <a:r>
              <a:rPr lang="fr-FR" dirty="0" err="1"/>
              <a:t>need</a:t>
            </a:r>
            <a:r>
              <a:rPr lang="fr-FR" dirty="0"/>
              <a:t> to </a:t>
            </a:r>
            <a:r>
              <a:rPr lang="fr-FR" dirty="0" err="1"/>
              <a:t>make</a:t>
            </a:r>
            <a:r>
              <a:rPr lang="fr-FR" dirty="0"/>
              <a:t> sure </a:t>
            </a:r>
            <a:r>
              <a:rPr lang="fr-FR" dirty="0" err="1"/>
              <a:t>those</a:t>
            </a:r>
            <a:r>
              <a:rPr lang="fr-FR" dirty="0"/>
              <a:t> secrets are not </a:t>
            </a:r>
            <a:r>
              <a:rPr lang="fr-FR" dirty="0" err="1"/>
              <a:t>exposed</a:t>
            </a:r>
            <a:r>
              <a:rPr lang="fr-FR" dirty="0"/>
              <a:t> in logs.</a:t>
            </a:r>
            <a:endParaRPr lang="sv-SE" dirty="0"/>
          </a:p>
        </p:txBody>
      </p:sp>
      <p:sp>
        <p:nvSpPr>
          <p:cNvPr id="6" name="Title 5">
            <a:extLst>
              <a:ext uri="{FF2B5EF4-FFF2-40B4-BE49-F238E27FC236}">
                <a16:creationId xmlns:a16="http://schemas.microsoft.com/office/drawing/2014/main" id="{1210A032-6756-4B9B-BA02-005BFFD27711}"/>
              </a:ext>
            </a:extLst>
          </p:cNvPr>
          <p:cNvSpPr>
            <a:spLocks noGrp="1"/>
          </p:cNvSpPr>
          <p:nvPr>
            <p:ph type="title"/>
          </p:nvPr>
        </p:nvSpPr>
        <p:spPr/>
        <p:txBody>
          <a:bodyPr/>
          <a:lstStyle/>
          <a:p>
            <a:r>
              <a:rPr lang="fr-FR" dirty="0"/>
              <a:t>Step1: Reset CDC </a:t>
            </a:r>
            <a:r>
              <a:rPr lang="fr-FR" dirty="0" err="1"/>
              <a:t>credentials</a:t>
            </a:r>
            <a:r>
              <a:rPr lang="fr-FR" dirty="0"/>
              <a:t> for </a:t>
            </a:r>
            <a:r>
              <a:rPr lang="fr-FR" dirty="0" err="1"/>
              <a:t>impacted</a:t>
            </a:r>
            <a:r>
              <a:rPr lang="fr-FR" dirty="0"/>
              <a:t> channels?</a:t>
            </a:r>
            <a:endParaRPr lang="sv-SE" dirty="0"/>
          </a:p>
        </p:txBody>
      </p:sp>
      <p:pic>
        <p:nvPicPr>
          <p:cNvPr id="3076" name="Picture 4">
            <a:extLst>
              <a:ext uri="{FF2B5EF4-FFF2-40B4-BE49-F238E27FC236}">
                <a16:creationId xmlns:a16="http://schemas.microsoft.com/office/drawing/2014/main" id="{BAAD0C52-1BB5-4D00-A900-6DF9B0912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7638"/>
            <a:ext cx="12192000"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62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E144F5-DB41-4FA7-935B-5C77456ABE3D}"/>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4820C368-569E-44C8-ADD1-9C4389074950}"/>
              </a:ext>
            </a:extLst>
          </p:cNvPr>
          <p:cNvSpPr>
            <a:spLocks noGrp="1"/>
          </p:cNvSpPr>
          <p:nvPr>
            <p:ph type="sldNum" sz="quarter" idx="13"/>
          </p:nvPr>
        </p:nvSpPr>
        <p:spPr/>
        <p:txBody>
          <a:bodyPr/>
          <a:lstStyle/>
          <a:p>
            <a:fld id="{09471650-AE8C-4F0A-9990-7EAE6F8DE484}" type="slidenum">
              <a:rPr lang="en-GB" smtClean="0"/>
              <a:pPr/>
              <a:t>16</a:t>
            </a:fld>
            <a:endParaRPr lang="en-GB" dirty="0"/>
          </a:p>
        </p:txBody>
      </p:sp>
      <p:sp>
        <p:nvSpPr>
          <p:cNvPr id="4" name="Footer Placeholder 3">
            <a:extLst>
              <a:ext uri="{FF2B5EF4-FFF2-40B4-BE49-F238E27FC236}">
                <a16:creationId xmlns:a16="http://schemas.microsoft.com/office/drawing/2014/main" id="{99EABE10-559E-429E-A731-43E5357057C4}"/>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99881F3A-58FC-4BB6-ACD3-0C758B5EF425}"/>
              </a:ext>
            </a:extLst>
          </p:cNvPr>
          <p:cNvSpPr>
            <a:spLocks noGrp="1"/>
          </p:cNvSpPr>
          <p:nvPr>
            <p:ph type="body" sz="quarter" idx="15"/>
          </p:nvPr>
        </p:nvSpPr>
        <p:spPr>
          <a:xfrm>
            <a:off x="371475" y="5440362"/>
            <a:ext cx="6291818" cy="1025525"/>
          </a:xfrm>
        </p:spPr>
        <p:txBody>
          <a:bodyPr/>
          <a:lstStyle/>
          <a:p>
            <a:r>
              <a:rPr lang="fr-FR" dirty="0"/>
              <a:t>Trigger a </a:t>
            </a:r>
            <a:r>
              <a:rPr lang="fr-FR" dirty="0" err="1"/>
              <a:t>password</a:t>
            </a:r>
            <a:r>
              <a:rPr lang="fr-FR" dirty="0"/>
              <a:t> reset to all </a:t>
            </a:r>
            <a:r>
              <a:rPr lang="fr-FR" dirty="0" err="1"/>
              <a:t>impacted</a:t>
            </a:r>
            <a:r>
              <a:rPr lang="fr-FR" dirty="0"/>
              <a:t> </a:t>
            </a:r>
            <a:r>
              <a:rPr lang="fr-FR" dirty="0" err="1"/>
              <a:t>users</a:t>
            </a:r>
            <a:r>
              <a:rPr lang="fr-FR" dirty="0"/>
              <a:t> </a:t>
            </a:r>
            <a:r>
              <a:rPr lang="fr-FR" dirty="0" err="1"/>
              <a:t>is</a:t>
            </a:r>
            <a:r>
              <a:rPr lang="fr-FR" dirty="0"/>
              <a:t> the </a:t>
            </a:r>
            <a:r>
              <a:rPr lang="fr-FR" dirty="0" err="1"/>
              <a:t>ethical</a:t>
            </a:r>
            <a:r>
              <a:rPr lang="fr-FR" dirty="0"/>
              <a:t> </a:t>
            </a:r>
            <a:r>
              <a:rPr lang="fr-FR" dirty="0" err="1"/>
              <a:t>way</a:t>
            </a:r>
            <a:r>
              <a:rPr lang="fr-FR" dirty="0"/>
              <a:t> in </a:t>
            </a:r>
            <a:r>
              <a:rPr lang="fr-FR" dirty="0" err="1"/>
              <a:t>such</a:t>
            </a:r>
            <a:r>
              <a:rPr lang="fr-FR" dirty="0"/>
              <a:t> situations.</a:t>
            </a:r>
            <a:endParaRPr lang="sv-SE" dirty="0"/>
          </a:p>
        </p:txBody>
      </p:sp>
      <p:pic>
        <p:nvPicPr>
          <p:cNvPr id="3074" name="Picture 2">
            <a:extLst>
              <a:ext uri="{FF2B5EF4-FFF2-40B4-BE49-F238E27FC236}">
                <a16:creationId xmlns:a16="http://schemas.microsoft.com/office/drawing/2014/main" id="{4C7AFC73-08F4-4508-93C3-8608EAA00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675" y="794404"/>
            <a:ext cx="11058649" cy="36487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A63D98-7CF4-4032-8DE2-55C5CF2BD76F}"/>
              </a:ext>
            </a:extLst>
          </p:cNvPr>
          <p:cNvPicPr>
            <a:picLocks noChangeAspect="1"/>
          </p:cNvPicPr>
          <p:nvPr/>
        </p:nvPicPr>
        <p:blipFill>
          <a:blip r:embed="rId3"/>
          <a:stretch>
            <a:fillRect/>
          </a:stretch>
        </p:blipFill>
        <p:spPr>
          <a:xfrm>
            <a:off x="6941127" y="4111811"/>
            <a:ext cx="5001490" cy="2417628"/>
          </a:xfrm>
          <a:prstGeom prst="rect">
            <a:avLst/>
          </a:prstGeom>
        </p:spPr>
      </p:pic>
      <p:sp>
        <p:nvSpPr>
          <p:cNvPr id="6" name="Title 5">
            <a:extLst>
              <a:ext uri="{FF2B5EF4-FFF2-40B4-BE49-F238E27FC236}">
                <a16:creationId xmlns:a16="http://schemas.microsoft.com/office/drawing/2014/main" id="{1210A032-6756-4B9B-BA02-005BFFD27711}"/>
              </a:ext>
            </a:extLst>
          </p:cNvPr>
          <p:cNvSpPr>
            <a:spLocks noGrp="1"/>
          </p:cNvSpPr>
          <p:nvPr>
            <p:ph type="title"/>
          </p:nvPr>
        </p:nvSpPr>
        <p:spPr/>
        <p:txBody>
          <a:bodyPr/>
          <a:lstStyle/>
          <a:p>
            <a:r>
              <a:rPr lang="fr-FR" dirty="0"/>
              <a:t>Step2: Reset </a:t>
            </a:r>
            <a:r>
              <a:rPr lang="fr-FR" dirty="0" err="1"/>
              <a:t>password</a:t>
            </a:r>
            <a:r>
              <a:rPr lang="fr-FR" dirty="0"/>
              <a:t> for all CDC </a:t>
            </a:r>
            <a:r>
              <a:rPr lang="fr-FR" dirty="0" err="1"/>
              <a:t>users</a:t>
            </a:r>
            <a:r>
              <a:rPr lang="fr-FR" dirty="0"/>
              <a:t> ?</a:t>
            </a:r>
            <a:endParaRPr lang="sv-SE" dirty="0"/>
          </a:p>
        </p:txBody>
      </p:sp>
    </p:spTree>
    <p:extLst>
      <p:ext uri="{BB962C8B-B14F-4D97-AF65-F5344CB8AC3E}">
        <p14:creationId xmlns:p14="http://schemas.microsoft.com/office/powerpoint/2010/main" val="1764017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E79738C4-8232-460C-BCBB-2FA2E698F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9661" y="453819"/>
            <a:ext cx="9429750" cy="408622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AA2C1503-023A-4322-9CEF-17253467610A}"/>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1B8B8E0A-4169-4519-9089-DB04913C833B}"/>
              </a:ext>
            </a:extLst>
          </p:cNvPr>
          <p:cNvSpPr>
            <a:spLocks noGrp="1"/>
          </p:cNvSpPr>
          <p:nvPr>
            <p:ph type="sldNum" sz="quarter" idx="13"/>
          </p:nvPr>
        </p:nvSpPr>
        <p:spPr/>
        <p:txBody>
          <a:bodyPr/>
          <a:lstStyle/>
          <a:p>
            <a:fld id="{09471650-AE8C-4F0A-9990-7EAE6F8DE484}" type="slidenum">
              <a:rPr lang="en-GB" smtClean="0"/>
              <a:pPr/>
              <a:t>17</a:t>
            </a:fld>
            <a:endParaRPr lang="en-GB" dirty="0"/>
          </a:p>
        </p:txBody>
      </p:sp>
      <p:sp>
        <p:nvSpPr>
          <p:cNvPr id="4" name="Footer Placeholder 3">
            <a:extLst>
              <a:ext uri="{FF2B5EF4-FFF2-40B4-BE49-F238E27FC236}">
                <a16:creationId xmlns:a16="http://schemas.microsoft.com/office/drawing/2014/main" id="{0CC2440F-D7F2-4748-A1C4-04B0E6D176C3}"/>
              </a:ext>
            </a:extLst>
          </p:cNvPr>
          <p:cNvSpPr>
            <a:spLocks noGrp="1"/>
          </p:cNvSpPr>
          <p:nvPr>
            <p:ph type="ftr" sz="quarter" idx="14"/>
          </p:nvPr>
        </p:nvSpPr>
        <p:spPr/>
        <p:txBody>
          <a:bodyPr/>
          <a:lstStyle/>
          <a:p>
            <a:endParaRPr lang="en-GB" dirty="0"/>
          </a:p>
        </p:txBody>
      </p:sp>
      <p:sp>
        <p:nvSpPr>
          <p:cNvPr id="6" name="Title 5">
            <a:extLst>
              <a:ext uri="{FF2B5EF4-FFF2-40B4-BE49-F238E27FC236}">
                <a16:creationId xmlns:a16="http://schemas.microsoft.com/office/drawing/2014/main" id="{6F5BA326-4D2C-498E-A28E-E3F184451FE4}"/>
              </a:ext>
            </a:extLst>
          </p:cNvPr>
          <p:cNvSpPr>
            <a:spLocks noGrp="1"/>
          </p:cNvSpPr>
          <p:nvPr>
            <p:ph type="title"/>
          </p:nvPr>
        </p:nvSpPr>
        <p:spPr/>
        <p:txBody>
          <a:bodyPr/>
          <a:lstStyle/>
          <a:p>
            <a:r>
              <a:rPr lang="fr-FR" dirty="0" err="1"/>
              <a:t>Proposal</a:t>
            </a:r>
            <a:r>
              <a:rPr lang="fr-FR" dirty="0"/>
              <a:t>: </a:t>
            </a:r>
            <a:r>
              <a:rPr lang="fr-FR" dirty="0" err="1"/>
              <a:t>Reduce</a:t>
            </a:r>
            <a:r>
              <a:rPr lang="fr-FR" dirty="0"/>
              <a:t> </a:t>
            </a:r>
            <a:r>
              <a:rPr lang="fr-FR" dirty="0" err="1"/>
              <a:t>hops</a:t>
            </a:r>
            <a:r>
              <a:rPr lang="fr-FR" dirty="0"/>
              <a:t> on the Login Flow</a:t>
            </a:r>
            <a:endParaRPr lang="sv-SE" dirty="0"/>
          </a:p>
        </p:txBody>
      </p:sp>
      <p:sp>
        <p:nvSpPr>
          <p:cNvPr id="5" name="Text Placeholder 4">
            <a:extLst>
              <a:ext uri="{FF2B5EF4-FFF2-40B4-BE49-F238E27FC236}">
                <a16:creationId xmlns:a16="http://schemas.microsoft.com/office/drawing/2014/main" id="{69350B0F-EF5B-4893-A8BF-1099BCEF1BB0}"/>
              </a:ext>
            </a:extLst>
          </p:cNvPr>
          <p:cNvSpPr>
            <a:spLocks noGrp="1"/>
          </p:cNvSpPr>
          <p:nvPr>
            <p:ph type="body" sz="quarter" idx="15"/>
          </p:nvPr>
        </p:nvSpPr>
        <p:spPr>
          <a:xfrm>
            <a:off x="371475" y="6253711"/>
            <a:ext cx="11449050" cy="319611"/>
          </a:xfrm>
        </p:spPr>
        <p:txBody>
          <a:bodyPr/>
          <a:lstStyle/>
          <a:p>
            <a:r>
              <a:rPr lang="fr-FR" dirty="0" err="1"/>
              <a:t>We</a:t>
            </a:r>
            <a:r>
              <a:rPr lang="fr-FR" dirty="0"/>
              <a:t> </a:t>
            </a:r>
            <a:r>
              <a:rPr lang="fr-FR" dirty="0" err="1"/>
              <a:t>need</a:t>
            </a:r>
            <a:r>
              <a:rPr lang="fr-FR" dirty="0"/>
              <a:t> to </a:t>
            </a:r>
            <a:r>
              <a:rPr lang="fr-FR" dirty="0" err="1"/>
              <a:t>reduce</a:t>
            </a:r>
            <a:r>
              <a:rPr lang="fr-FR" dirty="0"/>
              <a:t> the applications/</a:t>
            </a:r>
            <a:r>
              <a:rPr lang="fr-FR" dirty="0" err="1"/>
              <a:t>systems</a:t>
            </a:r>
            <a:r>
              <a:rPr lang="fr-FR" dirty="0"/>
              <a:t> </a:t>
            </a:r>
            <a:r>
              <a:rPr lang="fr-FR" dirty="0" err="1"/>
              <a:t>that</a:t>
            </a:r>
            <a:r>
              <a:rPr lang="fr-FR" dirty="0"/>
              <a:t> can intercept or log the login information.</a:t>
            </a:r>
          </a:p>
        </p:txBody>
      </p:sp>
      <p:pic>
        <p:nvPicPr>
          <p:cNvPr id="2058" name="Picture 10">
            <a:extLst>
              <a:ext uri="{FF2B5EF4-FFF2-40B4-BE49-F238E27FC236}">
                <a16:creationId xmlns:a16="http://schemas.microsoft.com/office/drawing/2014/main" id="{91800A9B-2FD0-48A9-A4CB-A03AB411F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8466" y="3062014"/>
            <a:ext cx="5843587" cy="2985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917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45D9F8-DE8B-49B4-A988-2B428F9D5170}"/>
              </a:ext>
            </a:extLst>
          </p:cNvPr>
          <p:cNvSpPr>
            <a:spLocks noGrp="1"/>
          </p:cNvSpPr>
          <p:nvPr>
            <p:ph type="body" sz="half" idx="2"/>
          </p:nvPr>
        </p:nvSpPr>
        <p:spPr/>
        <p:txBody>
          <a:bodyPr/>
          <a:lstStyle/>
          <a:p>
            <a:endParaRPr lang="sv-SE" dirty="0"/>
          </a:p>
        </p:txBody>
      </p:sp>
      <p:sp>
        <p:nvSpPr>
          <p:cNvPr id="3" name="Slide Number Placeholder 2">
            <a:extLst>
              <a:ext uri="{FF2B5EF4-FFF2-40B4-BE49-F238E27FC236}">
                <a16:creationId xmlns:a16="http://schemas.microsoft.com/office/drawing/2014/main" id="{7CA9B093-ED9F-4264-A631-A53E5CC83859}"/>
              </a:ext>
            </a:extLst>
          </p:cNvPr>
          <p:cNvSpPr>
            <a:spLocks noGrp="1"/>
          </p:cNvSpPr>
          <p:nvPr>
            <p:ph type="sldNum" sz="quarter" idx="13"/>
          </p:nvPr>
        </p:nvSpPr>
        <p:spPr/>
        <p:txBody>
          <a:bodyPr/>
          <a:lstStyle/>
          <a:p>
            <a:fld id="{09471650-AE8C-4F0A-9990-7EAE6F8DE484}" type="slidenum">
              <a:rPr lang="en-GB" smtClean="0"/>
              <a:pPr/>
              <a:t>18</a:t>
            </a:fld>
            <a:endParaRPr lang="en-GB" dirty="0"/>
          </a:p>
        </p:txBody>
      </p:sp>
      <p:sp>
        <p:nvSpPr>
          <p:cNvPr id="4" name="Footer Placeholder 3">
            <a:extLst>
              <a:ext uri="{FF2B5EF4-FFF2-40B4-BE49-F238E27FC236}">
                <a16:creationId xmlns:a16="http://schemas.microsoft.com/office/drawing/2014/main" id="{1D3BB7F1-5BA8-4A51-96D2-BDE3D6BB6752}"/>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35CF562F-BA55-44FE-92DF-86ED88C773C8}"/>
              </a:ext>
            </a:extLst>
          </p:cNvPr>
          <p:cNvSpPr>
            <a:spLocks noGrp="1"/>
          </p:cNvSpPr>
          <p:nvPr>
            <p:ph type="body" sz="quarter" idx="15"/>
          </p:nvPr>
        </p:nvSpPr>
        <p:spPr>
          <a:xfrm>
            <a:off x="371475" y="1083076"/>
            <a:ext cx="11449050" cy="5203424"/>
          </a:xfrm>
        </p:spPr>
        <p:txBody>
          <a:bodyPr/>
          <a:lstStyle/>
          <a:p>
            <a:r>
              <a:rPr lang="fr-FR" sz="1800" dirty="0"/>
              <a:t>I </a:t>
            </a:r>
            <a:r>
              <a:rPr lang="fr-FR" sz="1800" dirty="0" err="1"/>
              <a:t>think</a:t>
            </a:r>
            <a:r>
              <a:rPr lang="fr-FR" sz="1800" dirty="0"/>
              <a:t> </a:t>
            </a:r>
            <a:r>
              <a:rPr lang="fr-FR" sz="1800" dirty="0" err="1"/>
              <a:t>it’s</a:t>
            </a:r>
            <a:r>
              <a:rPr lang="fr-FR" sz="1800" dirty="0"/>
              <a:t> important to </a:t>
            </a:r>
            <a:r>
              <a:rPr lang="fr-FR" sz="1800" dirty="0" err="1"/>
              <a:t>address</a:t>
            </a:r>
            <a:r>
              <a:rPr lang="fr-FR" sz="1800" dirty="0"/>
              <a:t> </a:t>
            </a:r>
            <a:r>
              <a:rPr lang="fr-FR" sz="1800" dirty="0" err="1"/>
              <a:t>this</a:t>
            </a:r>
            <a:r>
              <a:rPr lang="fr-FR" sz="1800" dirty="0"/>
              <a:t> </a:t>
            </a:r>
            <a:r>
              <a:rPr lang="fr-FR" sz="1800" dirty="0" err="1"/>
              <a:t>quickly</a:t>
            </a:r>
            <a:r>
              <a:rPr lang="fr-FR" sz="1800" dirty="0"/>
              <a:t>, For sure </a:t>
            </a:r>
            <a:r>
              <a:rPr lang="fr-FR" sz="1800" dirty="0" err="1"/>
              <a:t>we</a:t>
            </a:r>
            <a:r>
              <a:rPr lang="fr-FR" sz="1800" dirty="0"/>
              <a:t> </a:t>
            </a:r>
            <a:r>
              <a:rPr lang="fr-FR" sz="1800" dirty="0" err="1"/>
              <a:t>need</a:t>
            </a:r>
            <a:r>
              <a:rPr lang="fr-FR" sz="1800" dirty="0"/>
              <a:t> to </a:t>
            </a:r>
            <a:r>
              <a:rPr lang="fr-FR" sz="1800" dirty="0" err="1"/>
              <a:t>act</a:t>
            </a:r>
            <a:r>
              <a:rPr lang="fr-FR" sz="1800" dirty="0"/>
              <a:t> on </a:t>
            </a:r>
            <a:r>
              <a:rPr lang="fr-FR" sz="1800" dirty="0" err="1"/>
              <a:t>this</a:t>
            </a:r>
            <a:r>
              <a:rPr lang="fr-FR" sz="1800" dirty="0"/>
              <a:t> </a:t>
            </a:r>
            <a:r>
              <a:rPr lang="fr-FR" sz="1800" dirty="0" err="1"/>
              <a:t>before</a:t>
            </a:r>
            <a:r>
              <a:rPr lang="fr-FR" sz="1800" dirty="0"/>
              <a:t> </a:t>
            </a:r>
            <a:r>
              <a:rPr lang="fr-FR" sz="1800" dirty="0" err="1"/>
              <a:t>further</a:t>
            </a:r>
            <a:r>
              <a:rPr lang="fr-FR" sz="1800" dirty="0"/>
              <a:t> </a:t>
            </a:r>
            <a:r>
              <a:rPr lang="fr-FR" sz="1800" dirty="0" err="1"/>
              <a:t>implementations</a:t>
            </a:r>
            <a:r>
              <a:rPr lang="fr-FR" sz="1800" dirty="0"/>
              <a:t> of the CDC </a:t>
            </a:r>
            <a:r>
              <a:rPr lang="fr-FR" sz="1800" dirty="0" err="1"/>
              <a:t>tool</a:t>
            </a:r>
            <a:r>
              <a:rPr lang="fr-FR" sz="1800" dirty="0"/>
              <a:t> </a:t>
            </a:r>
            <a:r>
              <a:rPr lang="fr-FR" sz="1800" dirty="0" err="1"/>
              <a:t>across</a:t>
            </a:r>
            <a:r>
              <a:rPr lang="fr-FR" sz="1800" dirty="0"/>
              <a:t> </a:t>
            </a:r>
            <a:r>
              <a:rPr lang="fr-FR" sz="1800" dirty="0" err="1"/>
              <a:t>regions</a:t>
            </a:r>
            <a:r>
              <a:rPr lang="fr-FR" sz="1800" dirty="0"/>
              <a:t>.</a:t>
            </a:r>
          </a:p>
          <a:p>
            <a:r>
              <a:rPr lang="fr-FR" sz="1800" dirty="0" err="1"/>
              <a:t>Goverance</a:t>
            </a:r>
            <a:r>
              <a:rPr lang="fr-FR" sz="1800" dirty="0"/>
              <a:t> and </a:t>
            </a:r>
            <a:r>
              <a:rPr lang="fr-FR" sz="1800" dirty="0" err="1"/>
              <a:t>proper</a:t>
            </a:r>
            <a:r>
              <a:rPr lang="fr-FR" sz="1800" dirty="0"/>
              <a:t> RBAC on </a:t>
            </a:r>
            <a:r>
              <a:rPr lang="fr-FR" sz="1800" dirty="0" err="1"/>
              <a:t>our</a:t>
            </a:r>
            <a:r>
              <a:rPr lang="fr-FR" sz="1800" dirty="0"/>
              <a:t> Azure </a:t>
            </a:r>
            <a:r>
              <a:rPr lang="fr-FR" sz="1800" dirty="0" err="1"/>
              <a:t>environment</a:t>
            </a:r>
            <a:r>
              <a:rPr lang="fr-FR" sz="1800" dirty="0"/>
              <a:t>.</a:t>
            </a:r>
          </a:p>
          <a:p>
            <a:r>
              <a:rPr lang="fr-FR" sz="1800" dirty="0"/>
              <a:t>Customer </a:t>
            </a:r>
            <a:r>
              <a:rPr lang="fr-FR" sz="1800" dirty="0" err="1"/>
              <a:t>credentials</a:t>
            </a:r>
            <a:r>
              <a:rPr lang="fr-FR" sz="1800" dirty="0"/>
              <a:t>:</a:t>
            </a:r>
          </a:p>
          <a:p>
            <a:pPr marL="457200" indent="-457200">
              <a:buFont typeface="+mj-lt"/>
              <a:buAutoNum type="arabicPeriod"/>
            </a:pPr>
            <a:r>
              <a:rPr lang="fr-FR" sz="1400" dirty="0" err="1"/>
              <a:t>We</a:t>
            </a:r>
            <a:r>
              <a:rPr lang="fr-FR" sz="1400" dirty="0"/>
              <a:t> </a:t>
            </a:r>
            <a:r>
              <a:rPr lang="fr-FR" sz="1400" dirty="0" err="1"/>
              <a:t>need</a:t>
            </a:r>
            <a:r>
              <a:rPr lang="fr-FR" sz="1400" dirty="0"/>
              <a:t>  to </a:t>
            </a:r>
            <a:r>
              <a:rPr lang="fr-FR" sz="1400" dirty="0" err="1"/>
              <a:t>make</a:t>
            </a:r>
            <a:r>
              <a:rPr lang="fr-FR" sz="1400" dirty="0"/>
              <a:t> sure to </a:t>
            </a:r>
            <a:r>
              <a:rPr lang="fr-FR" sz="1400" b="1" dirty="0"/>
              <a:t>stop </a:t>
            </a:r>
            <a:r>
              <a:rPr lang="fr-FR" sz="1400" b="1" dirty="0" err="1"/>
              <a:t>capturing</a:t>
            </a:r>
            <a:r>
              <a:rPr lang="fr-FR" sz="1400" b="1" dirty="0"/>
              <a:t> the </a:t>
            </a:r>
            <a:r>
              <a:rPr lang="fr-FR" sz="1400" b="1" dirty="0" err="1"/>
              <a:t>passwords</a:t>
            </a:r>
            <a:r>
              <a:rPr lang="fr-FR" sz="1400" dirty="0"/>
              <a:t> </a:t>
            </a:r>
            <a:r>
              <a:rPr lang="fr-FR" sz="1400" dirty="0" err="1"/>
              <a:t>across</a:t>
            </a:r>
            <a:r>
              <a:rPr lang="fr-FR" sz="1400" dirty="0"/>
              <a:t> all </a:t>
            </a:r>
            <a:r>
              <a:rPr lang="fr-FR" sz="1400" dirty="0" err="1"/>
              <a:t>systems</a:t>
            </a:r>
            <a:r>
              <a:rPr lang="fr-FR" sz="1400" dirty="0"/>
              <a:t>.</a:t>
            </a:r>
          </a:p>
          <a:p>
            <a:pPr marL="457200" indent="-457200">
              <a:buFont typeface="+mj-lt"/>
              <a:buAutoNum type="arabicPeriod"/>
            </a:pPr>
            <a:r>
              <a:rPr lang="fr-FR" sz="1400" dirty="0" err="1"/>
              <a:t>We</a:t>
            </a:r>
            <a:r>
              <a:rPr lang="fr-FR" sz="1400" dirty="0"/>
              <a:t> </a:t>
            </a:r>
            <a:r>
              <a:rPr lang="fr-FR" sz="1400" dirty="0" err="1"/>
              <a:t>need</a:t>
            </a:r>
            <a:r>
              <a:rPr lang="fr-FR" sz="1400" dirty="0"/>
              <a:t> to </a:t>
            </a:r>
            <a:r>
              <a:rPr lang="fr-FR" sz="1400" dirty="0" err="1"/>
              <a:t>make</a:t>
            </a:r>
            <a:r>
              <a:rPr lang="fr-FR" sz="1400" dirty="0"/>
              <a:t> sure the </a:t>
            </a:r>
            <a:r>
              <a:rPr lang="fr-FR" sz="1400" b="1" dirty="0" err="1"/>
              <a:t>passwords</a:t>
            </a:r>
            <a:r>
              <a:rPr lang="fr-FR" sz="1400" b="1" dirty="0"/>
              <a:t> are </a:t>
            </a:r>
            <a:r>
              <a:rPr lang="fr-FR" sz="1400" b="1" dirty="0" err="1"/>
              <a:t>removed</a:t>
            </a:r>
            <a:r>
              <a:rPr lang="fr-FR" sz="1400" b="1" dirty="0"/>
              <a:t> </a:t>
            </a:r>
            <a:r>
              <a:rPr lang="fr-FR" sz="1400" b="1" dirty="0" err="1"/>
              <a:t>from</a:t>
            </a:r>
            <a:r>
              <a:rPr lang="fr-FR" sz="1400" b="1" dirty="0"/>
              <a:t> all logs</a:t>
            </a:r>
            <a:r>
              <a:rPr lang="fr-FR" sz="1400" dirty="0"/>
              <a:t>: APIs/</a:t>
            </a:r>
            <a:r>
              <a:rPr lang="fr-FR" sz="1400" dirty="0" err="1"/>
              <a:t>Microservices</a:t>
            </a:r>
            <a:r>
              <a:rPr lang="fr-FR" sz="1400" dirty="0"/>
              <a:t>.</a:t>
            </a:r>
          </a:p>
          <a:p>
            <a:pPr marL="457200" indent="-457200">
              <a:buFont typeface="+mj-lt"/>
              <a:buAutoNum type="arabicPeriod"/>
            </a:pPr>
            <a:r>
              <a:rPr lang="fr-FR" sz="1400" dirty="0" err="1"/>
              <a:t>We</a:t>
            </a:r>
            <a:r>
              <a:rPr lang="fr-FR" sz="1400" dirty="0"/>
              <a:t> </a:t>
            </a:r>
            <a:r>
              <a:rPr lang="fr-FR" sz="1400" dirty="0" err="1"/>
              <a:t>need</a:t>
            </a:r>
            <a:r>
              <a:rPr lang="fr-FR" sz="1400" dirty="0"/>
              <a:t> to </a:t>
            </a:r>
            <a:r>
              <a:rPr lang="fr-FR" sz="1400" dirty="0" err="1"/>
              <a:t>get</a:t>
            </a:r>
            <a:r>
              <a:rPr lang="fr-FR" sz="1400" dirty="0"/>
              <a:t> the </a:t>
            </a:r>
            <a:r>
              <a:rPr lang="fr-FR" sz="1400" dirty="0" err="1"/>
              <a:t>list</a:t>
            </a:r>
            <a:r>
              <a:rPr lang="fr-FR" sz="1400" dirty="0"/>
              <a:t> of </a:t>
            </a:r>
            <a:r>
              <a:rPr lang="fr-FR" sz="1400" b="1" dirty="0"/>
              <a:t>all </a:t>
            </a:r>
            <a:r>
              <a:rPr lang="fr-FR" sz="1400" b="1" dirty="0" err="1"/>
              <a:t>impacted</a:t>
            </a:r>
            <a:r>
              <a:rPr lang="fr-FR" sz="1400" b="1" dirty="0"/>
              <a:t> </a:t>
            </a:r>
            <a:r>
              <a:rPr lang="fr-FR" sz="1400" b="1" dirty="0" err="1"/>
              <a:t>customers</a:t>
            </a:r>
            <a:r>
              <a:rPr lang="fr-FR" sz="1400" b="1" dirty="0"/>
              <a:t> </a:t>
            </a:r>
            <a:r>
              <a:rPr lang="fr-FR" sz="1400" dirty="0" err="1"/>
              <a:t>from</a:t>
            </a:r>
            <a:r>
              <a:rPr lang="fr-FR" sz="1400" dirty="0"/>
              <a:t> Log </a:t>
            </a:r>
            <a:r>
              <a:rPr lang="fr-FR" sz="1400" dirty="0" err="1"/>
              <a:t>analytics</a:t>
            </a:r>
            <a:r>
              <a:rPr lang="fr-FR" sz="1400" dirty="0"/>
              <a:t>.</a:t>
            </a:r>
          </a:p>
          <a:p>
            <a:pPr marL="457200" indent="-457200">
              <a:buFont typeface="+mj-lt"/>
              <a:buAutoNum type="arabicPeriod"/>
            </a:pPr>
            <a:r>
              <a:rPr lang="fr-FR" sz="1400" dirty="0" err="1"/>
              <a:t>We</a:t>
            </a:r>
            <a:r>
              <a:rPr lang="fr-FR" sz="1400" dirty="0"/>
              <a:t> </a:t>
            </a:r>
            <a:r>
              <a:rPr lang="fr-FR" sz="1400" dirty="0" err="1"/>
              <a:t>need</a:t>
            </a:r>
            <a:r>
              <a:rPr lang="fr-FR" sz="1400" dirty="0"/>
              <a:t> to trigger </a:t>
            </a:r>
            <a:r>
              <a:rPr lang="fr-FR" sz="1400" b="1" dirty="0"/>
              <a:t>a reset </a:t>
            </a:r>
            <a:r>
              <a:rPr lang="fr-FR" sz="1400" b="1" dirty="0" err="1"/>
              <a:t>password</a:t>
            </a:r>
            <a:r>
              <a:rPr lang="fr-FR" sz="1400" b="1" dirty="0"/>
              <a:t> for all </a:t>
            </a:r>
            <a:r>
              <a:rPr lang="fr-FR" sz="1400" b="1" dirty="0" err="1"/>
              <a:t>impacted</a:t>
            </a:r>
            <a:r>
              <a:rPr lang="fr-FR" sz="1400" b="1" dirty="0"/>
              <a:t> </a:t>
            </a:r>
            <a:r>
              <a:rPr lang="fr-FR" sz="1400" b="1" dirty="0" err="1"/>
              <a:t>users</a:t>
            </a:r>
            <a:r>
              <a:rPr lang="fr-FR" sz="1400" dirty="0"/>
              <a:t>.</a:t>
            </a:r>
          </a:p>
          <a:p>
            <a:pPr marL="457200" indent="-457200">
              <a:buFont typeface="+mj-lt"/>
              <a:buAutoNum type="arabicPeriod"/>
            </a:pPr>
            <a:r>
              <a:rPr lang="fr-FR" sz="1400" dirty="0" err="1"/>
              <a:t>We</a:t>
            </a:r>
            <a:r>
              <a:rPr lang="fr-FR" sz="1400" dirty="0"/>
              <a:t> </a:t>
            </a:r>
            <a:r>
              <a:rPr lang="fr-FR" sz="1400" dirty="0" err="1"/>
              <a:t>need</a:t>
            </a:r>
            <a:r>
              <a:rPr lang="fr-FR" sz="1400" dirty="0"/>
              <a:t> to </a:t>
            </a:r>
            <a:r>
              <a:rPr lang="fr-FR" sz="1400" b="1" dirty="0" err="1"/>
              <a:t>encrypt</a:t>
            </a:r>
            <a:r>
              <a:rPr lang="fr-FR" sz="1400" b="1" dirty="0"/>
              <a:t> PII in the </a:t>
            </a:r>
            <a:r>
              <a:rPr lang="fr-FR" sz="1400" b="1" dirty="0" err="1"/>
              <a:t>request</a:t>
            </a:r>
            <a:r>
              <a:rPr lang="fr-FR" sz="1400" b="1" dirty="0"/>
              <a:t> </a:t>
            </a:r>
            <a:r>
              <a:rPr lang="fr-FR" sz="1400" b="1" dirty="0" err="1"/>
              <a:t>payload</a:t>
            </a:r>
            <a:r>
              <a:rPr lang="fr-FR" sz="1400" b="1" dirty="0"/>
              <a:t> </a:t>
            </a:r>
            <a:r>
              <a:rPr lang="fr-FR" sz="1400" dirty="0"/>
              <a:t>in case a channels </a:t>
            </a:r>
            <a:r>
              <a:rPr lang="fr-FR" sz="1400" dirty="0" err="1"/>
              <a:t>is</a:t>
            </a:r>
            <a:r>
              <a:rPr lang="fr-FR" sz="1400" dirty="0"/>
              <a:t> </a:t>
            </a:r>
            <a:r>
              <a:rPr lang="fr-FR" sz="1400" dirty="0" err="1"/>
              <a:t>storing</a:t>
            </a:r>
            <a:r>
              <a:rPr lang="fr-FR" sz="1400" dirty="0"/>
              <a:t> </a:t>
            </a:r>
            <a:r>
              <a:rPr lang="fr-FR" sz="1400" dirty="0" err="1"/>
              <a:t>that</a:t>
            </a:r>
            <a:r>
              <a:rPr lang="fr-FR" sz="1400" dirty="0"/>
              <a:t> information (</a:t>
            </a:r>
            <a:r>
              <a:rPr lang="fr-FR" sz="1400" dirty="0" err="1"/>
              <a:t>Oneapp</a:t>
            </a:r>
            <a:r>
              <a:rPr lang="fr-FR" sz="1400" dirty="0"/>
              <a:t>)</a:t>
            </a:r>
          </a:p>
          <a:p>
            <a:pPr marL="457200" indent="-457200">
              <a:buFont typeface="+mj-lt"/>
              <a:buAutoNum type="arabicPeriod"/>
            </a:pPr>
            <a:endParaRPr lang="fr-FR" sz="1400" dirty="0"/>
          </a:p>
          <a:p>
            <a:r>
              <a:rPr lang="fr-FR" sz="1800" dirty="0"/>
              <a:t>CIAM/CDC </a:t>
            </a:r>
            <a:r>
              <a:rPr lang="fr-FR" sz="1800" dirty="0" err="1"/>
              <a:t>credentials</a:t>
            </a:r>
            <a:r>
              <a:rPr lang="fr-FR" sz="1800" dirty="0"/>
              <a:t>:</a:t>
            </a:r>
          </a:p>
          <a:p>
            <a:pPr marL="342900" indent="-342900">
              <a:buFont typeface="+mj-lt"/>
              <a:buAutoNum type="arabicPeriod"/>
            </a:pPr>
            <a:r>
              <a:rPr lang="fr-FR" sz="1400" dirty="0" err="1"/>
              <a:t>We</a:t>
            </a:r>
            <a:r>
              <a:rPr lang="fr-FR" sz="1400" dirty="0"/>
              <a:t> </a:t>
            </a:r>
            <a:r>
              <a:rPr lang="fr-FR" sz="1400" dirty="0" err="1"/>
              <a:t>need</a:t>
            </a:r>
            <a:r>
              <a:rPr lang="fr-FR" sz="1400" dirty="0"/>
              <a:t> to </a:t>
            </a:r>
            <a:r>
              <a:rPr lang="fr-FR" sz="1400" dirty="0" err="1"/>
              <a:t>regenerate</a:t>
            </a:r>
            <a:r>
              <a:rPr lang="fr-FR" sz="1400" dirty="0"/>
              <a:t> the </a:t>
            </a:r>
            <a:r>
              <a:rPr lang="fr-FR" sz="1400" dirty="0" err="1"/>
              <a:t>ApiKeys</a:t>
            </a:r>
            <a:r>
              <a:rPr lang="fr-FR" sz="1400" dirty="0"/>
              <a:t> for all </a:t>
            </a:r>
            <a:r>
              <a:rPr lang="fr-FR" sz="1400" dirty="0" err="1"/>
              <a:t>impacted</a:t>
            </a:r>
            <a:r>
              <a:rPr lang="fr-FR" sz="1400" dirty="0"/>
              <a:t> channels </a:t>
            </a:r>
            <a:r>
              <a:rPr lang="fr-FR" sz="1400" dirty="0" err="1"/>
              <a:t>from</a:t>
            </a:r>
            <a:r>
              <a:rPr lang="fr-FR" sz="1400" dirty="0"/>
              <a:t> CDC (</a:t>
            </a:r>
            <a:r>
              <a:rPr lang="fr-FR" sz="1400" dirty="0" err="1"/>
              <a:t>primarily</a:t>
            </a:r>
            <a:r>
              <a:rPr lang="fr-FR" sz="1400" dirty="0"/>
              <a:t> the </a:t>
            </a:r>
            <a:r>
              <a:rPr lang="fr-FR" sz="1400" dirty="0" err="1"/>
              <a:t>ones</a:t>
            </a:r>
            <a:r>
              <a:rPr lang="fr-FR" sz="1400" dirty="0"/>
              <a:t> </a:t>
            </a:r>
            <a:r>
              <a:rPr lang="fr-FR" sz="1400" dirty="0" err="1"/>
              <a:t>using</a:t>
            </a:r>
            <a:r>
              <a:rPr lang="fr-FR" sz="1400" dirty="0"/>
              <a:t> CDC APIM </a:t>
            </a:r>
            <a:r>
              <a:rPr lang="fr-FR" sz="1400" dirty="0" err="1"/>
              <a:t>proxies</a:t>
            </a:r>
            <a:r>
              <a:rPr lang="fr-FR" sz="1400" dirty="0"/>
              <a:t>).</a:t>
            </a:r>
          </a:p>
          <a:p>
            <a:pPr marL="342900" indent="-342900">
              <a:buFont typeface="+mj-lt"/>
              <a:buAutoNum type="arabicPeriod"/>
            </a:pPr>
            <a:r>
              <a:rPr lang="fr-FR" sz="1400" dirty="0"/>
              <a:t>Change the </a:t>
            </a:r>
            <a:r>
              <a:rPr lang="fr-FR" sz="1400" dirty="0" err="1"/>
              <a:t>existing</a:t>
            </a:r>
            <a:r>
              <a:rPr lang="fr-FR" sz="1400" dirty="0"/>
              <a:t> </a:t>
            </a:r>
            <a:r>
              <a:rPr lang="fr-FR" sz="1400" dirty="0" err="1"/>
              <a:t>ApiKeys</a:t>
            </a:r>
            <a:r>
              <a:rPr lang="fr-FR" sz="1400" dirty="0"/>
              <a:t> on all </a:t>
            </a:r>
            <a:r>
              <a:rPr lang="fr-FR" sz="1400" dirty="0" err="1"/>
              <a:t>impacted</a:t>
            </a:r>
            <a:r>
              <a:rPr lang="fr-FR" sz="1400" dirty="0"/>
              <a:t> channels.</a:t>
            </a:r>
          </a:p>
          <a:p>
            <a:pPr marL="342900" indent="-342900">
              <a:buFont typeface="+mj-lt"/>
              <a:buAutoNum type="arabicPeriod"/>
            </a:pPr>
            <a:r>
              <a:rPr lang="fr-FR" sz="1400" dirty="0" err="1"/>
              <a:t>Make</a:t>
            </a:r>
            <a:r>
              <a:rPr lang="fr-FR" sz="1400" dirty="0"/>
              <a:t> sure to store the CDC secrets in a </a:t>
            </a:r>
            <a:r>
              <a:rPr lang="fr-FR" sz="1400" dirty="0" err="1"/>
              <a:t>secure</a:t>
            </a:r>
            <a:r>
              <a:rPr lang="fr-FR" sz="1400" dirty="0"/>
              <a:t> </a:t>
            </a:r>
            <a:r>
              <a:rPr lang="fr-FR" sz="1400" dirty="0" err="1"/>
              <a:t>vault</a:t>
            </a:r>
            <a:r>
              <a:rPr lang="fr-FR" sz="1400" dirty="0"/>
              <a:t>.</a:t>
            </a:r>
          </a:p>
          <a:p>
            <a:pPr marL="342900" indent="-342900">
              <a:buFont typeface="+mj-lt"/>
              <a:buAutoNum type="arabicPeriod"/>
            </a:pPr>
            <a:r>
              <a:rPr lang="fr-FR" sz="1400" dirty="0" err="1"/>
              <a:t>Make</a:t>
            </a:r>
            <a:r>
              <a:rPr lang="fr-FR" sz="1400" dirty="0"/>
              <a:t> sure not to capture secrets </a:t>
            </a:r>
            <a:r>
              <a:rPr lang="fr-FR" sz="1400" dirty="0" err="1"/>
              <a:t>related</a:t>
            </a:r>
            <a:r>
              <a:rPr lang="fr-FR" sz="1400" dirty="0"/>
              <a:t> to the system </a:t>
            </a:r>
            <a:r>
              <a:rPr lang="fr-FR" sz="1400" dirty="0" err="1"/>
              <a:t>credentials</a:t>
            </a:r>
            <a:r>
              <a:rPr lang="fr-FR" sz="1400" dirty="0"/>
              <a:t>.</a:t>
            </a:r>
          </a:p>
        </p:txBody>
      </p:sp>
      <p:sp>
        <p:nvSpPr>
          <p:cNvPr id="6" name="Title 5">
            <a:extLst>
              <a:ext uri="{FF2B5EF4-FFF2-40B4-BE49-F238E27FC236}">
                <a16:creationId xmlns:a16="http://schemas.microsoft.com/office/drawing/2014/main" id="{26AD97DD-BE97-4904-AEBE-6F1854166CCB}"/>
              </a:ext>
            </a:extLst>
          </p:cNvPr>
          <p:cNvSpPr>
            <a:spLocks noGrp="1"/>
          </p:cNvSpPr>
          <p:nvPr>
            <p:ph type="title"/>
          </p:nvPr>
        </p:nvSpPr>
        <p:spPr/>
        <p:txBody>
          <a:bodyPr/>
          <a:lstStyle/>
          <a:p>
            <a:r>
              <a:rPr lang="fr-FR" dirty="0" err="1"/>
              <a:t>Thoughts</a:t>
            </a:r>
            <a:endParaRPr lang="sv-SE" dirty="0"/>
          </a:p>
        </p:txBody>
      </p:sp>
    </p:spTree>
    <p:extLst>
      <p:ext uri="{BB962C8B-B14F-4D97-AF65-F5344CB8AC3E}">
        <p14:creationId xmlns:p14="http://schemas.microsoft.com/office/powerpoint/2010/main" val="15733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1379EB-7577-4E10-A005-813E972ADB65}"/>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332D71F6-50DA-4B11-AA3D-45DB7060E130}"/>
              </a:ext>
            </a:extLst>
          </p:cNvPr>
          <p:cNvSpPr>
            <a:spLocks noGrp="1"/>
          </p:cNvSpPr>
          <p:nvPr>
            <p:ph type="sldNum" sz="quarter" idx="13"/>
          </p:nvPr>
        </p:nvSpPr>
        <p:spPr/>
        <p:txBody>
          <a:bodyPr/>
          <a:lstStyle/>
          <a:p>
            <a:fld id="{09471650-AE8C-4F0A-9990-7EAE6F8DE484}" type="slidenum">
              <a:rPr lang="en-GB" smtClean="0"/>
              <a:pPr/>
              <a:t>19</a:t>
            </a:fld>
            <a:endParaRPr lang="en-GB" dirty="0"/>
          </a:p>
        </p:txBody>
      </p:sp>
      <p:sp>
        <p:nvSpPr>
          <p:cNvPr id="4" name="Footer Placeholder 3">
            <a:extLst>
              <a:ext uri="{FF2B5EF4-FFF2-40B4-BE49-F238E27FC236}">
                <a16:creationId xmlns:a16="http://schemas.microsoft.com/office/drawing/2014/main" id="{63EAC642-F903-444A-ABF0-0EB7DF4723F3}"/>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5A992A27-E91B-4E31-88F7-72C646989D5A}"/>
              </a:ext>
            </a:extLst>
          </p:cNvPr>
          <p:cNvSpPr>
            <a:spLocks noGrp="1"/>
          </p:cNvSpPr>
          <p:nvPr>
            <p:ph type="body" sz="quarter" idx="15"/>
          </p:nvPr>
        </p:nvSpPr>
        <p:spPr>
          <a:xfrm>
            <a:off x="371475" y="1333500"/>
            <a:ext cx="4709679" cy="5132388"/>
          </a:xfrm>
        </p:spPr>
        <p:txBody>
          <a:bodyPr/>
          <a:lstStyle/>
          <a:p>
            <a:r>
              <a:rPr lang="fr-FR" dirty="0"/>
              <a:t>PII </a:t>
            </a:r>
            <a:r>
              <a:rPr lang="fr-FR" dirty="0" err="1"/>
              <a:t>should</a:t>
            </a:r>
            <a:r>
              <a:rPr lang="fr-FR" dirty="0"/>
              <a:t> </a:t>
            </a:r>
            <a:r>
              <a:rPr lang="fr-FR" dirty="0" err="1"/>
              <a:t>be</a:t>
            </a:r>
            <a:r>
              <a:rPr lang="fr-FR" dirty="0"/>
              <a:t> </a:t>
            </a:r>
            <a:r>
              <a:rPr lang="fr-FR" dirty="0" err="1"/>
              <a:t>secured</a:t>
            </a:r>
            <a:r>
              <a:rPr lang="fr-FR" dirty="0"/>
              <a:t> </a:t>
            </a:r>
            <a:r>
              <a:rPr lang="fr-FR" dirty="0" err="1"/>
              <a:t>across</a:t>
            </a:r>
            <a:r>
              <a:rPr lang="fr-FR" dirty="0"/>
              <a:t> </a:t>
            </a:r>
            <a:r>
              <a:rPr lang="fr-FR" dirty="0" err="1"/>
              <a:t>systems</a:t>
            </a:r>
            <a:r>
              <a:rPr lang="fr-FR" dirty="0"/>
              <a:t>, and the </a:t>
            </a:r>
            <a:r>
              <a:rPr lang="fr-FR" dirty="0" err="1"/>
              <a:t>risk</a:t>
            </a:r>
            <a:r>
              <a:rPr lang="fr-FR" dirty="0"/>
              <a:t> of </a:t>
            </a:r>
            <a:r>
              <a:rPr lang="fr-FR" dirty="0" err="1"/>
              <a:t>having</a:t>
            </a:r>
            <a:r>
              <a:rPr lang="fr-FR" dirty="0"/>
              <a:t> channels </a:t>
            </a:r>
            <a:r>
              <a:rPr lang="fr-FR" dirty="0" err="1"/>
              <a:t>caching</a:t>
            </a:r>
            <a:r>
              <a:rPr lang="fr-FR" dirty="0"/>
              <a:t> or </a:t>
            </a:r>
            <a:r>
              <a:rPr lang="fr-FR" dirty="0" err="1"/>
              <a:t>storing</a:t>
            </a:r>
            <a:r>
              <a:rPr lang="fr-FR" dirty="0"/>
              <a:t> the data </a:t>
            </a:r>
            <a:r>
              <a:rPr lang="fr-FR" dirty="0" err="1"/>
              <a:t>makes</a:t>
            </a:r>
            <a:r>
              <a:rPr lang="fr-FR" dirty="0"/>
              <a:t> </a:t>
            </a:r>
            <a:r>
              <a:rPr lang="fr-FR" dirty="0" err="1"/>
              <a:t>it</a:t>
            </a:r>
            <a:r>
              <a:rPr lang="fr-FR" dirty="0"/>
              <a:t> </a:t>
            </a:r>
            <a:r>
              <a:rPr lang="fr-FR" dirty="0" err="1"/>
              <a:t>vulnerable</a:t>
            </a:r>
            <a:r>
              <a:rPr lang="fr-FR" dirty="0"/>
              <a:t> to </a:t>
            </a:r>
            <a:r>
              <a:rPr lang="fr-FR" dirty="0" err="1"/>
              <a:t>attacks</a:t>
            </a:r>
            <a:r>
              <a:rPr lang="fr-FR" dirty="0"/>
              <a:t>, manipulation</a:t>
            </a:r>
          </a:p>
          <a:p>
            <a:endParaRPr lang="fr-FR" dirty="0"/>
          </a:p>
          <a:p>
            <a:r>
              <a:rPr lang="fr-FR" dirty="0"/>
              <a:t>If not </a:t>
            </a:r>
            <a:r>
              <a:rPr lang="fr-FR" dirty="0" err="1"/>
              <a:t>done</a:t>
            </a:r>
            <a:r>
              <a:rPr lang="fr-FR" dirty="0"/>
              <a:t> </a:t>
            </a:r>
            <a:r>
              <a:rPr lang="fr-FR" dirty="0" err="1"/>
              <a:t>properly</a:t>
            </a:r>
            <a:r>
              <a:rPr lang="fr-FR" dirty="0"/>
              <a:t>, all </a:t>
            </a:r>
            <a:r>
              <a:rPr lang="fr-FR" dirty="0" err="1"/>
              <a:t>customer</a:t>
            </a:r>
            <a:r>
              <a:rPr lang="fr-FR" dirty="0"/>
              <a:t> data can </a:t>
            </a:r>
            <a:r>
              <a:rPr lang="fr-FR" dirty="0" err="1"/>
              <a:t>be</a:t>
            </a:r>
            <a:r>
              <a:rPr lang="fr-FR" dirty="0"/>
              <a:t> </a:t>
            </a:r>
            <a:r>
              <a:rPr lang="fr-FR" dirty="0" err="1"/>
              <a:t>corrupted</a:t>
            </a:r>
            <a:r>
              <a:rPr lang="fr-FR" dirty="0"/>
              <a:t>, </a:t>
            </a:r>
            <a:r>
              <a:rPr lang="fr-FR" dirty="0" err="1"/>
              <a:t>stolen</a:t>
            </a:r>
            <a:r>
              <a:rPr lang="fr-FR" dirty="0"/>
              <a:t> or mis-</a:t>
            </a:r>
            <a:r>
              <a:rPr lang="fr-FR" dirty="0" err="1"/>
              <a:t>used</a:t>
            </a:r>
            <a:r>
              <a:rPr lang="fr-FR" dirty="0"/>
              <a:t> in </a:t>
            </a:r>
            <a:r>
              <a:rPr lang="fr-FR" dirty="0" err="1"/>
              <a:t>many</a:t>
            </a:r>
            <a:r>
              <a:rPr lang="fr-FR" dirty="0"/>
              <a:t> </a:t>
            </a:r>
            <a:r>
              <a:rPr lang="fr-FR" dirty="0" err="1"/>
              <a:t>ways</a:t>
            </a:r>
            <a:r>
              <a:rPr lang="fr-FR" dirty="0"/>
              <a:t> by </a:t>
            </a:r>
            <a:r>
              <a:rPr lang="fr-FR" dirty="0" err="1"/>
              <a:t>unauthorized</a:t>
            </a:r>
            <a:r>
              <a:rPr lang="fr-FR" dirty="0"/>
              <a:t> </a:t>
            </a:r>
            <a:r>
              <a:rPr lang="fr-FR" dirty="0" err="1"/>
              <a:t>users</a:t>
            </a:r>
            <a:r>
              <a:rPr lang="fr-FR" dirty="0"/>
              <a:t>.</a:t>
            </a:r>
          </a:p>
          <a:p>
            <a:endParaRPr lang="fr-FR" dirty="0"/>
          </a:p>
          <a:p>
            <a:r>
              <a:rPr lang="fr-FR" dirty="0" err="1"/>
              <a:t>We</a:t>
            </a:r>
            <a:r>
              <a:rPr lang="fr-FR" dirty="0"/>
              <a:t> </a:t>
            </a:r>
            <a:r>
              <a:rPr lang="fr-FR" dirty="0" err="1"/>
              <a:t>need</a:t>
            </a:r>
            <a:r>
              <a:rPr lang="fr-FR" dirty="0"/>
              <a:t> to </a:t>
            </a:r>
            <a:r>
              <a:rPr lang="fr-FR" dirty="0" err="1"/>
              <a:t>make</a:t>
            </a:r>
            <a:r>
              <a:rPr lang="fr-FR" dirty="0"/>
              <a:t> sure </a:t>
            </a:r>
            <a:r>
              <a:rPr lang="fr-FR" dirty="0" err="1"/>
              <a:t>we</a:t>
            </a:r>
            <a:r>
              <a:rPr lang="fr-FR" dirty="0"/>
              <a:t> </a:t>
            </a:r>
            <a:r>
              <a:rPr lang="fr-FR" dirty="0" err="1"/>
              <a:t>encrypt</a:t>
            </a:r>
            <a:r>
              <a:rPr lang="fr-FR" dirty="0"/>
              <a:t> the master data </a:t>
            </a:r>
            <a:r>
              <a:rPr lang="fr-FR" dirty="0" err="1"/>
              <a:t>before</a:t>
            </a:r>
            <a:r>
              <a:rPr lang="fr-FR" dirty="0"/>
              <a:t> </a:t>
            </a:r>
            <a:r>
              <a:rPr lang="fr-FR" dirty="0" err="1"/>
              <a:t>it’s</a:t>
            </a:r>
            <a:r>
              <a:rPr lang="fr-FR" dirty="0"/>
              <a:t> </a:t>
            </a:r>
            <a:r>
              <a:rPr lang="fr-FR" dirty="0" err="1"/>
              <a:t>being</a:t>
            </a:r>
            <a:r>
              <a:rPr lang="fr-FR" dirty="0"/>
              <a:t> </a:t>
            </a:r>
            <a:r>
              <a:rPr lang="fr-FR" dirty="0" err="1"/>
              <a:t>distributed</a:t>
            </a:r>
            <a:r>
              <a:rPr lang="fr-FR" dirty="0"/>
              <a:t> to a new instance of CIAM/CRM etc.</a:t>
            </a:r>
            <a:endParaRPr lang="sv-SE" dirty="0"/>
          </a:p>
        </p:txBody>
      </p:sp>
      <p:sp>
        <p:nvSpPr>
          <p:cNvPr id="6" name="Title 5">
            <a:extLst>
              <a:ext uri="{FF2B5EF4-FFF2-40B4-BE49-F238E27FC236}">
                <a16:creationId xmlns:a16="http://schemas.microsoft.com/office/drawing/2014/main" id="{6EEC4666-8DC3-464F-A949-2B858848D3ED}"/>
              </a:ext>
            </a:extLst>
          </p:cNvPr>
          <p:cNvSpPr>
            <a:spLocks noGrp="1"/>
          </p:cNvSpPr>
          <p:nvPr>
            <p:ph type="title"/>
          </p:nvPr>
        </p:nvSpPr>
        <p:spPr/>
        <p:txBody>
          <a:bodyPr/>
          <a:lstStyle/>
          <a:p>
            <a:r>
              <a:rPr lang="fr-FR" dirty="0"/>
              <a:t>Solution</a:t>
            </a:r>
            <a:endParaRPr lang="sv-SE" dirty="0"/>
          </a:p>
        </p:txBody>
      </p:sp>
    </p:spTree>
    <p:extLst>
      <p:ext uri="{BB962C8B-B14F-4D97-AF65-F5344CB8AC3E}">
        <p14:creationId xmlns:p14="http://schemas.microsoft.com/office/powerpoint/2010/main" val="385509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86B480-C7C2-4595-9E09-0A454CF17E18}"/>
              </a:ext>
            </a:extLst>
          </p:cNvPr>
          <p:cNvSpPr>
            <a:spLocks noGrp="1"/>
          </p:cNvSpPr>
          <p:nvPr>
            <p:ph type="body" sz="half" idx="2"/>
          </p:nvPr>
        </p:nvSpPr>
        <p:spPr/>
        <p:txBody>
          <a:bodyPr/>
          <a:lstStyle/>
          <a:p>
            <a:endParaRPr lang="sv-SE"/>
          </a:p>
        </p:txBody>
      </p:sp>
      <p:sp>
        <p:nvSpPr>
          <p:cNvPr id="3" name="Slide Number Placeholder 2">
            <a:extLst>
              <a:ext uri="{FF2B5EF4-FFF2-40B4-BE49-F238E27FC236}">
                <a16:creationId xmlns:a16="http://schemas.microsoft.com/office/drawing/2014/main" id="{CE0C99E1-AF1F-4EA5-9791-F2B191340BD1}"/>
              </a:ext>
            </a:extLst>
          </p:cNvPr>
          <p:cNvSpPr>
            <a:spLocks noGrp="1"/>
          </p:cNvSpPr>
          <p:nvPr>
            <p:ph type="sldNum" sz="quarter" idx="13"/>
          </p:nvPr>
        </p:nvSpPr>
        <p:spPr/>
        <p:txBody>
          <a:bodyPr/>
          <a:lstStyle/>
          <a:p>
            <a:fld id="{09471650-AE8C-4F0A-9990-7EAE6F8DE484}" type="slidenum">
              <a:rPr lang="en-GB" smtClean="0"/>
              <a:pPr/>
              <a:t>20</a:t>
            </a:fld>
            <a:endParaRPr lang="en-GB" dirty="0"/>
          </a:p>
        </p:txBody>
      </p:sp>
      <p:sp>
        <p:nvSpPr>
          <p:cNvPr id="4" name="Footer Placeholder 3">
            <a:extLst>
              <a:ext uri="{FF2B5EF4-FFF2-40B4-BE49-F238E27FC236}">
                <a16:creationId xmlns:a16="http://schemas.microsoft.com/office/drawing/2014/main" id="{9A969478-82DB-44C4-8B5D-C5D275F05C2E}"/>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534A3CF4-AAC4-4BEB-806C-85E85C15BD59}"/>
              </a:ext>
            </a:extLst>
          </p:cNvPr>
          <p:cNvSpPr>
            <a:spLocks noGrp="1"/>
          </p:cNvSpPr>
          <p:nvPr>
            <p:ph type="body" sz="quarter" idx="15"/>
          </p:nvPr>
        </p:nvSpPr>
        <p:spPr>
          <a:xfrm>
            <a:off x="371475" y="1333500"/>
            <a:ext cx="5724525" cy="5132388"/>
          </a:xfrm>
        </p:spPr>
        <p:txBody>
          <a:bodyPr/>
          <a:lstStyle/>
          <a:p>
            <a:r>
              <a:rPr lang="fr-FR" dirty="0" err="1"/>
              <a:t>Credentials</a:t>
            </a:r>
            <a:r>
              <a:rPr lang="fr-FR" dirty="0"/>
              <a:t> </a:t>
            </a:r>
            <a:r>
              <a:rPr lang="fr-FR" dirty="0" err="1"/>
              <a:t>should</a:t>
            </a:r>
            <a:r>
              <a:rPr lang="fr-FR" dirty="0"/>
              <a:t> not </a:t>
            </a:r>
            <a:r>
              <a:rPr lang="fr-FR" dirty="0" err="1"/>
              <a:t>be</a:t>
            </a:r>
            <a:r>
              <a:rPr lang="fr-FR" dirty="0"/>
              <a:t> </a:t>
            </a:r>
            <a:r>
              <a:rPr lang="fr-FR" dirty="0" err="1"/>
              <a:t>cached</a:t>
            </a:r>
            <a:r>
              <a:rPr lang="fr-FR" dirty="0"/>
              <a:t>.</a:t>
            </a:r>
            <a:endParaRPr lang="sv-SE" dirty="0"/>
          </a:p>
        </p:txBody>
      </p:sp>
      <p:sp>
        <p:nvSpPr>
          <p:cNvPr id="6" name="Title 5">
            <a:extLst>
              <a:ext uri="{FF2B5EF4-FFF2-40B4-BE49-F238E27FC236}">
                <a16:creationId xmlns:a16="http://schemas.microsoft.com/office/drawing/2014/main" id="{1C784A05-1237-4281-943A-90F561E627F9}"/>
              </a:ext>
            </a:extLst>
          </p:cNvPr>
          <p:cNvSpPr>
            <a:spLocks noGrp="1"/>
          </p:cNvSpPr>
          <p:nvPr>
            <p:ph type="title"/>
          </p:nvPr>
        </p:nvSpPr>
        <p:spPr/>
        <p:txBody>
          <a:bodyPr/>
          <a:lstStyle/>
          <a:p>
            <a:r>
              <a:rPr lang="fr-FR" dirty="0" err="1"/>
              <a:t>Other</a:t>
            </a:r>
            <a:r>
              <a:rPr lang="fr-FR" dirty="0"/>
              <a:t> PII issues.</a:t>
            </a:r>
            <a:endParaRPr lang="sv-SE" dirty="0"/>
          </a:p>
        </p:txBody>
      </p:sp>
      <p:pic>
        <p:nvPicPr>
          <p:cNvPr id="5122" name="Picture 2">
            <a:extLst>
              <a:ext uri="{FF2B5EF4-FFF2-40B4-BE49-F238E27FC236}">
                <a16:creationId xmlns:a16="http://schemas.microsoft.com/office/drawing/2014/main" id="{F94DA6BB-3215-427A-93EC-674BE9FB8C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6100" y="1666812"/>
            <a:ext cx="2368977" cy="487210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4">
            <a:extLst>
              <a:ext uri="{FF2B5EF4-FFF2-40B4-BE49-F238E27FC236}">
                <a16:creationId xmlns:a16="http://schemas.microsoft.com/office/drawing/2014/main" id="{A1060F13-9A01-49B8-A9E0-F2D117FF2606}"/>
              </a:ext>
            </a:extLst>
          </p:cNvPr>
          <p:cNvSpPr txBox="1">
            <a:spLocks/>
          </p:cNvSpPr>
          <p:nvPr/>
        </p:nvSpPr>
        <p:spPr>
          <a:xfrm>
            <a:off x="6095999" y="1333500"/>
            <a:ext cx="5724526" cy="5132388"/>
          </a:xfrm>
          <a:prstGeom prst="rect">
            <a:avLst/>
          </a:prstGeom>
        </p:spPr>
        <p:txBody>
          <a:bodyPr vert="horz" lIns="91440" tIns="45720" rIns="91440" bIns="45720" rtlCol="0">
            <a:noAutofit/>
          </a:bodyPr>
          <a:lstStyle>
            <a:lvl1pPr marL="177800" indent="-177800" algn="l" defTabSz="914400" rtl="0" eaLnBrk="1" latinLnBrk="0" hangingPunct="1">
              <a:lnSpc>
                <a:spcPct val="90000"/>
              </a:lnSpc>
              <a:spcBef>
                <a:spcPts val="900"/>
              </a:spcBef>
              <a:buFont typeface="Arial" panose="020B0604020202020204" pitchFamily="34" charset="0"/>
              <a:buChar char="•"/>
              <a:defRPr sz="2000" kern="1200">
                <a:solidFill>
                  <a:schemeClr val="tx2"/>
                </a:solidFill>
                <a:latin typeface="+mn-lt"/>
                <a:ea typeface="+mn-ea"/>
                <a:cs typeface="+mn-cs"/>
              </a:defRPr>
            </a:lvl1pPr>
            <a:lvl2pPr marL="449263" indent="-271463" algn="l" defTabSz="914400" rtl="0" eaLnBrk="1" latinLnBrk="0" hangingPunct="1">
              <a:lnSpc>
                <a:spcPct val="90000"/>
              </a:lnSpc>
              <a:spcBef>
                <a:spcPts val="900"/>
              </a:spcBef>
              <a:buFont typeface="Electrolux Sans Regular" panose="020B0500020000000000" pitchFamily="34" charset="0"/>
              <a:buChar char="—"/>
              <a:defRPr sz="1800" kern="1200">
                <a:solidFill>
                  <a:schemeClr val="tx2"/>
                </a:solidFill>
                <a:latin typeface="+mn-lt"/>
                <a:ea typeface="+mn-ea"/>
                <a:cs typeface="+mn-cs"/>
              </a:defRPr>
            </a:lvl2pPr>
            <a:lvl3pPr marL="627063" indent="-177800"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mn-lt"/>
                <a:ea typeface="+mn-ea"/>
                <a:cs typeface="+mn-cs"/>
              </a:defRPr>
            </a:lvl3pPr>
            <a:lvl4pPr marL="895350" indent="-268288" algn="l" defTabSz="914400" rtl="0" eaLnBrk="1" latinLnBrk="0" hangingPunct="1">
              <a:lnSpc>
                <a:spcPct val="90000"/>
              </a:lnSpc>
              <a:spcBef>
                <a:spcPts val="900"/>
              </a:spcBef>
              <a:buFont typeface="Electrolux Sans Regular" panose="020B0500020000000000" pitchFamily="34" charset="0"/>
              <a:buChar char="—"/>
              <a:defRPr sz="1600" kern="1200">
                <a:solidFill>
                  <a:schemeClr val="tx2"/>
                </a:solidFill>
                <a:latin typeface="Electrolux Sans Regular" panose="020B0500020000000000" pitchFamily="34" charset="0"/>
                <a:ea typeface="+mn-ea"/>
                <a:cs typeface="+mn-cs"/>
              </a:defRPr>
            </a:lvl4pPr>
            <a:lvl5pPr marL="1077913" indent="-182563"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Electrolux Sans Regular" panose="020B0500020000000000" pitchFamily="34" charset="0"/>
                <a:ea typeface="+mn-ea"/>
                <a:cs typeface="+mn-cs"/>
              </a:defRPr>
            </a:lvl5pPr>
            <a:lvl6pPr marL="628650" indent="-182563"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6pPr>
            <a:lvl7pPr marL="898525" indent="-269875" algn="l" defTabSz="914400" rtl="0" eaLnBrk="1" latinLnBrk="0" hangingPunct="1">
              <a:lnSpc>
                <a:spcPct val="90000"/>
              </a:lnSpc>
              <a:spcBef>
                <a:spcPts val="900"/>
              </a:spcBef>
              <a:buFont typeface="Electrolux Sans Regular" panose="020B0500020000000000" pitchFamily="34" charset="0"/>
              <a:buChar char="—"/>
              <a:defRPr sz="1800" kern="1200">
                <a:solidFill>
                  <a:schemeClr val="tx1"/>
                </a:solidFill>
                <a:latin typeface="+mn-lt"/>
                <a:ea typeface="+mn-ea"/>
                <a:cs typeface="+mn-cs"/>
              </a:defRPr>
            </a:lvl7pPr>
            <a:lvl8pPr marL="1166813" indent="-268288"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err="1"/>
              <a:t>Get</a:t>
            </a:r>
            <a:r>
              <a:rPr lang="fr-FR" dirty="0"/>
              <a:t> </a:t>
            </a:r>
            <a:r>
              <a:rPr lang="fr-FR" dirty="0" err="1"/>
              <a:t>registered</a:t>
            </a:r>
            <a:r>
              <a:rPr lang="fr-FR" dirty="0"/>
              <a:t> </a:t>
            </a:r>
            <a:r>
              <a:rPr lang="fr-FR" dirty="0" err="1"/>
              <a:t>products</a:t>
            </a:r>
            <a:r>
              <a:rPr lang="fr-FR" dirty="0"/>
              <a:t> by </a:t>
            </a:r>
            <a:r>
              <a:rPr lang="fr-FR" dirty="0" err="1"/>
              <a:t>customerId</a:t>
            </a:r>
            <a:endParaRPr lang="fr-FR" dirty="0"/>
          </a:p>
          <a:p>
            <a:r>
              <a:rPr lang="fr-FR" dirty="0" err="1"/>
              <a:t>Get</a:t>
            </a:r>
            <a:r>
              <a:rPr lang="fr-FR" dirty="0"/>
              <a:t> </a:t>
            </a:r>
            <a:r>
              <a:rPr lang="fr-FR" dirty="0" err="1"/>
              <a:t>customer</a:t>
            </a:r>
            <a:r>
              <a:rPr lang="fr-FR" dirty="0"/>
              <a:t> </a:t>
            </a:r>
            <a:r>
              <a:rPr lang="fr-FR" dirty="0" err="1"/>
              <a:t>address</a:t>
            </a:r>
            <a:endParaRPr lang="fr-FR" dirty="0"/>
          </a:p>
          <a:p>
            <a:r>
              <a:rPr lang="fr-FR" dirty="0" err="1"/>
              <a:t>Get</a:t>
            </a:r>
            <a:r>
              <a:rPr lang="fr-FR" dirty="0"/>
              <a:t> </a:t>
            </a:r>
            <a:r>
              <a:rPr lang="fr-FR" dirty="0" err="1"/>
              <a:t>Booking</a:t>
            </a:r>
            <a:r>
              <a:rPr lang="fr-FR" dirty="0"/>
              <a:t> </a:t>
            </a:r>
            <a:r>
              <a:rPr lang="fr-FR" dirty="0" err="1"/>
              <a:t>Appointments</a:t>
            </a:r>
            <a:r>
              <a:rPr lang="fr-FR" dirty="0"/>
              <a:t> by </a:t>
            </a:r>
            <a:r>
              <a:rPr lang="fr-FR" dirty="0" err="1"/>
              <a:t>custome</a:t>
            </a:r>
            <a:endParaRPr lang="fr-FR" dirty="0"/>
          </a:p>
          <a:p>
            <a:r>
              <a:rPr lang="fr-FR" dirty="0" err="1"/>
              <a:t>Get</a:t>
            </a:r>
            <a:r>
              <a:rPr lang="fr-FR" dirty="0"/>
              <a:t> Logs: Customer </a:t>
            </a:r>
            <a:r>
              <a:rPr lang="fr-FR" dirty="0" err="1"/>
              <a:t>crendentials</a:t>
            </a:r>
            <a:r>
              <a:rPr lang="fr-FR" dirty="0"/>
              <a:t> by Email</a:t>
            </a:r>
          </a:p>
          <a:p>
            <a:r>
              <a:rPr lang="fr-FR" dirty="0" err="1"/>
              <a:t>Impersonate</a:t>
            </a:r>
            <a:r>
              <a:rPr lang="fr-FR" dirty="0"/>
              <a:t> login</a:t>
            </a:r>
          </a:p>
          <a:p>
            <a:endParaRPr lang="fr-FR" dirty="0"/>
          </a:p>
          <a:p>
            <a:r>
              <a:rPr lang="fr-FR" dirty="0">
                <a:sym typeface="Wingdings" panose="05000000000000000000" pitchFamily="2" charset="2"/>
              </a:rPr>
              <a:t> Access home </a:t>
            </a:r>
            <a:r>
              <a:rPr lang="fr-FR" dirty="0" err="1">
                <a:sym typeface="Wingdings" panose="05000000000000000000" pitchFamily="2" charset="2"/>
              </a:rPr>
              <a:t>map</a:t>
            </a:r>
            <a:r>
              <a:rPr lang="fr-FR" dirty="0">
                <a:sym typeface="Wingdings" panose="05000000000000000000" pitchFamily="2" charset="2"/>
              </a:rPr>
              <a:t> </a:t>
            </a:r>
            <a:r>
              <a:rPr lang="fr-FR" dirty="0" err="1">
                <a:sym typeface="Wingdings" panose="05000000000000000000" pitchFamily="2" charset="2"/>
              </a:rPr>
              <a:t>from</a:t>
            </a:r>
            <a:r>
              <a:rPr lang="fr-FR" dirty="0">
                <a:sym typeface="Wingdings" panose="05000000000000000000" pitchFamily="2" charset="2"/>
              </a:rPr>
              <a:t> Vacuum </a:t>
            </a:r>
            <a:r>
              <a:rPr lang="fr-FR" dirty="0" err="1">
                <a:sym typeface="Wingdings" panose="05000000000000000000" pitchFamily="2" charset="2"/>
              </a:rPr>
              <a:t>cleaner</a:t>
            </a:r>
            <a:r>
              <a:rPr lang="fr-FR" dirty="0">
                <a:sym typeface="Wingdings" panose="05000000000000000000" pitchFamily="2" charset="2"/>
              </a:rPr>
              <a:t> / </a:t>
            </a:r>
            <a:r>
              <a:rPr lang="fr-FR" dirty="0" err="1">
                <a:sym typeface="Wingdings" panose="05000000000000000000" pitchFamily="2" charset="2"/>
              </a:rPr>
              <a:t>oneapp</a:t>
            </a:r>
            <a:r>
              <a:rPr lang="fr-FR" dirty="0">
                <a:sym typeface="Wingdings" panose="05000000000000000000" pitchFamily="2" charset="2"/>
              </a:rPr>
              <a:t>.</a:t>
            </a:r>
          </a:p>
          <a:p>
            <a:pPr marL="0" indent="0">
              <a:buNone/>
            </a:pPr>
            <a:endParaRPr lang="fr-FR" dirty="0">
              <a:sym typeface="Wingdings" panose="05000000000000000000" pitchFamily="2" charset="2"/>
            </a:endParaRPr>
          </a:p>
          <a:p>
            <a:r>
              <a:rPr lang="fr-FR" dirty="0">
                <a:sym typeface="Wingdings" panose="05000000000000000000" pitchFamily="2" charset="2"/>
              </a:rPr>
              <a:t>All </a:t>
            </a:r>
            <a:r>
              <a:rPr lang="fr-FR" dirty="0" err="1">
                <a:sym typeface="Wingdings" panose="05000000000000000000" pitchFamily="2" charset="2"/>
              </a:rPr>
              <a:t>those</a:t>
            </a:r>
            <a:r>
              <a:rPr lang="fr-FR" dirty="0">
                <a:sym typeface="Wingdings" panose="05000000000000000000" pitchFamily="2" charset="2"/>
              </a:rPr>
              <a:t> </a:t>
            </a:r>
            <a:r>
              <a:rPr lang="fr-FR" dirty="0" err="1">
                <a:sym typeface="Wingdings" panose="05000000000000000000" pitchFamily="2" charset="2"/>
              </a:rPr>
              <a:t>requests</a:t>
            </a:r>
            <a:r>
              <a:rPr lang="fr-FR" dirty="0">
                <a:sym typeface="Wingdings" panose="05000000000000000000" pitchFamily="2" charset="2"/>
              </a:rPr>
              <a:t> are </a:t>
            </a:r>
            <a:r>
              <a:rPr lang="fr-FR" dirty="0" err="1">
                <a:sym typeface="Wingdings" panose="05000000000000000000" pitchFamily="2" charset="2"/>
              </a:rPr>
              <a:t>publicly</a:t>
            </a:r>
            <a:r>
              <a:rPr lang="fr-FR" dirty="0">
                <a:sym typeface="Wingdings" panose="05000000000000000000" pitchFamily="2" charset="2"/>
              </a:rPr>
              <a:t> </a:t>
            </a:r>
            <a:r>
              <a:rPr lang="fr-FR" dirty="0" err="1">
                <a:sym typeface="Wingdings" panose="05000000000000000000" pitchFamily="2" charset="2"/>
              </a:rPr>
              <a:t>exposed</a:t>
            </a:r>
            <a:r>
              <a:rPr lang="fr-FR" dirty="0">
                <a:sym typeface="Wingdings" panose="05000000000000000000" pitchFamily="2" charset="2"/>
              </a:rPr>
              <a:t> </a:t>
            </a:r>
            <a:r>
              <a:rPr lang="fr-FR" dirty="0" err="1">
                <a:sym typeface="Wingdings" panose="05000000000000000000" pitchFamily="2" charset="2"/>
              </a:rPr>
              <a:t>with</a:t>
            </a:r>
            <a:r>
              <a:rPr lang="fr-FR" dirty="0">
                <a:sym typeface="Wingdings" panose="05000000000000000000" pitchFamily="2" charset="2"/>
              </a:rPr>
              <a:t> no </a:t>
            </a:r>
            <a:r>
              <a:rPr lang="fr-FR" dirty="0" err="1">
                <a:sym typeface="Wingdings" panose="05000000000000000000" pitchFamily="2" charset="2"/>
              </a:rPr>
              <a:t>proper</a:t>
            </a:r>
            <a:r>
              <a:rPr lang="fr-FR" dirty="0">
                <a:sym typeface="Wingdings" panose="05000000000000000000" pitchFamily="2" charset="2"/>
              </a:rPr>
              <a:t> </a:t>
            </a:r>
            <a:r>
              <a:rPr lang="fr-FR" dirty="0" err="1">
                <a:sym typeface="Wingdings" panose="05000000000000000000" pitchFamily="2" charset="2"/>
              </a:rPr>
              <a:t>security</a:t>
            </a:r>
            <a:r>
              <a:rPr lang="fr-FR" dirty="0">
                <a:sym typeface="Wingdings" panose="05000000000000000000" pitchFamily="2" charset="2"/>
              </a:rPr>
              <a:t>.</a:t>
            </a:r>
          </a:p>
          <a:p>
            <a:r>
              <a:rPr lang="fr-FR" dirty="0">
                <a:sym typeface="Wingdings" panose="05000000000000000000" pitchFamily="2" charset="2"/>
              </a:rPr>
              <a:t>The </a:t>
            </a:r>
            <a:r>
              <a:rPr lang="fr-FR" dirty="0" err="1">
                <a:sym typeface="Wingdings" panose="05000000000000000000" pitchFamily="2" charset="2"/>
              </a:rPr>
              <a:t>only</a:t>
            </a:r>
            <a:r>
              <a:rPr lang="fr-FR" dirty="0">
                <a:sym typeface="Wingdings" panose="05000000000000000000" pitchFamily="2" charset="2"/>
              </a:rPr>
              <a:t> </a:t>
            </a:r>
            <a:r>
              <a:rPr lang="fr-FR" dirty="0" err="1">
                <a:sym typeface="Wingdings" panose="05000000000000000000" pitchFamily="2" charset="2"/>
              </a:rPr>
              <a:t>way</a:t>
            </a:r>
            <a:r>
              <a:rPr lang="fr-FR" dirty="0">
                <a:sym typeface="Wingdings" panose="05000000000000000000" pitchFamily="2" charset="2"/>
              </a:rPr>
              <a:t> of </a:t>
            </a:r>
            <a:r>
              <a:rPr lang="fr-FR" dirty="0" err="1">
                <a:sym typeface="Wingdings" panose="05000000000000000000" pitchFamily="2" charset="2"/>
              </a:rPr>
              <a:t>authentication</a:t>
            </a:r>
            <a:r>
              <a:rPr lang="fr-FR" dirty="0">
                <a:sym typeface="Wingdings" panose="05000000000000000000" pitchFamily="2" charset="2"/>
              </a:rPr>
              <a:t> </a:t>
            </a:r>
            <a:r>
              <a:rPr lang="fr-FR" dirty="0" err="1">
                <a:sym typeface="Wingdings" panose="05000000000000000000" pitchFamily="2" charset="2"/>
              </a:rPr>
              <a:t>is</a:t>
            </a:r>
            <a:r>
              <a:rPr lang="fr-FR" dirty="0">
                <a:sym typeface="Wingdings" panose="05000000000000000000" pitchFamily="2" charset="2"/>
              </a:rPr>
              <a:t> an Azure api management identifier.</a:t>
            </a:r>
            <a:endParaRPr lang="sv-SE" dirty="0"/>
          </a:p>
        </p:txBody>
      </p:sp>
    </p:spTree>
    <p:extLst>
      <p:ext uri="{BB962C8B-B14F-4D97-AF65-F5344CB8AC3E}">
        <p14:creationId xmlns:p14="http://schemas.microsoft.com/office/powerpoint/2010/main" val="3295553124"/>
      </p:ext>
    </p:extLst>
  </p:cSld>
  <p:clrMapOvr>
    <a:masterClrMapping/>
  </p:clrMapOvr>
</p:sld>
</file>

<file path=ppt/theme/theme1.xml><?xml version="1.0" encoding="utf-8"?>
<a:theme xmlns:a="http://schemas.openxmlformats.org/drawingml/2006/main" name="Office Theme">
  <a:themeElements>
    <a:clrScheme name="Electrolux colors 2018">
      <a:dk1>
        <a:sysClr val="windowText" lastClr="000000"/>
      </a:dk1>
      <a:lt1>
        <a:sysClr val="window" lastClr="FFFFFF"/>
      </a:lt1>
      <a:dk2>
        <a:srgbClr val="041E41"/>
      </a:dk2>
      <a:lt2>
        <a:srgbClr val="FFFFFF"/>
      </a:lt2>
      <a:accent1>
        <a:srgbClr val="7A8A9C"/>
      </a:accent1>
      <a:accent2>
        <a:srgbClr val="ACB9C1"/>
      </a:accent2>
      <a:accent3>
        <a:srgbClr val="D0B993"/>
      </a:accent3>
      <a:accent4>
        <a:srgbClr val="787386"/>
      </a:accent4>
      <a:accent5>
        <a:srgbClr val="6B7A66"/>
      </a:accent5>
      <a:accent6>
        <a:srgbClr val="937259"/>
      </a:accent6>
      <a:hlink>
        <a:srgbClr val="041E41"/>
      </a:hlink>
      <a:folHlink>
        <a:srgbClr val="513216"/>
      </a:folHlink>
    </a:clrScheme>
    <a:fontScheme name="Elux-semi-regular">
      <a:majorFont>
        <a:latin typeface="Electrolux Sans SemiBold"/>
        <a:ea typeface=""/>
        <a:cs typeface=""/>
      </a:majorFont>
      <a:minorFont>
        <a:latin typeface="Electrolux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0000"/>
          </a:lnSpc>
          <a:spcBef>
            <a:spcPts val="900"/>
          </a:spcBef>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Electrolux Blue 1">
      <a:srgbClr val="DDE7EA"/>
    </a:custClr>
    <a:custClr name="Electrolux Grey 1">
      <a:srgbClr val="D8D5DD"/>
    </a:custClr>
    <a:custClr name="Electrolux Brown 1">
      <a:srgbClr val="D8CECE"/>
    </a:custClr>
    <a:custClr name="Electrolux Tan 1">
      <a:srgbClr val="EADFCE"/>
    </a:custClr>
    <a:custClr name="Electrolux Green 1">
      <a:srgbClr val="D3D8D0"/>
    </a:custClr>
    <a:custClr>
      <a:srgbClr val="FFFFFF"/>
    </a:custClr>
    <a:custClr>
      <a:srgbClr val="FFFFFF"/>
    </a:custClr>
    <a:custClr>
      <a:srgbClr val="FFFFFF"/>
    </a:custClr>
    <a:custClr>
      <a:srgbClr val="FFFFFF"/>
    </a:custClr>
    <a:custClr>
      <a:srgbClr val="FFFFFF"/>
    </a:custClr>
    <a:custClr name="Electrolux Blue 2">
      <a:srgbClr val="ACB9C1"/>
    </a:custClr>
    <a:custClr name="Electrolux Grey 2">
      <a:srgbClr val="AFAAB9"/>
    </a:custClr>
    <a:custClr name="Electrolux Brown 2">
      <a:srgbClr val="B4A0A0"/>
    </a:custClr>
    <a:custClr name="Electrolux Tan 2">
      <a:srgbClr val="D0B993"/>
    </a:custClr>
    <a:custClr name="Electrolux Green 2">
      <a:srgbClr val="A5AFA2"/>
    </a:custClr>
    <a:custClr>
      <a:srgbClr val="FFFFFF"/>
    </a:custClr>
    <a:custClr>
      <a:srgbClr val="FFFFFF"/>
    </a:custClr>
    <a:custClr>
      <a:srgbClr val="FFFFFF"/>
    </a:custClr>
    <a:custClr>
      <a:srgbClr val="FFFFFF"/>
    </a:custClr>
    <a:custClr>
      <a:srgbClr val="FFFFFF"/>
    </a:custClr>
    <a:custClr name="Electrolux Blue 3">
      <a:srgbClr val="7A899B"/>
    </a:custClr>
    <a:custClr name="Electrolux Grey 3">
      <a:srgbClr val="787386"/>
    </a:custClr>
    <a:custClr name="Electrolux Brown 3">
      <a:srgbClr val="7D6363"/>
    </a:custClr>
    <a:custClr name="Electrolux Tan 3">
      <a:srgbClr val="937359"/>
    </a:custClr>
    <a:custClr name="Electrolux Green 3">
      <a:srgbClr val="6B7A66"/>
    </a:custClr>
    <a:custClr>
      <a:srgbClr val="FFFFFF"/>
    </a:custClr>
    <a:custClr>
      <a:srgbClr val="FFFFFF"/>
    </a:custClr>
    <a:custClr>
      <a:srgbClr val="FFFFFF"/>
    </a:custClr>
    <a:custClr>
      <a:srgbClr val="FFFFFF"/>
    </a:custClr>
    <a:custClr>
      <a:srgbClr val="FFFFFF"/>
    </a:custClr>
    <a:custClr name="Electrolux Blue 4">
      <a:srgbClr val="041E41"/>
    </a:custClr>
    <a:custClr name="Electrolux Grey 4">
      <a:srgbClr val="2B2936"/>
    </a:custClr>
    <a:custClr name="Electrolux Brown 4">
      <a:srgbClr val="3D2626"/>
    </a:custClr>
    <a:custClr name="Tan 4">
      <a:srgbClr val="4A1F17"/>
    </a:custClr>
    <a:custClr name="Electrolux Green 4">
      <a:srgbClr val="3B4536"/>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Electrolux ppt template.pptx" id="{166FB7A5-063B-4DAD-84CD-01E124033DA6}" vid="{E3AF31C1-61DF-4711-8C57-BBDCF7A527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Electrolux ppt template</Template>
  <TotalTime>3603</TotalTime>
  <Words>1596</Words>
  <Application>Microsoft Office PowerPoint</Application>
  <PresentationFormat>Widescreen</PresentationFormat>
  <Paragraphs>153</Paragraphs>
  <Slides>20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Electrolux Sans Regular</vt:lpstr>
      <vt:lpstr>Electrolux Sans SemiBold</vt:lpstr>
      <vt:lpstr>Office Theme</vt:lpstr>
      <vt:lpstr>Security Issue: Strictly confidential data Exposed</vt:lpstr>
      <vt:lpstr>PowerPoint Presentation</vt:lpstr>
      <vt:lpstr>Impact on customers (MobileApps)</vt:lpstr>
      <vt:lpstr>Situation</vt:lpstr>
      <vt:lpstr>Exposure of customer PII data across cloud teams</vt:lpstr>
      <vt:lpstr>User Groups involved. (Only Mobile consumers in this case)</vt:lpstr>
      <vt:lpstr>Issue 1: Customer credentials</vt:lpstr>
      <vt:lpstr>Other PII data logged and exposed from T1 channel</vt:lpstr>
      <vt:lpstr>Issue 2: CIAM system credentials</vt:lpstr>
      <vt:lpstr>Meaning</vt:lpstr>
      <vt:lpstr>Privacy Statement</vt:lpstr>
      <vt:lpstr>PowerPoint Presentation</vt:lpstr>
      <vt:lpstr>Current Situation</vt:lpstr>
      <vt:lpstr>Platform Engineering on ELX-EMEA-Marketing</vt:lpstr>
      <vt:lpstr>Step1: Reset CDC credentials for impacted channels?</vt:lpstr>
      <vt:lpstr>Step2: Reset password for all CDC users ?</vt:lpstr>
      <vt:lpstr>Proposal: Reduce hops on the Login Flow</vt:lpstr>
      <vt:lpstr>Thoughts</vt:lpstr>
      <vt:lpstr>Solution</vt:lpstr>
      <vt:lpstr>Other PII issues.</vt:lpstr>
    </vt:vector>
  </TitlesOfParts>
  <Company>Electrolux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Thaer Saidi</dc:creator>
  <cp:lastModifiedBy>thaer saidi</cp:lastModifiedBy>
  <cp:revision>14</cp:revision>
  <cp:lastPrinted>2018-05-29T11:47:19Z</cp:lastPrinted>
  <dcterms:created xsi:type="dcterms:W3CDTF">2022-08-30T20:04:53Z</dcterms:created>
  <dcterms:modified xsi:type="dcterms:W3CDTF">2023-12-15T13:54:02Z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7eab6e-04c6-4822-9252-98ab9f25736b_Enabled">
    <vt:lpwstr>true</vt:lpwstr>
  </property>
  <property fmtid="{D5CDD505-2E9C-101B-9397-08002B2CF9AE}" pid="3" name="MSIP_Label_477eab6e-04c6-4822-9252-98ab9f25736b_SetDate">
    <vt:lpwstr>2022-08-30T20:04:53Z</vt:lpwstr>
  </property>
  <property fmtid="{D5CDD505-2E9C-101B-9397-08002B2CF9AE}" pid="4" name="MSIP_Label_477eab6e-04c6-4822-9252-98ab9f25736b_Method">
    <vt:lpwstr>Standard</vt:lpwstr>
  </property>
  <property fmtid="{D5CDD505-2E9C-101B-9397-08002B2CF9AE}" pid="5" name="MSIP_Label_477eab6e-04c6-4822-9252-98ab9f25736b_Name">
    <vt:lpwstr>477eab6e-04c6-4822-9252-98ab9f25736b</vt:lpwstr>
  </property>
  <property fmtid="{D5CDD505-2E9C-101B-9397-08002B2CF9AE}" pid="6" name="MSIP_Label_477eab6e-04c6-4822-9252-98ab9f25736b_SiteId">
    <vt:lpwstr>d2007bef-127d-4591-97ac-10d72fe28031</vt:lpwstr>
  </property>
  <property fmtid="{D5CDD505-2E9C-101B-9397-08002B2CF9AE}" pid="7" name="MSIP_Label_477eab6e-04c6-4822-9252-98ab9f25736b_ActionId">
    <vt:lpwstr>d4ad823c-4cc9-4b91-8dc6-527c3b02adfd</vt:lpwstr>
  </property>
  <property fmtid="{D5CDD505-2E9C-101B-9397-08002B2CF9AE}" pid="8" name="MSIP_Label_477eab6e-04c6-4822-9252-98ab9f25736b_ContentBits">
    <vt:lpwstr>2</vt:lpwstr>
  </property>
  <property fmtid="{D5CDD505-2E9C-101B-9397-08002B2CF9AE}" pid="9" name="ClassificationContentMarkingFooterLocations">
    <vt:lpwstr>Office Theme:4</vt:lpwstr>
  </property>
  <property fmtid="{D5CDD505-2E9C-101B-9397-08002B2CF9AE}" pid="10" name="ClassificationContentMarkingFooterText">
    <vt:lpwstr>Classified as Internal</vt:lpwstr>
  </property>
</Properties>
</file>